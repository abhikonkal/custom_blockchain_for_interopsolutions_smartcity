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aleway"/>
      <p:regular r:id="rId42"/>
      <p:bold r:id="rId43"/>
      <p:italic r:id="rId44"/>
      <p:boldItalic r:id="rId45"/>
    </p:embeddedFont>
    <p:embeddedFont>
      <p:font typeface="Raleway SemiBold"/>
      <p:regular r:id="rId46"/>
      <p:bold r:id="rId47"/>
      <p:italic r:id="rId48"/>
      <p:boldItalic r:id="rId49"/>
    </p:embeddedFont>
    <p:embeddedFont>
      <p:font typeface="Roboto"/>
      <p:regular r:id="rId50"/>
      <p:bold r:id="rId51"/>
      <p:italic r:id="rId52"/>
      <p:boldItalic r:id="rId53"/>
    </p:embeddedFont>
    <p:embeddedFont>
      <p:font typeface="Lobster"/>
      <p:regular r:id="rId54"/>
    </p:embeddedFont>
    <p:embeddedFont>
      <p:font typeface="Lato"/>
      <p:regular r:id="rId55"/>
      <p:bold r:id="rId56"/>
      <p:italic r:id="rId57"/>
      <p:boldItalic r:id="rId58"/>
    </p:embeddedFont>
    <p:embeddedFont>
      <p:font typeface="Montserrat"/>
      <p:regular r:id="rId59"/>
      <p:bold r:id="rId60"/>
      <p:italic r:id="rId61"/>
      <p:boldItalic r:id="rId62"/>
    </p:embeddedFont>
    <p:embeddedFont>
      <p:font typeface="Lora"/>
      <p:regular r:id="rId63"/>
      <p:bold r:id="rId64"/>
      <p:italic r:id="rId65"/>
      <p:boldItalic r:id="rId66"/>
    </p:embeddedFont>
    <p:embeddedFont>
      <p:font typeface="Roboto Mono"/>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aleway-regular.fntdata"/><Relationship Id="rId41" Type="http://schemas.openxmlformats.org/officeDocument/2006/relationships/slide" Target="slides/slide36.xml"/><Relationship Id="rId44" Type="http://schemas.openxmlformats.org/officeDocument/2006/relationships/font" Target="fonts/Raleway-italic.fntdata"/><Relationship Id="rId43" Type="http://schemas.openxmlformats.org/officeDocument/2006/relationships/font" Target="fonts/Raleway-bold.fntdata"/><Relationship Id="rId46" Type="http://schemas.openxmlformats.org/officeDocument/2006/relationships/font" Target="fonts/RalewaySemiBold-regular.fntdata"/><Relationship Id="rId45"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SemiBold-italic.fntdata"/><Relationship Id="rId47" Type="http://schemas.openxmlformats.org/officeDocument/2006/relationships/font" Target="fonts/RalewaySemiBold-bold.fntdata"/><Relationship Id="rId49" Type="http://schemas.openxmlformats.org/officeDocument/2006/relationships/font" Target="fonts/Raleway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RobotoMono-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boldItalic.fntdata"/><Relationship Id="rId61" Type="http://schemas.openxmlformats.org/officeDocument/2006/relationships/font" Target="fonts/Montserrat-italic.fntdata"/><Relationship Id="rId20" Type="http://schemas.openxmlformats.org/officeDocument/2006/relationships/slide" Target="slides/slide15.xml"/><Relationship Id="rId64" Type="http://schemas.openxmlformats.org/officeDocument/2006/relationships/font" Target="fonts/Lora-bold.fntdata"/><Relationship Id="rId63" Type="http://schemas.openxmlformats.org/officeDocument/2006/relationships/font" Target="fonts/Lora-regular.fntdata"/><Relationship Id="rId22" Type="http://schemas.openxmlformats.org/officeDocument/2006/relationships/slide" Target="slides/slide17.xml"/><Relationship Id="rId66" Type="http://schemas.openxmlformats.org/officeDocument/2006/relationships/font" Target="fonts/Lora-boldItalic.fntdata"/><Relationship Id="rId21" Type="http://schemas.openxmlformats.org/officeDocument/2006/relationships/slide" Target="slides/slide16.xml"/><Relationship Id="rId65" Type="http://schemas.openxmlformats.org/officeDocument/2006/relationships/font" Target="fonts/Lora-italic.fntdata"/><Relationship Id="rId24" Type="http://schemas.openxmlformats.org/officeDocument/2006/relationships/slide" Target="slides/slide19.xml"/><Relationship Id="rId68" Type="http://schemas.openxmlformats.org/officeDocument/2006/relationships/font" Target="fonts/RobotoMono-bold.fntdata"/><Relationship Id="rId23" Type="http://schemas.openxmlformats.org/officeDocument/2006/relationships/slide" Target="slides/slide18.xml"/><Relationship Id="rId67" Type="http://schemas.openxmlformats.org/officeDocument/2006/relationships/font" Target="fonts/RobotoMono-regular.fntdata"/><Relationship Id="rId60" Type="http://schemas.openxmlformats.org/officeDocument/2006/relationships/font" Target="fonts/Montserrat-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ono-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55" Type="http://schemas.openxmlformats.org/officeDocument/2006/relationships/font" Target="fonts/Lato-regular.fntdata"/><Relationship Id="rId10" Type="http://schemas.openxmlformats.org/officeDocument/2006/relationships/slide" Target="slides/slide5.xml"/><Relationship Id="rId54" Type="http://schemas.openxmlformats.org/officeDocument/2006/relationships/font" Target="fonts/Lobster-regular.fntdata"/><Relationship Id="rId13" Type="http://schemas.openxmlformats.org/officeDocument/2006/relationships/slide" Target="slides/slide8.xml"/><Relationship Id="rId57" Type="http://schemas.openxmlformats.org/officeDocument/2006/relationships/font" Target="fonts/Lato-italic.fntdata"/><Relationship Id="rId12" Type="http://schemas.openxmlformats.org/officeDocument/2006/relationships/slide" Target="slides/slide7.xml"/><Relationship Id="rId56" Type="http://schemas.openxmlformats.org/officeDocument/2006/relationships/font" Target="fonts/Lato-bold.fntdata"/><Relationship Id="rId15" Type="http://schemas.openxmlformats.org/officeDocument/2006/relationships/slide" Target="slides/slide10.xml"/><Relationship Id="rId59" Type="http://schemas.openxmlformats.org/officeDocument/2006/relationships/font" Target="fonts/Montserrat-regular.fntdata"/><Relationship Id="rId14" Type="http://schemas.openxmlformats.org/officeDocument/2006/relationships/slide" Target="slides/slide9.xml"/><Relationship Id="rId58" Type="http://schemas.openxmlformats.org/officeDocument/2006/relationships/font" Target="fonts/La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b490f4b933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b490f4b93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b5644e88d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b5644e88d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b4348269f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b4348269f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b5310d79a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b5310d79a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b490f4b9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b490f4b9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b490f4b93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b490f4b93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b4348269f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b4348269f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b490f4b93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b490f4b93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b490f4b93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b490f4b93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b490f4b93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b490f4b93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6f927f58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66f927f58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b4348269f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b4348269f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b4348269f3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b4348269f3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b4348269f3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b4348269f3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66f927f58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66f927f58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b4348269f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b4348269f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66f927f58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66f927f58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66f927f58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66f927f58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66f927f58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66f927f58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b4f3c8f29a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b4f3c8f29a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b4f3c8f29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2b4f3c8f29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b4348269f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b4348269f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b4348269f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b4348269f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b5644e88d8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2b5644e88d8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b4f3c8f2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b4f3c8f2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b4f3c8f29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b4f3c8f29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2b5644e88d8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2b5644e88d8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0f9507f3b461ac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0f9507f3b461ac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b4f3c8f29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2b4f3c8f29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b5644e88d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b5644e88d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2b4f3c8f29a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2b4f3c8f29a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2b5644e88d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2b5644e88d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2b56c9a8b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2b56c9a8b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b490f4b933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2b490f4b933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b4348269f3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b4348269f3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CUSTOM_2_2">
    <p:spTree>
      <p:nvGrpSpPr>
        <p:cNvPr id="82" name="Shape 8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hyperlink" Target="https://en.wikipedia.org/wiki/Poisson_point_process?ref=hackernoon.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docs.sui.io/"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4"/>
          <p:cNvPicPr preferRelativeResize="0"/>
          <p:nvPr/>
        </p:nvPicPr>
        <p:blipFill>
          <a:blip r:embed="rId3">
            <a:alphaModFix/>
          </a:blip>
          <a:stretch>
            <a:fillRect/>
          </a:stretch>
        </p:blipFill>
        <p:spPr>
          <a:xfrm>
            <a:off x="3515975" y="747400"/>
            <a:ext cx="1608450" cy="1608450"/>
          </a:xfrm>
          <a:prstGeom prst="rect">
            <a:avLst/>
          </a:prstGeom>
          <a:noFill/>
          <a:ln>
            <a:noFill/>
          </a:ln>
        </p:spPr>
      </p:pic>
      <p:sp>
        <p:nvSpPr>
          <p:cNvPr id="88" name="Google Shape;88;p14"/>
          <p:cNvSpPr txBox="1"/>
          <p:nvPr/>
        </p:nvSpPr>
        <p:spPr>
          <a:xfrm>
            <a:off x="1013400" y="2355850"/>
            <a:ext cx="7280400" cy="1508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2302">
                <a:solidFill>
                  <a:srgbClr val="595959"/>
                </a:solidFill>
                <a:latin typeface="Lato"/>
                <a:ea typeface="Lato"/>
                <a:cs typeface="Lato"/>
                <a:sym typeface="Lato"/>
              </a:rPr>
              <a:t>Interoperability among different systems in smart city using blockchain. </a:t>
            </a:r>
            <a:endParaRPr b="1" sz="2302">
              <a:solidFill>
                <a:srgbClr val="595959"/>
              </a:solidFill>
              <a:latin typeface="Lato"/>
              <a:ea typeface="Lato"/>
              <a:cs typeface="Lato"/>
              <a:sym typeface="Lato"/>
            </a:endParaRPr>
          </a:p>
          <a:p>
            <a:pPr indent="0" lvl="0" marL="0" rtl="0" algn="ctr">
              <a:lnSpc>
                <a:spcPct val="115000"/>
              </a:lnSpc>
              <a:spcBef>
                <a:spcPts val="1200"/>
              </a:spcBef>
              <a:spcAft>
                <a:spcPts val="1200"/>
              </a:spcAft>
              <a:buNone/>
            </a:pPr>
            <a:r>
              <a:t/>
            </a:r>
            <a:endParaRPr b="1" sz="2302">
              <a:solidFill>
                <a:srgbClr val="595959"/>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Contents</a:t>
            </a:r>
            <a:endParaRPr/>
          </a:p>
        </p:txBody>
      </p:sp>
      <p:sp>
        <p:nvSpPr>
          <p:cNvPr id="94" name="Google Shape;94;p15"/>
          <p:cNvSpPr txBox="1"/>
          <p:nvPr>
            <p:ph idx="1" type="body"/>
          </p:nvPr>
        </p:nvSpPr>
        <p:spPr>
          <a:xfrm>
            <a:off x="729450" y="1930050"/>
            <a:ext cx="7899900" cy="2809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n-GB"/>
              <a:t>The Hybrid Consensus Mechanism - Neighbour Before Authority </a:t>
            </a:r>
            <a:br>
              <a:rPr lang="en-GB"/>
            </a:br>
            <a:r>
              <a:rPr lang="en-GB"/>
              <a:t>a) </a:t>
            </a:r>
            <a:r>
              <a:rPr lang="en-GB"/>
              <a:t>Communications in NBA model</a:t>
            </a:r>
            <a:br>
              <a:rPr lang="en-GB"/>
            </a:br>
            <a:r>
              <a:rPr lang="en-GB"/>
              <a:t>b) Working of NBA Model</a:t>
            </a:r>
            <a:endParaRPr/>
          </a:p>
          <a:p>
            <a:pPr indent="-311150" lvl="0" marL="457200" rtl="0" algn="l">
              <a:spcBef>
                <a:spcPts val="0"/>
              </a:spcBef>
              <a:spcAft>
                <a:spcPts val="0"/>
              </a:spcAft>
              <a:buSzPts val="1300"/>
              <a:buAutoNum type="arabicPeriod"/>
            </a:pPr>
            <a:r>
              <a:rPr lang="en-GB"/>
              <a:t>Distributed Ledger Technology - IOTA </a:t>
            </a:r>
            <a:br>
              <a:rPr lang="en-GB"/>
            </a:br>
            <a:r>
              <a:rPr lang="en-GB"/>
              <a:t>a) Tip Selection Algorithms</a:t>
            </a:r>
            <a:br>
              <a:rPr lang="en-GB"/>
            </a:br>
            <a:r>
              <a:rPr lang="en-GB"/>
              <a:t>b) Arising problems</a:t>
            </a:r>
            <a:br>
              <a:rPr lang="en-GB"/>
            </a:br>
            <a:r>
              <a:rPr lang="en-GB"/>
              <a:t>c) Implementation</a:t>
            </a:r>
            <a:endParaRPr/>
          </a:p>
          <a:p>
            <a:pPr indent="-311150" lvl="0" marL="457200" rtl="0" algn="l">
              <a:spcBef>
                <a:spcPts val="0"/>
              </a:spcBef>
              <a:spcAft>
                <a:spcPts val="0"/>
              </a:spcAft>
              <a:buSzPts val="1300"/>
              <a:buAutoNum type="arabicPeriod"/>
            </a:pPr>
            <a:r>
              <a:rPr lang="en-GB"/>
              <a:t>Future Scope</a:t>
            </a:r>
            <a:endParaRPr/>
          </a:p>
          <a:p>
            <a:pPr indent="-311150" lvl="0" marL="457200" rtl="0" algn="l">
              <a:spcBef>
                <a:spcPts val="0"/>
              </a:spcBef>
              <a:spcAft>
                <a:spcPts val="0"/>
              </a:spcAft>
              <a:buSzPts val="1300"/>
              <a:buAutoNum type="arabicPeriod"/>
            </a:pPr>
            <a:r>
              <a:rPr lang="en-GB"/>
              <a:t>References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ctrTitle"/>
          </p:nvPr>
        </p:nvSpPr>
        <p:spPr>
          <a:xfrm>
            <a:off x="913450" y="1993525"/>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600"/>
              <a:t>        </a:t>
            </a:r>
            <a:r>
              <a:rPr lang="en-GB" sz="2600"/>
              <a:t>Neighbour Before Authority </a:t>
            </a:r>
            <a:r>
              <a:rPr lang="en-GB" sz="2600"/>
              <a:t>(NBA)</a:t>
            </a:r>
            <a:endParaRPr sz="2600"/>
          </a:p>
          <a:p>
            <a:pPr indent="0" lvl="0" marL="0" rtl="0" algn="l">
              <a:spcBef>
                <a:spcPts val="0"/>
              </a:spcBef>
              <a:spcAft>
                <a:spcPts val="0"/>
              </a:spcAft>
              <a:buNone/>
            </a:pPr>
            <a:r>
              <a:rPr lang="en-GB" sz="2600"/>
              <a:t> </a:t>
            </a:r>
            <a:endParaRPr sz="2600"/>
          </a:p>
          <a:p>
            <a:pPr indent="0" lvl="0" marL="0" rtl="0" algn="l">
              <a:spcBef>
                <a:spcPts val="0"/>
              </a:spcBef>
              <a:spcAft>
                <a:spcPts val="0"/>
              </a:spcAft>
              <a:buNone/>
            </a:pPr>
            <a:r>
              <a:rPr lang="en-GB" sz="2600"/>
              <a:t>      THE HYBRID CONSENSUS MECHANISM</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p:nvPr/>
        </p:nvSpPr>
        <p:spPr>
          <a:xfrm>
            <a:off x="809150" y="3019300"/>
            <a:ext cx="1203900" cy="1045200"/>
          </a:xfrm>
          <a:prstGeom prst="ellipse">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100">
                <a:solidFill>
                  <a:srgbClr val="1A1A1A"/>
                </a:solidFill>
                <a:latin typeface="Lato"/>
                <a:ea typeface="Lato"/>
                <a:cs typeface="Lato"/>
                <a:sym typeface="Lato"/>
              </a:rPr>
              <a:t>   Traffic</a:t>
            </a:r>
            <a:endParaRPr sz="1100">
              <a:solidFill>
                <a:srgbClr val="1A1A1A"/>
              </a:solidFill>
              <a:latin typeface="Lato"/>
              <a:ea typeface="Lato"/>
              <a:cs typeface="Lato"/>
              <a:sym typeface="Lato"/>
            </a:endParaRPr>
          </a:p>
          <a:p>
            <a:pPr indent="0" lvl="0" marL="0" rtl="0" algn="ctr">
              <a:spcBef>
                <a:spcPts val="0"/>
              </a:spcBef>
              <a:spcAft>
                <a:spcPts val="0"/>
              </a:spcAft>
              <a:buNone/>
            </a:pPr>
            <a:r>
              <a:rPr lang="en-GB" sz="1100">
                <a:solidFill>
                  <a:srgbClr val="1A1A1A"/>
                </a:solidFill>
                <a:latin typeface="Lato"/>
                <a:ea typeface="Lato"/>
                <a:cs typeface="Lato"/>
                <a:sym typeface="Lato"/>
              </a:rPr>
              <a:t>Authority</a:t>
            </a:r>
            <a:endParaRPr sz="1100">
              <a:solidFill>
                <a:srgbClr val="1A1A1A"/>
              </a:solidFill>
              <a:latin typeface="Lato"/>
              <a:ea typeface="Lato"/>
              <a:cs typeface="Lato"/>
              <a:sym typeface="Lato"/>
            </a:endParaRPr>
          </a:p>
        </p:txBody>
      </p:sp>
      <p:sp>
        <p:nvSpPr>
          <p:cNvPr id="105" name="Google Shape;105;p17"/>
          <p:cNvSpPr/>
          <p:nvPr/>
        </p:nvSpPr>
        <p:spPr>
          <a:xfrm>
            <a:off x="1650350" y="2110300"/>
            <a:ext cx="263700" cy="255000"/>
          </a:xfrm>
          <a:prstGeom prst="ellipse">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6" name="Google Shape;106;p17"/>
          <p:cNvSpPr/>
          <p:nvPr/>
        </p:nvSpPr>
        <p:spPr>
          <a:xfrm>
            <a:off x="391400" y="4064375"/>
            <a:ext cx="263700" cy="255000"/>
          </a:xfrm>
          <a:prstGeom prst="ellipse">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7" name="Google Shape;107;p17"/>
          <p:cNvSpPr/>
          <p:nvPr/>
        </p:nvSpPr>
        <p:spPr>
          <a:xfrm>
            <a:off x="1749200" y="4319375"/>
            <a:ext cx="263700" cy="255000"/>
          </a:xfrm>
          <a:prstGeom prst="ellipse">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 name="Google Shape;108;p17"/>
          <p:cNvSpPr/>
          <p:nvPr/>
        </p:nvSpPr>
        <p:spPr>
          <a:xfrm>
            <a:off x="7013675" y="3639126"/>
            <a:ext cx="1463400" cy="1161300"/>
          </a:xfrm>
          <a:prstGeom prst="ellipse">
            <a:avLst/>
          </a:prstGeom>
          <a:solidFill>
            <a:srgbClr val="FFE599"/>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Hospital Authority</a:t>
            </a:r>
            <a:endParaRPr>
              <a:latin typeface="Lato"/>
              <a:ea typeface="Lato"/>
              <a:cs typeface="Lato"/>
              <a:sym typeface="Lato"/>
            </a:endParaRPr>
          </a:p>
        </p:txBody>
      </p:sp>
      <p:sp>
        <p:nvSpPr>
          <p:cNvPr id="109" name="Google Shape;109;p17"/>
          <p:cNvSpPr/>
          <p:nvPr/>
        </p:nvSpPr>
        <p:spPr>
          <a:xfrm>
            <a:off x="5145613" y="1353675"/>
            <a:ext cx="1203900" cy="941100"/>
          </a:xfrm>
          <a:prstGeom prst="ellipse">
            <a:avLst/>
          </a:prstGeom>
          <a:solidFill>
            <a:srgbClr val="C9DAF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latin typeface="Lato"/>
                <a:ea typeface="Lato"/>
                <a:cs typeface="Lato"/>
                <a:sym typeface="Lato"/>
              </a:rPr>
              <a:t>Insurance Authority</a:t>
            </a:r>
            <a:endParaRPr sz="1100">
              <a:latin typeface="Lato"/>
              <a:ea typeface="Lato"/>
              <a:cs typeface="Lato"/>
              <a:sym typeface="Lato"/>
            </a:endParaRPr>
          </a:p>
        </p:txBody>
      </p:sp>
      <p:sp>
        <p:nvSpPr>
          <p:cNvPr id="110" name="Google Shape;110;p17"/>
          <p:cNvSpPr/>
          <p:nvPr/>
        </p:nvSpPr>
        <p:spPr>
          <a:xfrm>
            <a:off x="5145625" y="2497913"/>
            <a:ext cx="263700" cy="255000"/>
          </a:xfrm>
          <a:prstGeom prst="ellipse">
            <a:avLst/>
          </a:prstGeom>
          <a:solidFill>
            <a:srgbClr val="C9DAF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1" name="Google Shape;111;p17"/>
          <p:cNvSpPr/>
          <p:nvPr/>
        </p:nvSpPr>
        <p:spPr>
          <a:xfrm>
            <a:off x="4457250" y="1793350"/>
            <a:ext cx="263700" cy="255000"/>
          </a:xfrm>
          <a:prstGeom prst="ellipse">
            <a:avLst/>
          </a:prstGeom>
          <a:solidFill>
            <a:srgbClr val="C9DAF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 name="Google Shape;112;p17"/>
          <p:cNvSpPr/>
          <p:nvPr/>
        </p:nvSpPr>
        <p:spPr>
          <a:xfrm>
            <a:off x="4521425" y="1076675"/>
            <a:ext cx="263700" cy="255000"/>
          </a:xfrm>
          <a:prstGeom prst="ellipse">
            <a:avLst/>
          </a:prstGeom>
          <a:solidFill>
            <a:srgbClr val="C9DAF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 name="Google Shape;113;p17"/>
          <p:cNvSpPr/>
          <p:nvPr/>
        </p:nvSpPr>
        <p:spPr>
          <a:xfrm>
            <a:off x="5581150" y="723850"/>
            <a:ext cx="263700" cy="255000"/>
          </a:xfrm>
          <a:prstGeom prst="ellipse">
            <a:avLst/>
          </a:prstGeom>
          <a:solidFill>
            <a:srgbClr val="C9DAF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4" name="Google Shape;114;p17"/>
          <p:cNvSpPr/>
          <p:nvPr/>
        </p:nvSpPr>
        <p:spPr>
          <a:xfrm>
            <a:off x="6016625" y="3109550"/>
            <a:ext cx="263700" cy="255000"/>
          </a:xfrm>
          <a:prstGeom prst="ellipse">
            <a:avLst/>
          </a:prstGeom>
          <a:solidFill>
            <a:srgbClr val="FCE5CD"/>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5" name="Google Shape;115;p17"/>
          <p:cNvSpPr/>
          <p:nvPr/>
        </p:nvSpPr>
        <p:spPr>
          <a:xfrm>
            <a:off x="5189350" y="3541900"/>
            <a:ext cx="263700" cy="255000"/>
          </a:xfrm>
          <a:prstGeom prst="ellipse">
            <a:avLst/>
          </a:prstGeom>
          <a:solidFill>
            <a:srgbClr val="FFF2CC"/>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6" name="Google Shape;116;p17"/>
          <p:cNvSpPr/>
          <p:nvPr/>
        </p:nvSpPr>
        <p:spPr>
          <a:xfrm>
            <a:off x="2407200" y="2891850"/>
            <a:ext cx="263700" cy="255000"/>
          </a:xfrm>
          <a:prstGeom prst="ellipse">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 name="Google Shape;117;p17"/>
          <p:cNvSpPr/>
          <p:nvPr/>
        </p:nvSpPr>
        <p:spPr>
          <a:xfrm>
            <a:off x="4841275" y="4237025"/>
            <a:ext cx="263700" cy="255000"/>
          </a:xfrm>
          <a:prstGeom prst="ellipse">
            <a:avLst/>
          </a:prstGeom>
          <a:solidFill>
            <a:srgbClr val="FFF2CC"/>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8" name="Google Shape;118;p17"/>
          <p:cNvSpPr/>
          <p:nvPr/>
        </p:nvSpPr>
        <p:spPr>
          <a:xfrm>
            <a:off x="7015025" y="3146850"/>
            <a:ext cx="263700" cy="255000"/>
          </a:xfrm>
          <a:prstGeom prst="ellipse">
            <a:avLst/>
          </a:prstGeom>
          <a:solidFill>
            <a:srgbClr val="FFF2CC"/>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9" name="Google Shape;119;p17"/>
          <p:cNvSpPr/>
          <p:nvPr/>
        </p:nvSpPr>
        <p:spPr>
          <a:xfrm>
            <a:off x="5993875" y="4574375"/>
            <a:ext cx="263700" cy="255000"/>
          </a:xfrm>
          <a:prstGeom prst="ellipse">
            <a:avLst/>
          </a:prstGeom>
          <a:solidFill>
            <a:srgbClr val="FFF2CC"/>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 name="Google Shape;120;p17"/>
          <p:cNvCxnSpPr>
            <a:stCxn id="104" idx="6"/>
            <a:endCxn id="116" idx="2"/>
          </p:cNvCxnSpPr>
          <p:nvPr/>
        </p:nvCxnSpPr>
        <p:spPr>
          <a:xfrm flipH="1" rot="10800000">
            <a:off x="2013050" y="3019300"/>
            <a:ext cx="394200" cy="522600"/>
          </a:xfrm>
          <a:prstGeom prst="straightConnector1">
            <a:avLst/>
          </a:prstGeom>
          <a:noFill/>
          <a:ln cap="flat" cmpd="sng" w="9525">
            <a:solidFill>
              <a:srgbClr val="1A1A1A"/>
            </a:solidFill>
            <a:prstDash val="solid"/>
            <a:round/>
            <a:headEnd len="med" w="med" type="none"/>
            <a:tailEnd len="med" w="med" type="none"/>
          </a:ln>
        </p:spPr>
      </p:cxnSp>
      <p:cxnSp>
        <p:nvCxnSpPr>
          <p:cNvPr id="121" name="Google Shape;121;p17"/>
          <p:cNvCxnSpPr>
            <a:stCxn id="104" idx="5"/>
            <a:endCxn id="107" idx="0"/>
          </p:cNvCxnSpPr>
          <p:nvPr/>
        </p:nvCxnSpPr>
        <p:spPr>
          <a:xfrm>
            <a:off x="1836743" y="3911434"/>
            <a:ext cx="44400" cy="408000"/>
          </a:xfrm>
          <a:prstGeom prst="straightConnector1">
            <a:avLst/>
          </a:prstGeom>
          <a:noFill/>
          <a:ln cap="flat" cmpd="sng" w="9525">
            <a:solidFill>
              <a:srgbClr val="1A1A1A"/>
            </a:solidFill>
            <a:prstDash val="solid"/>
            <a:round/>
            <a:headEnd len="med" w="med" type="none"/>
            <a:tailEnd len="med" w="med" type="none"/>
          </a:ln>
        </p:spPr>
      </p:cxnSp>
      <p:cxnSp>
        <p:nvCxnSpPr>
          <p:cNvPr id="122" name="Google Shape;122;p17"/>
          <p:cNvCxnSpPr>
            <a:stCxn id="104" idx="3"/>
            <a:endCxn id="106" idx="7"/>
          </p:cNvCxnSpPr>
          <p:nvPr/>
        </p:nvCxnSpPr>
        <p:spPr>
          <a:xfrm flipH="1">
            <a:off x="616457" y="3911434"/>
            <a:ext cx="369000" cy="190200"/>
          </a:xfrm>
          <a:prstGeom prst="straightConnector1">
            <a:avLst/>
          </a:prstGeom>
          <a:noFill/>
          <a:ln cap="flat" cmpd="sng" w="9525">
            <a:solidFill>
              <a:srgbClr val="1A1A1A"/>
            </a:solidFill>
            <a:prstDash val="solid"/>
            <a:round/>
            <a:headEnd len="med" w="med" type="none"/>
            <a:tailEnd len="med" w="med" type="none"/>
          </a:ln>
        </p:spPr>
      </p:cxnSp>
      <p:cxnSp>
        <p:nvCxnSpPr>
          <p:cNvPr id="123" name="Google Shape;123;p17"/>
          <p:cNvCxnSpPr>
            <a:stCxn id="105" idx="7"/>
            <a:endCxn id="111" idx="2"/>
          </p:cNvCxnSpPr>
          <p:nvPr/>
        </p:nvCxnSpPr>
        <p:spPr>
          <a:xfrm flipH="1" rot="10800000">
            <a:off x="1875432" y="1920844"/>
            <a:ext cx="2581800" cy="226800"/>
          </a:xfrm>
          <a:prstGeom prst="straightConnector1">
            <a:avLst/>
          </a:prstGeom>
          <a:noFill/>
          <a:ln cap="flat" cmpd="sng" w="9525">
            <a:solidFill>
              <a:srgbClr val="1A1A1A"/>
            </a:solidFill>
            <a:prstDash val="solid"/>
            <a:round/>
            <a:headEnd len="med" w="med" type="none"/>
            <a:tailEnd len="med" w="med" type="none"/>
          </a:ln>
        </p:spPr>
      </p:cxnSp>
      <p:cxnSp>
        <p:nvCxnSpPr>
          <p:cNvPr id="124" name="Google Shape;124;p17"/>
          <p:cNvCxnSpPr>
            <a:stCxn id="107" idx="6"/>
            <a:endCxn id="117" idx="2"/>
          </p:cNvCxnSpPr>
          <p:nvPr/>
        </p:nvCxnSpPr>
        <p:spPr>
          <a:xfrm flipH="1" rot="10800000">
            <a:off x="2012900" y="4364675"/>
            <a:ext cx="2828400" cy="82200"/>
          </a:xfrm>
          <a:prstGeom prst="straightConnector1">
            <a:avLst/>
          </a:prstGeom>
          <a:noFill/>
          <a:ln cap="flat" cmpd="sng" w="9525">
            <a:solidFill>
              <a:srgbClr val="1A1A1A"/>
            </a:solidFill>
            <a:prstDash val="solid"/>
            <a:round/>
            <a:headEnd len="med" w="med" type="none"/>
            <a:tailEnd len="med" w="med" type="none"/>
          </a:ln>
        </p:spPr>
      </p:cxnSp>
      <p:cxnSp>
        <p:nvCxnSpPr>
          <p:cNvPr id="125" name="Google Shape;125;p17"/>
          <p:cNvCxnSpPr>
            <a:stCxn id="110" idx="5"/>
            <a:endCxn id="114" idx="1"/>
          </p:cNvCxnSpPr>
          <p:nvPr/>
        </p:nvCxnSpPr>
        <p:spPr>
          <a:xfrm>
            <a:off x="5370707" y="2715569"/>
            <a:ext cx="684600" cy="431400"/>
          </a:xfrm>
          <a:prstGeom prst="straightConnector1">
            <a:avLst/>
          </a:prstGeom>
          <a:noFill/>
          <a:ln cap="flat" cmpd="sng" w="9525">
            <a:solidFill>
              <a:srgbClr val="1A1A1A"/>
            </a:solidFill>
            <a:prstDash val="solid"/>
            <a:round/>
            <a:headEnd len="med" w="med" type="none"/>
            <a:tailEnd len="med" w="med" type="none"/>
          </a:ln>
        </p:spPr>
      </p:cxnSp>
      <p:cxnSp>
        <p:nvCxnSpPr>
          <p:cNvPr id="126" name="Google Shape;126;p17"/>
          <p:cNvCxnSpPr>
            <a:stCxn id="111" idx="0"/>
            <a:endCxn id="112" idx="4"/>
          </p:cNvCxnSpPr>
          <p:nvPr/>
        </p:nvCxnSpPr>
        <p:spPr>
          <a:xfrm flipH="1" rot="10800000">
            <a:off x="4589100" y="1331650"/>
            <a:ext cx="64200" cy="461700"/>
          </a:xfrm>
          <a:prstGeom prst="straightConnector1">
            <a:avLst/>
          </a:prstGeom>
          <a:noFill/>
          <a:ln cap="flat" cmpd="sng" w="9525">
            <a:solidFill>
              <a:srgbClr val="1A1A1A"/>
            </a:solidFill>
            <a:prstDash val="solid"/>
            <a:round/>
            <a:headEnd len="med" w="med" type="none"/>
            <a:tailEnd len="med" w="med" type="none"/>
          </a:ln>
        </p:spPr>
      </p:cxnSp>
      <p:cxnSp>
        <p:nvCxnSpPr>
          <p:cNvPr id="127" name="Google Shape;127;p17"/>
          <p:cNvCxnSpPr>
            <a:stCxn id="112" idx="6"/>
            <a:endCxn id="109" idx="1"/>
          </p:cNvCxnSpPr>
          <p:nvPr/>
        </p:nvCxnSpPr>
        <p:spPr>
          <a:xfrm>
            <a:off x="4785125" y="1204175"/>
            <a:ext cx="536700" cy="287400"/>
          </a:xfrm>
          <a:prstGeom prst="straightConnector1">
            <a:avLst/>
          </a:prstGeom>
          <a:noFill/>
          <a:ln cap="flat" cmpd="sng" w="9525">
            <a:solidFill>
              <a:srgbClr val="1A1A1A"/>
            </a:solidFill>
            <a:prstDash val="solid"/>
            <a:round/>
            <a:headEnd len="med" w="med" type="none"/>
            <a:tailEnd len="med" w="med" type="none"/>
          </a:ln>
        </p:spPr>
      </p:cxnSp>
      <p:cxnSp>
        <p:nvCxnSpPr>
          <p:cNvPr id="128" name="Google Shape;128;p17"/>
          <p:cNvCxnSpPr>
            <a:stCxn id="111" idx="7"/>
            <a:endCxn id="109" idx="3"/>
          </p:cNvCxnSpPr>
          <p:nvPr/>
        </p:nvCxnSpPr>
        <p:spPr>
          <a:xfrm>
            <a:off x="4682332" y="1830694"/>
            <a:ext cx="639600" cy="326400"/>
          </a:xfrm>
          <a:prstGeom prst="straightConnector1">
            <a:avLst/>
          </a:prstGeom>
          <a:noFill/>
          <a:ln cap="flat" cmpd="sng" w="9525">
            <a:solidFill>
              <a:srgbClr val="1A1A1A"/>
            </a:solidFill>
            <a:prstDash val="solid"/>
            <a:round/>
            <a:headEnd len="med" w="med" type="none"/>
            <a:tailEnd len="med" w="med" type="none"/>
          </a:ln>
        </p:spPr>
      </p:cxnSp>
      <p:cxnSp>
        <p:nvCxnSpPr>
          <p:cNvPr id="129" name="Google Shape;129;p17"/>
          <p:cNvCxnSpPr>
            <a:stCxn id="114" idx="6"/>
            <a:endCxn id="118" idx="1"/>
          </p:cNvCxnSpPr>
          <p:nvPr/>
        </p:nvCxnSpPr>
        <p:spPr>
          <a:xfrm flipH="1" rot="10800000">
            <a:off x="6280325" y="3184250"/>
            <a:ext cx="773400" cy="52800"/>
          </a:xfrm>
          <a:prstGeom prst="straightConnector1">
            <a:avLst/>
          </a:prstGeom>
          <a:noFill/>
          <a:ln cap="flat" cmpd="sng" w="9525">
            <a:solidFill>
              <a:srgbClr val="1A1A1A"/>
            </a:solidFill>
            <a:prstDash val="solid"/>
            <a:round/>
            <a:headEnd len="med" w="med" type="none"/>
            <a:tailEnd len="med" w="med" type="none"/>
          </a:ln>
        </p:spPr>
      </p:cxnSp>
      <p:cxnSp>
        <p:nvCxnSpPr>
          <p:cNvPr id="130" name="Google Shape;130;p17"/>
          <p:cNvCxnSpPr>
            <a:stCxn id="107" idx="7"/>
            <a:endCxn id="116" idx="4"/>
          </p:cNvCxnSpPr>
          <p:nvPr/>
        </p:nvCxnSpPr>
        <p:spPr>
          <a:xfrm flipH="1" rot="10800000">
            <a:off x="1974282" y="3146819"/>
            <a:ext cx="564900" cy="1209900"/>
          </a:xfrm>
          <a:prstGeom prst="straightConnector1">
            <a:avLst/>
          </a:prstGeom>
          <a:noFill/>
          <a:ln cap="flat" cmpd="sng" w="9525">
            <a:solidFill>
              <a:srgbClr val="1A1A1A"/>
            </a:solidFill>
            <a:prstDash val="solid"/>
            <a:round/>
            <a:headEnd len="med" w="med" type="none"/>
            <a:tailEnd len="med" w="med" type="none"/>
          </a:ln>
        </p:spPr>
      </p:cxnSp>
      <p:cxnSp>
        <p:nvCxnSpPr>
          <p:cNvPr id="131" name="Google Shape;131;p17"/>
          <p:cNvCxnSpPr>
            <a:stCxn id="106" idx="1"/>
            <a:endCxn id="106" idx="0"/>
          </p:cNvCxnSpPr>
          <p:nvPr/>
        </p:nvCxnSpPr>
        <p:spPr>
          <a:xfrm flipH="1" rot="10800000">
            <a:off x="430018" y="4064519"/>
            <a:ext cx="93300" cy="37200"/>
          </a:xfrm>
          <a:prstGeom prst="straightConnector1">
            <a:avLst/>
          </a:prstGeom>
          <a:noFill/>
          <a:ln cap="flat" cmpd="sng" w="9525">
            <a:solidFill>
              <a:srgbClr val="1A1A1A"/>
            </a:solidFill>
            <a:prstDash val="solid"/>
            <a:round/>
            <a:headEnd len="med" w="med" type="none"/>
            <a:tailEnd len="med" w="med" type="none"/>
          </a:ln>
        </p:spPr>
      </p:cxnSp>
      <p:cxnSp>
        <p:nvCxnSpPr>
          <p:cNvPr id="132" name="Google Shape;132;p17"/>
          <p:cNvCxnSpPr>
            <a:stCxn id="106" idx="6"/>
            <a:endCxn id="107" idx="3"/>
          </p:cNvCxnSpPr>
          <p:nvPr/>
        </p:nvCxnSpPr>
        <p:spPr>
          <a:xfrm>
            <a:off x="655100" y="4191875"/>
            <a:ext cx="1132800" cy="345300"/>
          </a:xfrm>
          <a:prstGeom prst="straightConnector1">
            <a:avLst/>
          </a:prstGeom>
          <a:noFill/>
          <a:ln cap="flat" cmpd="sng" w="9525">
            <a:solidFill>
              <a:srgbClr val="1A1A1A"/>
            </a:solidFill>
            <a:prstDash val="solid"/>
            <a:round/>
            <a:headEnd len="med" w="med" type="none"/>
            <a:tailEnd len="med" w="med" type="none"/>
          </a:ln>
        </p:spPr>
      </p:cxnSp>
      <p:cxnSp>
        <p:nvCxnSpPr>
          <p:cNvPr id="133" name="Google Shape;133;p17"/>
          <p:cNvCxnSpPr>
            <a:stCxn id="117" idx="6"/>
            <a:endCxn id="119" idx="2"/>
          </p:cNvCxnSpPr>
          <p:nvPr/>
        </p:nvCxnSpPr>
        <p:spPr>
          <a:xfrm>
            <a:off x="5104975" y="4364525"/>
            <a:ext cx="888900" cy="337500"/>
          </a:xfrm>
          <a:prstGeom prst="straightConnector1">
            <a:avLst/>
          </a:prstGeom>
          <a:noFill/>
          <a:ln cap="flat" cmpd="sng" w="9525">
            <a:solidFill>
              <a:srgbClr val="1A1A1A"/>
            </a:solidFill>
            <a:prstDash val="solid"/>
            <a:round/>
            <a:headEnd len="med" w="med" type="none"/>
            <a:tailEnd len="med" w="med" type="none"/>
          </a:ln>
        </p:spPr>
      </p:cxnSp>
      <p:cxnSp>
        <p:nvCxnSpPr>
          <p:cNvPr id="134" name="Google Shape;134;p17"/>
          <p:cNvCxnSpPr>
            <a:stCxn id="115" idx="7"/>
            <a:endCxn id="114" idx="3"/>
          </p:cNvCxnSpPr>
          <p:nvPr/>
        </p:nvCxnSpPr>
        <p:spPr>
          <a:xfrm flipH="1" rot="10800000">
            <a:off x="5414432" y="3327244"/>
            <a:ext cx="640800" cy="252000"/>
          </a:xfrm>
          <a:prstGeom prst="straightConnector1">
            <a:avLst/>
          </a:prstGeom>
          <a:noFill/>
          <a:ln cap="flat" cmpd="sng" w="9525">
            <a:solidFill>
              <a:srgbClr val="1A1A1A"/>
            </a:solidFill>
            <a:prstDash val="solid"/>
            <a:round/>
            <a:headEnd len="med" w="med" type="none"/>
            <a:tailEnd len="med" w="med" type="none"/>
          </a:ln>
        </p:spPr>
      </p:cxnSp>
      <p:sp>
        <p:nvSpPr>
          <p:cNvPr id="135" name="Google Shape;135;p17"/>
          <p:cNvSpPr/>
          <p:nvPr/>
        </p:nvSpPr>
        <p:spPr>
          <a:xfrm>
            <a:off x="7142975" y="358950"/>
            <a:ext cx="152400" cy="153000"/>
          </a:xfrm>
          <a:prstGeom prst="rect">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6" name="Google Shape;136;p17"/>
          <p:cNvSpPr/>
          <p:nvPr/>
        </p:nvSpPr>
        <p:spPr>
          <a:xfrm>
            <a:off x="7142975" y="595050"/>
            <a:ext cx="152400" cy="153000"/>
          </a:xfrm>
          <a:prstGeom prst="rect">
            <a:avLst/>
          </a:prstGeom>
          <a:solidFill>
            <a:srgbClr val="D0E0E3"/>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 name="Google Shape;137;p17"/>
          <p:cNvSpPr/>
          <p:nvPr/>
        </p:nvSpPr>
        <p:spPr>
          <a:xfrm>
            <a:off x="7142975" y="831150"/>
            <a:ext cx="152400" cy="153000"/>
          </a:xfrm>
          <a:prstGeom prst="rect">
            <a:avLst/>
          </a:prstGeom>
          <a:solidFill>
            <a:srgbClr val="FFE599"/>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 name="Google Shape;138;p17"/>
          <p:cNvSpPr txBox="1"/>
          <p:nvPr/>
        </p:nvSpPr>
        <p:spPr>
          <a:xfrm>
            <a:off x="7465400" y="358950"/>
            <a:ext cx="1428300" cy="15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rgbClr val="595959"/>
                </a:solidFill>
                <a:latin typeface="Lato"/>
                <a:ea typeface="Lato"/>
                <a:cs typeface="Lato"/>
                <a:sym typeface="Lato"/>
              </a:rPr>
              <a:t>Traffic System  Nodes</a:t>
            </a:r>
            <a:endParaRPr sz="1000">
              <a:solidFill>
                <a:srgbClr val="595959"/>
              </a:solidFill>
              <a:latin typeface="Lato"/>
              <a:ea typeface="Lato"/>
              <a:cs typeface="Lato"/>
              <a:sym typeface="Lato"/>
            </a:endParaRPr>
          </a:p>
        </p:txBody>
      </p:sp>
      <p:sp>
        <p:nvSpPr>
          <p:cNvPr id="139" name="Google Shape;139;p17"/>
          <p:cNvSpPr txBox="1"/>
          <p:nvPr/>
        </p:nvSpPr>
        <p:spPr>
          <a:xfrm>
            <a:off x="7418100" y="502200"/>
            <a:ext cx="1725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rgbClr val="595959"/>
                </a:solidFill>
                <a:latin typeface="Lato"/>
                <a:ea typeface="Lato"/>
                <a:cs typeface="Lato"/>
                <a:sym typeface="Lato"/>
              </a:rPr>
              <a:t>Insurance  System  Nodes</a:t>
            </a:r>
            <a:endParaRPr sz="900">
              <a:solidFill>
                <a:srgbClr val="595959"/>
              </a:solidFill>
              <a:latin typeface="Lato"/>
              <a:ea typeface="Lato"/>
              <a:cs typeface="Lato"/>
              <a:sym typeface="Lato"/>
            </a:endParaRPr>
          </a:p>
        </p:txBody>
      </p:sp>
      <p:sp>
        <p:nvSpPr>
          <p:cNvPr id="140" name="Google Shape;140;p17"/>
          <p:cNvSpPr txBox="1"/>
          <p:nvPr/>
        </p:nvSpPr>
        <p:spPr>
          <a:xfrm>
            <a:off x="7418100" y="738300"/>
            <a:ext cx="1725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595959"/>
                </a:solidFill>
                <a:latin typeface="Lato"/>
                <a:ea typeface="Lato"/>
                <a:cs typeface="Lato"/>
                <a:sym typeface="Lato"/>
              </a:rPr>
              <a:t>   Hospital System  Nodes</a:t>
            </a:r>
            <a:endParaRPr sz="1000">
              <a:solidFill>
                <a:srgbClr val="595959"/>
              </a:solidFill>
              <a:latin typeface="Lato"/>
              <a:ea typeface="Lato"/>
              <a:cs typeface="Lato"/>
              <a:sym typeface="Lato"/>
            </a:endParaRPr>
          </a:p>
        </p:txBody>
      </p:sp>
      <p:sp>
        <p:nvSpPr>
          <p:cNvPr id="141" name="Google Shape;141;p17"/>
          <p:cNvSpPr/>
          <p:nvPr/>
        </p:nvSpPr>
        <p:spPr>
          <a:xfrm>
            <a:off x="6878925" y="61450"/>
            <a:ext cx="2227200" cy="1579800"/>
          </a:xfrm>
          <a:prstGeom prst="rect">
            <a:avLst/>
          </a:prstGeom>
          <a:noFill/>
          <a:ln cap="flat" cmpd="sng" w="19050">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                  </a:t>
            </a:r>
            <a:endParaRPr>
              <a:latin typeface="Lato"/>
              <a:ea typeface="Lato"/>
              <a:cs typeface="Lato"/>
              <a:sym typeface="Lato"/>
            </a:endParaRPr>
          </a:p>
        </p:txBody>
      </p:sp>
      <p:sp>
        <p:nvSpPr>
          <p:cNvPr id="142" name="Google Shape;142;p17"/>
          <p:cNvSpPr/>
          <p:nvPr/>
        </p:nvSpPr>
        <p:spPr>
          <a:xfrm>
            <a:off x="7142975" y="1127675"/>
            <a:ext cx="205800" cy="153000"/>
          </a:xfrm>
          <a:prstGeom prst="ellipse">
            <a:avLst/>
          </a:prstGeom>
          <a:solidFill>
            <a:srgbClr val="1A1A1A"/>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latin typeface="Lato"/>
              <a:ea typeface="Lato"/>
              <a:cs typeface="Lato"/>
              <a:sym typeface="Lato"/>
            </a:endParaRPr>
          </a:p>
        </p:txBody>
      </p:sp>
      <p:sp>
        <p:nvSpPr>
          <p:cNvPr id="143" name="Google Shape;143;p17"/>
          <p:cNvSpPr txBox="1"/>
          <p:nvPr/>
        </p:nvSpPr>
        <p:spPr>
          <a:xfrm>
            <a:off x="7446075" y="1196200"/>
            <a:ext cx="1326300" cy="19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solidFill>
                  <a:srgbClr val="595959"/>
                </a:solidFill>
                <a:latin typeface="Lato"/>
                <a:ea typeface="Lato"/>
                <a:cs typeface="Lato"/>
                <a:sym typeface="Lato"/>
              </a:rPr>
              <a:t> Size of the circle indicates the stake or weight of a node </a:t>
            </a:r>
            <a:endParaRPr sz="1000">
              <a:solidFill>
                <a:srgbClr val="595959"/>
              </a:solidFill>
              <a:latin typeface="Lato"/>
              <a:ea typeface="Lato"/>
              <a:cs typeface="Lato"/>
              <a:sym typeface="Lato"/>
            </a:endParaRPr>
          </a:p>
        </p:txBody>
      </p:sp>
      <p:sp>
        <p:nvSpPr>
          <p:cNvPr id="144" name="Google Shape;144;p17"/>
          <p:cNvSpPr/>
          <p:nvPr/>
        </p:nvSpPr>
        <p:spPr>
          <a:xfrm>
            <a:off x="1046125" y="2330350"/>
            <a:ext cx="263700" cy="255000"/>
          </a:xfrm>
          <a:prstGeom prst="ellipse">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5" name="Google Shape;145;p17"/>
          <p:cNvSpPr/>
          <p:nvPr/>
        </p:nvSpPr>
        <p:spPr>
          <a:xfrm>
            <a:off x="2448225" y="2190250"/>
            <a:ext cx="894000" cy="633600"/>
          </a:xfrm>
          <a:prstGeom prst="ellipse">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700">
                <a:latin typeface="Lato"/>
                <a:ea typeface="Lato"/>
                <a:cs typeface="Lato"/>
                <a:sym typeface="Lato"/>
              </a:rPr>
              <a:t>Local officer with more weight</a:t>
            </a:r>
            <a:endParaRPr sz="700">
              <a:latin typeface="Lato"/>
              <a:ea typeface="Lato"/>
              <a:cs typeface="Lato"/>
              <a:sym typeface="Lato"/>
            </a:endParaRPr>
          </a:p>
        </p:txBody>
      </p:sp>
      <p:sp>
        <p:nvSpPr>
          <p:cNvPr id="146" name="Google Shape;146;p17"/>
          <p:cNvSpPr/>
          <p:nvPr/>
        </p:nvSpPr>
        <p:spPr>
          <a:xfrm>
            <a:off x="925825" y="1641400"/>
            <a:ext cx="263700" cy="255000"/>
          </a:xfrm>
          <a:prstGeom prst="ellipse">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7" name="Google Shape;147;p17"/>
          <p:cNvCxnSpPr>
            <a:stCxn id="146" idx="5"/>
            <a:endCxn id="105" idx="2"/>
          </p:cNvCxnSpPr>
          <p:nvPr/>
        </p:nvCxnSpPr>
        <p:spPr>
          <a:xfrm>
            <a:off x="1150907" y="1859056"/>
            <a:ext cx="499500" cy="378600"/>
          </a:xfrm>
          <a:prstGeom prst="straightConnector1">
            <a:avLst/>
          </a:prstGeom>
          <a:noFill/>
          <a:ln cap="flat" cmpd="sng" w="9525">
            <a:solidFill>
              <a:srgbClr val="1A1A1A"/>
            </a:solidFill>
            <a:prstDash val="solid"/>
            <a:round/>
            <a:headEnd len="med" w="med" type="none"/>
            <a:tailEnd len="med" w="med" type="none"/>
          </a:ln>
        </p:spPr>
      </p:cxnSp>
      <p:cxnSp>
        <p:nvCxnSpPr>
          <p:cNvPr id="148" name="Google Shape;148;p17"/>
          <p:cNvCxnSpPr>
            <a:stCxn id="144" idx="6"/>
            <a:endCxn id="105" idx="3"/>
          </p:cNvCxnSpPr>
          <p:nvPr/>
        </p:nvCxnSpPr>
        <p:spPr>
          <a:xfrm flipH="1" rot="10800000">
            <a:off x="1309825" y="2327950"/>
            <a:ext cx="379200" cy="129900"/>
          </a:xfrm>
          <a:prstGeom prst="straightConnector1">
            <a:avLst/>
          </a:prstGeom>
          <a:noFill/>
          <a:ln cap="flat" cmpd="sng" w="9525">
            <a:solidFill>
              <a:srgbClr val="1A1A1A"/>
            </a:solidFill>
            <a:prstDash val="solid"/>
            <a:round/>
            <a:headEnd len="med" w="med" type="none"/>
            <a:tailEnd len="med" w="med" type="none"/>
          </a:ln>
        </p:spPr>
      </p:cxnSp>
      <p:cxnSp>
        <p:nvCxnSpPr>
          <p:cNvPr id="149" name="Google Shape;149;p17"/>
          <p:cNvCxnSpPr>
            <a:stCxn id="145" idx="2"/>
            <a:endCxn id="105" idx="6"/>
          </p:cNvCxnSpPr>
          <p:nvPr/>
        </p:nvCxnSpPr>
        <p:spPr>
          <a:xfrm rot="10800000">
            <a:off x="1913925" y="2237650"/>
            <a:ext cx="534300" cy="269400"/>
          </a:xfrm>
          <a:prstGeom prst="straightConnector1">
            <a:avLst/>
          </a:prstGeom>
          <a:noFill/>
          <a:ln cap="flat" cmpd="sng" w="9525">
            <a:solidFill>
              <a:srgbClr val="1A1A1A"/>
            </a:solidFill>
            <a:prstDash val="solid"/>
            <a:round/>
            <a:headEnd len="med" w="med" type="none"/>
            <a:tailEnd len="med" w="med" type="none"/>
          </a:ln>
        </p:spPr>
      </p:cxnSp>
      <p:cxnSp>
        <p:nvCxnSpPr>
          <p:cNvPr id="150" name="Google Shape;150;p17"/>
          <p:cNvCxnSpPr>
            <a:stCxn id="104" idx="0"/>
            <a:endCxn id="144" idx="4"/>
          </p:cNvCxnSpPr>
          <p:nvPr/>
        </p:nvCxnSpPr>
        <p:spPr>
          <a:xfrm rot="10800000">
            <a:off x="1178000" y="2585500"/>
            <a:ext cx="233100" cy="433800"/>
          </a:xfrm>
          <a:prstGeom prst="straightConnector1">
            <a:avLst/>
          </a:prstGeom>
          <a:noFill/>
          <a:ln cap="flat" cmpd="sng" w="9525">
            <a:solidFill>
              <a:srgbClr val="1A1A1A"/>
            </a:solidFill>
            <a:prstDash val="solid"/>
            <a:round/>
            <a:headEnd len="med" w="med" type="none"/>
            <a:tailEnd len="med" w="med" type="none"/>
          </a:ln>
        </p:spPr>
      </p:cxnSp>
      <p:sp>
        <p:nvSpPr>
          <p:cNvPr id="151" name="Google Shape;151;p17"/>
          <p:cNvSpPr/>
          <p:nvPr/>
        </p:nvSpPr>
        <p:spPr>
          <a:xfrm>
            <a:off x="1530050" y="2040850"/>
            <a:ext cx="499500" cy="393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2" name="Google Shape;152;p17"/>
          <p:cNvSpPr/>
          <p:nvPr/>
        </p:nvSpPr>
        <p:spPr>
          <a:xfrm>
            <a:off x="5898725" y="3077400"/>
            <a:ext cx="499500" cy="393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3" name="Google Shape;153;p17"/>
          <p:cNvCxnSpPr>
            <a:stCxn id="117" idx="0"/>
            <a:endCxn id="115" idx="3"/>
          </p:cNvCxnSpPr>
          <p:nvPr/>
        </p:nvCxnSpPr>
        <p:spPr>
          <a:xfrm flipH="1" rot="10800000">
            <a:off x="4973125" y="3759425"/>
            <a:ext cx="254700" cy="477600"/>
          </a:xfrm>
          <a:prstGeom prst="straightConnector1">
            <a:avLst/>
          </a:prstGeom>
          <a:noFill/>
          <a:ln cap="flat" cmpd="sng" w="9525">
            <a:solidFill>
              <a:srgbClr val="1A1A1A"/>
            </a:solidFill>
            <a:prstDash val="solid"/>
            <a:round/>
            <a:headEnd len="med" w="med" type="none"/>
            <a:tailEnd len="med" w="med" type="none"/>
          </a:ln>
        </p:spPr>
      </p:cxnSp>
      <p:cxnSp>
        <p:nvCxnSpPr>
          <p:cNvPr id="154" name="Google Shape;154;p17"/>
          <p:cNvCxnSpPr>
            <a:stCxn id="113" idx="5"/>
            <a:endCxn id="109" idx="0"/>
          </p:cNvCxnSpPr>
          <p:nvPr/>
        </p:nvCxnSpPr>
        <p:spPr>
          <a:xfrm flipH="1">
            <a:off x="5747432" y="941506"/>
            <a:ext cx="58800" cy="412200"/>
          </a:xfrm>
          <a:prstGeom prst="straightConnector1">
            <a:avLst/>
          </a:prstGeom>
          <a:noFill/>
          <a:ln cap="flat" cmpd="sng" w="9525">
            <a:solidFill>
              <a:srgbClr val="1A1A1A"/>
            </a:solidFill>
            <a:prstDash val="solid"/>
            <a:round/>
            <a:headEnd len="med" w="med" type="none"/>
            <a:tailEnd len="med" w="med" type="none"/>
          </a:ln>
        </p:spPr>
      </p:cxnSp>
      <p:cxnSp>
        <p:nvCxnSpPr>
          <p:cNvPr id="155" name="Google Shape;155;p17"/>
          <p:cNvCxnSpPr>
            <a:stCxn id="111" idx="5"/>
            <a:endCxn id="110" idx="1"/>
          </p:cNvCxnSpPr>
          <p:nvPr/>
        </p:nvCxnSpPr>
        <p:spPr>
          <a:xfrm>
            <a:off x="4682332" y="2011006"/>
            <a:ext cx="501900" cy="524400"/>
          </a:xfrm>
          <a:prstGeom prst="straightConnector1">
            <a:avLst/>
          </a:prstGeom>
          <a:noFill/>
          <a:ln cap="flat" cmpd="sng" w="9525">
            <a:solidFill>
              <a:srgbClr val="1A1A1A"/>
            </a:solidFill>
            <a:prstDash val="solid"/>
            <a:round/>
            <a:headEnd len="med" w="med" type="none"/>
            <a:tailEnd len="med" w="med" type="none"/>
          </a:ln>
        </p:spPr>
      </p:cxnSp>
      <p:sp>
        <p:nvSpPr>
          <p:cNvPr id="156" name="Google Shape;156;p17"/>
          <p:cNvSpPr txBox="1"/>
          <p:nvPr/>
        </p:nvSpPr>
        <p:spPr>
          <a:xfrm>
            <a:off x="596050" y="95400"/>
            <a:ext cx="58407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325D85"/>
                </a:solidFill>
                <a:latin typeface="Lato"/>
                <a:ea typeface="Lato"/>
                <a:cs typeface="Lato"/>
                <a:sym typeface="Lato"/>
              </a:rPr>
              <a:t>An Example of the Hybrid Approach Verification</a:t>
            </a:r>
            <a:endParaRPr b="1" sz="1600">
              <a:solidFill>
                <a:srgbClr val="325D85"/>
              </a:solidFill>
              <a:latin typeface="Lato"/>
              <a:ea typeface="Lato"/>
              <a:cs typeface="Lato"/>
              <a:sym typeface="Lato"/>
            </a:endParaRPr>
          </a:p>
        </p:txBody>
      </p:sp>
      <p:cxnSp>
        <p:nvCxnSpPr>
          <p:cNvPr id="157" name="Google Shape;157;p17"/>
          <p:cNvCxnSpPr>
            <a:stCxn id="119" idx="6"/>
            <a:endCxn id="108" idx="3"/>
          </p:cNvCxnSpPr>
          <p:nvPr/>
        </p:nvCxnSpPr>
        <p:spPr>
          <a:xfrm flipH="1" rot="10800000">
            <a:off x="6257575" y="4630475"/>
            <a:ext cx="970500" cy="71400"/>
          </a:xfrm>
          <a:prstGeom prst="straightConnector1">
            <a:avLst/>
          </a:prstGeom>
          <a:noFill/>
          <a:ln cap="flat" cmpd="sng" w="9525">
            <a:solidFill>
              <a:srgbClr val="1A1A1A"/>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Transaction Structure</a:t>
            </a:r>
            <a:endParaRPr/>
          </a:p>
        </p:txBody>
      </p:sp>
      <p:sp>
        <p:nvSpPr>
          <p:cNvPr id="163" name="Google Shape;163;p18"/>
          <p:cNvSpPr/>
          <p:nvPr/>
        </p:nvSpPr>
        <p:spPr>
          <a:xfrm>
            <a:off x="1688525" y="1974275"/>
            <a:ext cx="5271000" cy="203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4" name="Google Shape;164;p18"/>
          <p:cNvSpPr txBox="1"/>
          <p:nvPr/>
        </p:nvSpPr>
        <p:spPr>
          <a:xfrm>
            <a:off x="1701275" y="1974275"/>
            <a:ext cx="1589700" cy="597600"/>
          </a:xfrm>
          <a:prstGeom prst="rect">
            <a:avLst/>
          </a:prstGeom>
          <a:solidFill>
            <a:schemeClr val="dk1"/>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Sender Address </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(String)</a:t>
            </a:r>
            <a:endParaRPr sz="1300">
              <a:solidFill>
                <a:schemeClr val="dk1"/>
              </a:solidFill>
              <a:latin typeface="Lato"/>
              <a:ea typeface="Lato"/>
              <a:cs typeface="Lato"/>
              <a:sym typeface="Lato"/>
            </a:endParaRPr>
          </a:p>
        </p:txBody>
      </p:sp>
      <p:sp>
        <p:nvSpPr>
          <p:cNvPr id="165" name="Google Shape;165;p18"/>
          <p:cNvSpPr txBox="1"/>
          <p:nvPr/>
        </p:nvSpPr>
        <p:spPr>
          <a:xfrm>
            <a:off x="3290975" y="1974275"/>
            <a:ext cx="1530300" cy="597600"/>
          </a:xfrm>
          <a:prstGeom prst="rect">
            <a:avLst/>
          </a:prstGeom>
          <a:solidFill>
            <a:schemeClr val="accent4"/>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Receiver Address </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(String)</a:t>
            </a:r>
            <a:endParaRPr sz="1300">
              <a:solidFill>
                <a:schemeClr val="accent1"/>
              </a:solidFill>
              <a:latin typeface="Lato"/>
              <a:ea typeface="Lato"/>
              <a:cs typeface="Lato"/>
              <a:sym typeface="Lato"/>
            </a:endParaRPr>
          </a:p>
        </p:txBody>
      </p:sp>
      <p:sp>
        <p:nvSpPr>
          <p:cNvPr id="166" name="Google Shape;166;p18"/>
          <p:cNvSpPr txBox="1"/>
          <p:nvPr/>
        </p:nvSpPr>
        <p:spPr>
          <a:xfrm>
            <a:off x="1701275" y="2571875"/>
            <a:ext cx="5245500" cy="416700"/>
          </a:xfrm>
          <a:prstGeom prst="rect">
            <a:avLst/>
          </a:prstGeom>
          <a:solidFill>
            <a:srgbClr val="A2C4C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                                               Transaction Payload</a:t>
            </a:r>
            <a:endParaRPr sz="1300">
              <a:solidFill>
                <a:schemeClr val="accent1"/>
              </a:solidFill>
              <a:latin typeface="Lato"/>
              <a:ea typeface="Lato"/>
              <a:cs typeface="Lato"/>
              <a:sym typeface="Lato"/>
            </a:endParaRPr>
          </a:p>
        </p:txBody>
      </p:sp>
      <p:sp>
        <p:nvSpPr>
          <p:cNvPr id="167" name="Google Shape;167;p18"/>
          <p:cNvSpPr txBox="1"/>
          <p:nvPr/>
        </p:nvSpPr>
        <p:spPr>
          <a:xfrm>
            <a:off x="1701275" y="2988575"/>
            <a:ext cx="1160700" cy="484500"/>
          </a:xfrm>
          <a:prstGeom prst="rect">
            <a:avLst/>
          </a:prstGeom>
          <a:solidFill>
            <a:srgbClr val="F4CCCC"/>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Signature</a:t>
            </a:r>
            <a:endParaRPr sz="1300">
              <a:solidFill>
                <a:schemeClr val="accent1"/>
              </a:solidFill>
              <a:latin typeface="Lato"/>
              <a:ea typeface="Lato"/>
              <a:cs typeface="Lato"/>
              <a:sym typeface="Lato"/>
            </a:endParaRPr>
          </a:p>
        </p:txBody>
      </p:sp>
      <p:sp>
        <p:nvSpPr>
          <p:cNvPr id="168" name="Google Shape;168;p18"/>
          <p:cNvSpPr txBox="1"/>
          <p:nvPr/>
        </p:nvSpPr>
        <p:spPr>
          <a:xfrm>
            <a:off x="2861975" y="2982900"/>
            <a:ext cx="773100" cy="484500"/>
          </a:xfrm>
          <a:prstGeom prst="rect">
            <a:avLst/>
          </a:prstGeom>
          <a:solidFill>
            <a:srgbClr val="B6D7A8"/>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Hash Value</a:t>
            </a:r>
            <a:endParaRPr sz="1300">
              <a:solidFill>
                <a:schemeClr val="accent1"/>
              </a:solidFill>
              <a:latin typeface="Lato"/>
              <a:ea typeface="Lato"/>
              <a:cs typeface="Lato"/>
              <a:sym typeface="Lato"/>
            </a:endParaRPr>
          </a:p>
        </p:txBody>
      </p:sp>
      <p:sp>
        <p:nvSpPr>
          <p:cNvPr id="169" name="Google Shape;169;p18"/>
          <p:cNvSpPr txBox="1"/>
          <p:nvPr/>
        </p:nvSpPr>
        <p:spPr>
          <a:xfrm>
            <a:off x="4614325" y="2988575"/>
            <a:ext cx="1096800" cy="484500"/>
          </a:xfrm>
          <a:prstGeom prst="rect">
            <a:avLst/>
          </a:prstGeom>
          <a:solidFill>
            <a:srgbClr val="F6B26B"/>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EB(Emergency Bit)</a:t>
            </a:r>
            <a:endParaRPr sz="1300">
              <a:solidFill>
                <a:schemeClr val="accent1"/>
              </a:solidFill>
              <a:latin typeface="Lato"/>
              <a:ea typeface="Lato"/>
              <a:cs typeface="Lato"/>
              <a:sym typeface="Lato"/>
            </a:endParaRPr>
          </a:p>
        </p:txBody>
      </p:sp>
      <p:sp>
        <p:nvSpPr>
          <p:cNvPr id="170" name="Google Shape;170;p18"/>
          <p:cNvSpPr txBox="1"/>
          <p:nvPr/>
        </p:nvSpPr>
        <p:spPr>
          <a:xfrm>
            <a:off x="5711125" y="2998900"/>
            <a:ext cx="1235700" cy="4845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ASV( Acc. Stake Value )</a:t>
            </a:r>
            <a:endParaRPr sz="1300">
              <a:solidFill>
                <a:schemeClr val="accent1"/>
              </a:solidFill>
              <a:latin typeface="Lato"/>
              <a:ea typeface="Lato"/>
              <a:cs typeface="Lato"/>
              <a:sym typeface="Lato"/>
            </a:endParaRPr>
          </a:p>
        </p:txBody>
      </p:sp>
      <p:sp>
        <p:nvSpPr>
          <p:cNvPr id="171" name="Google Shape;171;p18"/>
          <p:cNvSpPr txBox="1"/>
          <p:nvPr/>
        </p:nvSpPr>
        <p:spPr>
          <a:xfrm>
            <a:off x="4829875" y="1974275"/>
            <a:ext cx="2116800" cy="597600"/>
          </a:xfrm>
          <a:prstGeom prst="rect">
            <a:avLst/>
          </a:prstGeom>
          <a:solidFill>
            <a:schemeClr val="accent6"/>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SEK(Special Encrypted Bit)</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                    1 Bit</a:t>
            </a:r>
            <a:endParaRPr sz="1300">
              <a:solidFill>
                <a:schemeClr val="accent1"/>
              </a:solidFill>
              <a:latin typeface="Lato"/>
              <a:ea typeface="Lato"/>
              <a:cs typeface="Lato"/>
              <a:sym typeface="Lato"/>
            </a:endParaRPr>
          </a:p>
        </p:txBody>
      </p:sp>
      <p:sp>
        <p:nvSpPr>
          <p:cNvPr id="172" name="Google Shape;172;p18"/>
          <p:cNvSpPr txBox="1"/>
          <p:nvPr/>
        </p:nvSpPr>
        <p:spPr>
          <a:xfrm>
            <a:off x="1688525" y="3467400"/>
            <a:ext cx="5245500" cy="544200"/>
          </a:xfrm>
          <a:prstGeom prst="rect">
            <a:avLst/>
          </a:prstGeom>
          <a:solidFill>
            <a:srgbClr val="DD7E6B"/>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Node Type</a:t>
            </a:r>
            <a:endParaRPr sz="1300">
              <a:solidFill>
                <a:schemeClr val="accent1"/>
              </a:solidFill>
              <a:latin typeface="Lato"/>
              <a:ea typeface="Lato"/>
              <a:cs typeface="Lato"/>
              <a:sym typeface="Lato"/>
            </a:endParaRPr>
          </a:p>
        </p:txBody>
      </p:sp>
      <p:sp>
        <p:nvSpPr>
          <p:cNvPr id="173" name="Google Shape;173;p18"/>
          <p:cNvSpPr txBox="1"/>
          <p:nvPr/>
        </p:nvSpPr>
        <p:spPr>
          <a:xfrm>
            <a:off x="3635075" y="2998900"/>
            <a:ext cx="1043100" cy="484500"/>
          </a:xfrm>
          <a:prstGeom prst="rect">
            <a:avLst/>
          </a:prstGeom>
          <a:solidFill>
            <a:srgbClr val="B6D7A8"/>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Timestamp</a:t>
            </a:r>
            <a:endParaRPr sz="13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Communications in the NBA Model</a:t>
            </a:r>
            <a:endParaRPr/>
          </a:p>
        </p:txBody>
      </p:sp>
      <p:sp>
        <p:nvSpPr>
          <p:cNvPr id="179" name="Google Shape;179;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lnSpc>
                <a:spcPct val="105000"/>
              </a:lnSpc>
              <a:spcBef>
                <a:spcPts val="0"/>
              </a:spcBef>
              <a:spcAft>
                <a:spcPts val="0"/>
              </a:spcAft>
              <a:buSzPts val="1300"/>
              <a:buChar char="●"/>
            </a:pPr>
            <a:r>
              <a:rPr lang="en-GB"/>
              <a:t>Communications in the NBA model happen in the form of messages between peers like in any de centralised Network.</a:t>
            </a:r>
            <a:endParaRPr/>
          </a:p>
          <a:p>
            <a:pPr indent="0" lvl="0" marL="457200" rtl="0" algn="l">
              <a:lnSpc>
                <a:spcPct val="105000"/>
              </a:lnSpc>
              <a:spcBef>
                <a:spcPts val="100"/>
              </a:spcBef>
              <a:spcAft>
                <a:spcPts val="0"/>
              </a:spcAft>
              <a:buNone/>
            </a:pPr>
            <a:r>
              <a:t/>
            </a:r>
            <a:endParaRPr/>
          </a:p>
          <a:p>
            <a:pPr indent="-311150" lvl="0" marL="457200" rtl="0" algn="l">
              <a:lnSpc>
                <a:spcPct val="105000"/>
              </a:lnSpc>
              <a:spcBef>
                <a:spcPts val="100"/>
              </a:spcBef>
              <a:spcAft>
                <a:spcPts val="0"/>
              </a:spcAft>
              <a:buSzPts val="1300"/>
              <a:buChar char="●"/>
            </a:pPr>
            <a:r>
              <a:rPr lang="en-GB"/>
              <a:t>The communications happening in the NBA Model are  </a:t>
            </a:r>
            <a:endParaRPr/>
          </a:p>
          <a:p>
            <a:pPr indent="0" lvl="0" marL="457200" rtl="0" algn="l">
              <a:lnSpc>
                <a:spcPct val="105000"/>
              </a:lnSpc>
              <a:spcBef>
                <a:spcPts val="100"/>
              </a:spcBef>
              <a:spcAft>
                <a:spcPts val="0"/>
              </a:spcAft>
              <a:buNone/>
            </a:pPr>
            <a:r>
              <a:t/>
            </a:r>
            <a:endParaRPr/>
          </a:p>
          <a:p>
            <a:pPr indent="-311150" lvl="2" marL="1371600" rtl="0" algn="l">
              <a:lnSpc>
                <a:spcPct val="105000"/>
              </a:lnSpc>
              <a:spcBef>
                <a:spcPts val="100"/>
              </a:spcBef>
              <a:spcAft>
                <a:spcPts val="0"/>
              </a:spcAft>
              <a:buSzPts val="1300"/>
              <a:buChar char="■"/>
            </a:pPr>
            <a:r>
              <a:rPr lang="en-GB" sz="1300"/>
              <a:t>OFF Ledger Communications </a:t>
            </a:r>
            <a:endParaRPr sz="1300"/>
          </a:p>
          <a:p>
            <a:pPr indent="-311150" lvl="2" marL="1371600" rtl="0" algn="l">
              <a:lnSpc>
                <a:spcPct val="105000"/>
              </a:lnSpc>
              <a:spcBef>
                <a:spcPts val="100"/>
              </a:spcBef>
              <a:spcAft>
                <a:spcPts val="100"/>
              </a:spcAft>
              <a:buSzPts val="1300"/>
              <a:buChar char="■"/>
            </a:pPr>
            <a:r>
              <a:rPr lang="en-GB" sz="1300"/>
              <a:t>ON Ledger Communications</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OFF Ledger Communications</a:t>
            </a:r>
            <a:endParaRPr/>
          </a:p>
        </p:txBody>
      </p:sp>
      <p:sp>
        <p:nvSpPr>
          <p:cNvPr id="185" name="Google Shape;185;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The communications which happen in the network </a:t>
            </a:r>
            <a:r>
              <a:rPr b="1" lang="en-GB"/>
              <a:t>betweens</a:t>
            </a:r>
            <a:r>
              <a:rPr b="1" lang="en-GB"/>
              <a:t> the node of the same type of system </a:t>
            </a:r>
            <a:endParaRPr/>
          </a:p>
          <a:p>
            <a:pPr indent="-311150" lvl="0" marL="457200" rtl="0" algn="l">
              <a:spcBef>
                <a:spcPts val="0"/>
              </a:spcBef>
              <a:spcAft>
                <a:spcPts val="0"/>
              </a:spcAft>
              <a:buSzPts val="1300"/>
              <a:buChar char="●"/>
            </a:pPr>
            <a:r>
              <a:rPr lang="en-GB"/>
              <a:t>They happen between the local nodes and between the initiator node and authority of the system in the times of need.</a:t>
            </a:r>
            <a:endParaRPr/>
          </a:p>
          <a:p>
            <a:pPr indent="-311150" lvl="0" marL="457200" rtl="0" algn="l">
              <a:spcBef>
                <a:spcPts val="0"/>
              </a:spcBef>
              <a:spcAft>
                <a:spcPts val="0"/>
              </a:spcAft>
              <a:buSzPts val="1300"/>
              <a:buChar char="●"/>
            </a:pPr>
            <a:r>
              <a:rPr lang="en-GB"/>
              <a:t>The main aim of this type of communication happens to accumulate the stake needed to get the transaction verified.</a:t>
            </a:r>
            <a:endParaRPr/>
          </a:p>
          <a:p>
            <a:pPr indent="-311150" lvl="0" marL="457200" rtl="0" algn="l">
              <a:spcBef>
                <a:spcPts val="0"/>
              </a:spcBef>
              <a:spcAft>
                <a:spcPts val="0"/>
              </a:spcAft>
              <a:buSzPts val="1300"/>
              <a:buChar char="●"/>
            </a:pPr>
            <a:r>
              <a:rPr lang="en-GB"/>
              <a:t>Once Verified the OFF Ledger communications ends laying ground for the ON Ledger </a:t>
            </a:r>
            <a:r>
              <a:rPr lang="en-GB"/>
              <a:t>Communication</a:t>
            </a:r>
            <a:r>
              <a:rPr lang="en-GB"/>
              <a:t> to get into the Picture.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idx="1" type="body"/>
          </p:nvPr>
        </p:nvSpPr>
        <p:spPr>
          <a:xfrm>
            <a:off x="729450" y="1853850"/>
            <a:ext cx="7688700" cy="248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i)After Appending the stake the </a:t>
            </a:r>
            <a:r>
              <a:rPr lang="en-GB"/>
              <a:t>Neighbouring</a:t>
            </a:r>
            <a:r>
              <a:rPr lang="en-GB"/>
              <a:t> Nodes send the </a:t>
            </a:r>
            <a:r>
              <a:rPr lang="en-GB"/>
              <a:t>transaction</a:t>
            </a:r>
            <a:r>
              <a:rPr lang="en-GB"/>
              <a:t> to the src node ,</a:t>
            </a:r>
            <a:endParaRPr/>
          </a:p>
          <a:p>
            <a:pPr indent="0" lvl="0" marL="0" rtl="0" algn="l">
              <a:spcBef>
                <a:spcPts val="1200"/>
              </a:spcBef>
              <a:spcAft>
                <a:spcPts val="0"/>
              </a:spcAft>
              <a:buNone/>
            </a:pPr>
            <a:r>
              <a:rPr lang="en-GB"/>
              <a:t>Now the source node checks the updates stake value and decides to whether send it to the authority or to append it to the ledger and broadcast the </a:t>
            </a:r>
            <a:r>
              <a:rPr lang="en-GB"/>
              <a:t>successful</a:t>
            </a:r>
            <a:r>
              <a:rPr lang="en-GB"/>
              <a:t> addition to the Ledger.</a:t>
            </a:r>
            <a:endParaRPr/>
          </a:p>
          <a:p>
            <a:pPr indent="0" lvl="0" marL="0" rtl="0" algn="l">
              <a:spcBef>
                <a:spcPts val="1200"/>
              </a:spcBef>
              <a:spcAft>
                <a:spcPts val="1200"/>
              </a:spcAft>
              <a:buNone/>
            </a:pPr>
            <a:r>
              <a:rPr lang="en-GB"/>
              <a:t>ii)</a:t>
            </a:r>
            <a:r>
              <a:rPr lang="en-GB"/>
              <a:t>Parallelly</a:t>
            </a:r>
            <a:r>
              <a:rPr lang="en-GB"/>
              <a:t> while </a:t>
            </a:r>
            <a:r>
              <a:rPr lang="en-GB"/>
              <a:t>initiating</a:t>
            </a:r>
            <a:r>
              <a:rPr lang="en-GB"/>
              <a:t> the transaction the timestamp is recorded and is an </a:t>
            </a:r>
            <a:r>
              <a:rPr lang="en-GB"/>
              <a:t>integral</a:t>
            </a:r>
            <a:r>
              <a:rPr lang="en-GB"/>
              <a:t> part of the transaction as it proceeds in the network, if the source doesn’t get enough stake in the given time or the verifying neighbour notices that the timestamp upon exceeding the threshold the transaction will be redirected to the authority. </a:t>
            </a:r>
            <a:endParaRPr/>
          </a:p>
        </p:txBody>
      </p:sp>
      <p:sp>
        <p:nvSpPr>
          <p:cNvPr id="191" name="Google Shape;191;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Two cases Arise in the OFF Ledger Transaction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ON Ledger Communication</a:t>
            </a:r>
            <a:endParaRPr/>
          </a:p>
        </p:txBody>
      </p:sp>
      <p:sp>
        <p:nvSpPr>
          <p:cNvPr id="197" name="Google Shape;197;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ON Ledger </a:t>
            </a:r>
            <a:r>
              <a:rPr lang="en-GB"/>
              <a:t>communication is the term coined for the </a:t>
            </a:r>
            <a:r>
              <a:rPr lang="en-GB"/>
              <a:t> messages that become part of the ledger upon meeting the </a:t>
            </a:r>
            <a:r>
              <a:rPr lang="en-GB"/>
              <a:t>verification</a:t>
            </a:r>
            <a:r>
              <a:rPr lang="en-GB"/>
              <a:t> policies.</a:t>
            </a:r>
            <a:endParaRPr/>
          </a:p>
          <a:p>
            <a:pPr indent="-311150" lvl="0" marL="457200" rtl="0" algn="l">
              <a:spcBef>
                <a:spcPts val="0"/>
              </a:spcBef>
              <a:spcAft>
                <a:spcPts val="0"/>
              </a:spcAft>
              <a:buSzPts val="1300"/>
              <a:buChar char="●"/>
            </a:pPr>
            <a:r>
              <a:rPr lang="en-GB"/>
              <a:t>These communication are the </a:t>
            </a:r>
            <a:r>
              <a:rPr b="1" lang="en-GB"/>
              <a:t>typical </a:t>
            </a:r>
            <a:r>
              <a:rPr b="1" lang="en-GB"/>
              <a:t>Transactions</a:t>
            </a:r>
            <a:r>
              <a:rPr lang="en-GB"/>
              <a:t> of the Traditional </a:t>
            </a:r>
            <a:r>
              <a:rPr lang="en-GB"/>
              <a:t>blockchain that are to be pushed into the ledger maintained by each node.</a:t>
            </a:r>
            <a:endParaRPr/>
          </a:p>
          <a:p>
            <a:pPr indent="-311150" lvl="0" marL="457200" rtl="0" algn="l">
              <a:spcBef>
                <a:spcPts val="0"/>
              </a:spcBef>
              <a:spcAft>
                <a:spcPts val="0"/>
              </a:spcAft>
              <a:buSzPts val="1300"/>
              <a:buChar char="●"/>
            </a:pPr>
            <a:r>
              <a:rPr lang="en-GB"/>
              <a:t>The off ledger message are transformed into the ON ledger Transaction , initiated by other genesis node of the transaction or the authority according to the respective case.</a:t>
            </a:r>
            <a:endParaRPr/>
          </a:p>
          <a:p>
            <a:pPr indent="-311150" lvl="0" marL="457200" rtl="0" algn="l">
              <a:spcBef>
                <a:spcPts val="0"/>
              </a:spcBef>
              <a:spcAft>
                <a:spcPts val="0"/>
              </a:spcAft>
              <a:buSzPts val="1300"/>
              <a:buChar char="●"/>
            </a:pPr>
            <a:r>
              <a:rPr lang="en-GB"/>
              <a:t>Each peer will be broadcasting the Transaction to its peers, after appending the transaction to their ledgers.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THE TRAFFIC INCIDENT</a:t>
            </a:r>
            <a:endParaRPr/>
          </a:p>
        </p:txBody>
      </p:sp>
      <p:sp>
        <p:nvSpPr>
          <p:cNvPr id="203" name="Google Shape;203;p2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An Example Scenario to look into the deeper levels of the working of the NBA Algo.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4"/>
          <p:cNvSpPr/>
          <p:nvPr/>
        </p:nvSpPr>
        <p:spPr>
          <a:xfrm>
            <a:off x="7142975" y="358950"/>
            <a:ext cx="152400" cy="153000"/>
          </a:xfrm>
          <a:prstGeom prst="rect">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9" name="Google Shape;209;p24"/>
          <p:cNvSpPr/>
          <p:nvPr/>
        </p:nvSpPr>
        <p:spPr>
          <a:xfrm>
            <a:off x="7142975" y="595050"/>
            <a:ext cx="152400" cy="153000"/>
          </a:xfrm>
          <a:prstGeom prst="rect">
            <a:avLst/>
          </a:prstGeom>
          <a:solidFill>
            <a:srgbClr val="D0E0E3"/>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0" name="Google Shape;210;p24"/>
          <p:cNvSpPr/>
          <p:nvPr/>
        </p:nvSpPr>
        <p:spPr>
          <a:xfrm>
            <a:off x="7142975" y="831150"/>
            <a:ext cx="152400" cy="153000"/>
          </a:xfrm>
          <a:prstGeom prst="rect">
            <a:avLst/>
          </a:prstGeom>
          <a:solidFill>
            <a:srgbClr val="FFE599"/>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1" name="Google Shape;211;p24"/>
          <p:cNvSpPr txBox="1"/>
          <p:nvPr/>
        </p:nvSpPr>
        <p:spPr>
          <a:xfrm>
            <a:off x="7465400" y="358950"/>
            <a:ext cx="1428300" cy="15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rgbClr val="595959"/>
                </a:solidFill>
                <a:latin typeface="Lato"/>
                <a:ea typeface="Lato"/>
                <a:cs typeface="Lato"/>
                <a:sym typeface="Lato"/>
              </a:rPr>
              <a:t>Traffic System  Nodes</a:t>
            </a:r>
            <a:endParaRPr sz="1000">
              <a:solidFill>
                <a:srgbClr val="595959"/>
              </a:solidFill>
              <a:latin typeface="Lato"/>
              <a:ea typeface="Lato"/>
              <a:cs typeface="Lato"/>
              <a:sym typeface="Lato"/>
            </a:endParaRPr>
          </a:p>
        </p:txBody>
      </p:sp>
      <p:sp>
        <p:nvSpPr>
          <p:cNvPr id="212" name="Google Shape;212;p24"/>
          <p:cNvSpPr txBox="1"/>
          <p:nvPr/>
        </p:nvSpPr>
        <p:spPr>
          <a:xfrm>
            <a:off x="7418100" y="502200"/>
            <a:ext cx="1725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rgbClr val="595959"/>
                </a:solidFill>
                <a:latin typeface="Lato"/>
                <a:ea typeface="Lato"/>
                <a:cs typeface="Lato"/>
                <a:sym typeface="Lato"/>
              </a:rPr>
              <a:t>Insurance  System  Nodes</a:t>
            </a:r>
            <a:endParaRPr sz="900">
              <a:solidFill>
                <a:srgbClr val="595959"/>
              </a:solidFill>
              <a:latin typeface="Lato"/>
              <a:ea typeface="Lato"/>
              <a:cs typeface="Lato"/>
              <a:sym typeface="Lato"/>
            </a:endParaRPr>
          </a:p>
        </p:txBody>
      </p:sp>
      <p:sp>
        <p:nvSpPr>
          <p:cNvPr id="213" name="Google Shape;213;p24"/>
          <p:cNvSpPr txBox="1"/>
          <p:nvPr/>
        </p:nvSpPr>
        <p:spPr>
          <a:xfrm>
            <a:off x="7418100" y="738300"/>
            <a:ext cx="1725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595959"/>
                </a:solidFill>
                <a:latin typeface="Lato"/>
                <a:ea typeface="Lato"/>
                <a:cs typeface="Lato"/>
                <a:sym typeface="Lato"/>
              </a:rPr>
              <a:t>   Hospital System  Nodes</a:t>
            </a:r>
            <a:endParaRPr sz="1000">
              <a:solidFill>
                <a:srgbClr val="595959"/>
              </a:solidFill>
              <a:latin typeface="Lato"/>
              <a:ea typeface="Lato"/>
              <a:cs typeface="Lato"/>
              <a:sym typeface="Lato"/>
            </a:endParaRPr>
          </a:p>
        </p:txBody>
      </p:sp>
      <p:sp>
        <p:nvSpPr>
          <p:cNvPr id="214" name="Google Shape;214;p24"/>
          <p:cNvSpPr/>
          <p:nvPr/>
        </p:nvSpPr>
        <p:spPr>
          <a:xfrm>
            <a:off x="6878925" y="61450"/>
            <a:ext cx="2227200" cy="1579800"/>
          </a:xfrm>
          <a:prstGeom prst="rect">
            <a:avLst/>
          </a:prstGeom>
          <a:noFill/>
          <a:ln cap="flat" cmpd="sng" w="19050">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                  </a:t>
            </a:r>
            <a:endParaRPr>
              <a:latin typeface="Lato"/>
              <a:ea typeface="Lato"/>
              <a:cs typeface="Lato"/>
              <a:sym typeface="Lato"/>
            </a:endParaRPr>
          </a:p>
        </p:txBody>
      </p:sp>
      <p:sp>
        <p:nvSpPr>
          <p:cNvPr id="215" name="Google Shape;215;p24"/>
          <p:cNvSpPr/>
          <p:nvPr/>
        </p:nvSpPr>
        <p:spPr>
          <a:xfrm>
            <a:off x="7142975" y="1127675"/>
            <a:ext cx="205800" cy="153000"/>
          </a:xfrm>
          <a:prstGeom prst="ellipse">
            <a:avLst/>
          </a:prstGeom>
          <a:solidFill>
            <a:srgbClr val="1A1A1A"/>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latin typeface="Lato"/>
              <a:ea typeface="Lato"/>
              <a:cs typeface="Lato"/>
              <a:sym typeface="Lato"/>
            </a:endParaRPr>
          </a:p>
        </p:txBody>
      </p:sp>
      <p:sp>
        <p:nvSpPr>
          <p:cNvPr id="216" name="Google Shape;216;p24"/>
          <p:cNvSpPr txBox="1"/>
          <p:nvPr/>
        </p:nvSpPr>
        <p:spPr>
          <a:xfrm>
            <a:off x="7446075" y="1196200"/>
            <a:ext cx="1326300" cy="19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solidFill>
                  <a:srgbClr val="595959"/>
                </a:solidFill>
                <a:latin typeface="Lato"/>
                <a:ea typeface="Lato"/>
                <a:cs typeface="Lato"/>
                <a:sym typeface="Lato"/>
              </a:rPr>
              <a:t> Size of the circle indicates the stake or weight of a node </a:t>
            </a:r>
            <a:endParaRPr sz="1000">
              <a:solidFill>
                <a:srgbClr val="595959"/>
              </a:solidFill>
              <a:latin typeface="Lato"/>
              <a:ea typeface="Lato"/>
              <a:cs typeface="Lato"/>
              <a:sym typeface="Lato"/>
            </a:endParaRPr>
          </a:p>
        </p:txBody>
      </p:sp>
      <p:sp>
        <p:nvSpPr>
          <p:cNvPr id="217" name="Google Shape;217;p24"/>
          <p:cNvSpPr/>
          <p:nvPr/>
        </p:nvSpPr>
        <p:spPr>
          <a:xfrm>
            <a:off x="314475" y="346795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8" name="Google Shape;218;p24"/>
          <p:cNvSpPr/>
          <p:nvPr/>
        </p:nvSpPr>
        <p:spPr>
          <a:xfrm>
            <a:off x="566550" y="4191613"/>
            <a:ext cx="609000" cy="5871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9" name="Google Shape;219;p24"/>
          <p:cNvSpPr/>
          <p:nvPr/>
        </p:nvSpPr>
        <p:spPr>
          <a:xfrm>
            <a:off x="1052600" y="3501300"/>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0" name="Google Shape;220;p24"/>
          <p:cNvSpPr txBox="1"/>
          <p:nvPr/>
        </p:nvSpPr>
        <p:spPr>
          <a:xfrm>
            <a:off x="3162725" y="3701125"/>
            <a:ext cx="4048200" cy="4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Low Level Delegates in each system,</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For eg : - Traffic Police ,Insurance Collector,Ward Boy.</a:t>
            </a:r>
            <a:endParaRPr sz="1300">
              <a:solidFill>
                <a:schemeClr val="accent1"/>
              </a:solidFill>
              <a:latin typeface="Lato"/>
              <a:ea typeface="Lato"/>
              <a:cs typeface="Lato"/>
              <a:sym typeface="Lato"/>
            </a:endParaRPr>
          </a:p>
        </p:txBody>
      </p:sp>
      <p:sp>
        <p:nvSpPr>
          <p:cNvPr id="221" name="Google Shape;221;p24"/>
          <p:cNvSpPr/>
          <p:nvPr/>
        </p:nvSpPr>
        <p:spPr>
          <a:xfrm>
            <a:off x="303925" y="2103225"/>
            <a:ext cx="932700" cy="881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2" name="Google Shape;222;p24"/>
          <p:cNvSpPr txBox="1"/>
          <p:nvPr/>
        </p:nvSpPr>
        <p:spPr>
          <a:xfrm>
            <a:off x="3162725" y="2158713"/>
            <a:ext cx="5163000" cy="7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Middle level Delegates in each System .</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For eg :-District Traffic </a:t>
            </a:r>
            <a:r>
              <a:rPr lang="en-GB" sz="1300">
                <a:solidFill>
                  <a:schemeClr val="accent1"/>
                </a:solidFill>
                <a:latin typeface="Lato"/>
                <a:ea typeface="Lato"/>
                <a:cs typeface="Lato"/>
                <a:sym typeface="Lato"/>
              </a:rPr>
              <a:t>corporation</a:t>
            </a:r>
            <a:r>
              <a:rPr lang="en-GB" sz="1300">
                <a:solidFill>
                  <a:schemeClr val="accent1"/>
                </a:solidFill>
                <a:latin typeface="Lato"/>
                <a:ea typeface="Lato"/>
                <a:cs typeface="Lato"/>
                <a:sym typeface="Lato"/>
              </a:rPr>
              <a:t> Head.</a:t>
            </a:r>
            <a:endParaRPr sz="1300">
              <a:solidFill>
                <a:schemeClr val="accent1"/>
              </a:solidFill>
              <a:latin typeface="Lato"/>
              <a:ea typeface="Lato"/>
              <a:cs typeface="Lato"/>
              <a:sym typeface="Lato"/>
            </a:endParaRPr>
          </a:p>
        </p:txBody>
      </p:sp>
      <p:sp>
        <p:nvSpPr>
          <p:cNvPr id="223" name="Google Shape;223;p24"/>
          <p:cNvSpPr/>
          <p:nvPr/>
        </p:nvSpPr>
        <p:spPr>
          <a:xfrm>
            <a:off x="179725" y="636275"/>
            <a:ext cx="1181100" cy="11358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4" name="Google Shape;224;p24"/>
          <p:cNvSpPr txBox="1"/>
          <p:nvPr/>
        </p:nvSpPr>
        <p:spPr>
          <a:xfrm>
            <a:off x="3162725" y="748050"/>
            <a:ext cx="3431100" cy="9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High </a:t>
            </a:r>
            <a:r>
              <a:rPr lang="en-GB" sz="1300">
                <a:solidFill>
                  <a:schemeClr val="accent1"/>
                </a:solidFill>
                <a:latin typeface="Lato"/>
                <a:ea typeface="Lato"/>
                <a:cs typeface="Lato"/>
                <a:sym typeface="Lato"/>
              </a:rPr>
              <a:t>level</a:t>
            </a:r>
            <a:r>
              <a:rPr lang="en-GB" sz="1300">
                <a:solidFill>
                  <a:schemeClr val="accent1"/>
                </a:solidFill>
                <a:latin typeface="Lato"/>
                <a:ea typeface="Lato"/>
                <a:cs typeface="Lato"/>
                <a:sym typeface="Lato"/>
              </a:rPr>
              <a:t> Delegate .Node with </a:t>
            </a:r>
            <a:r>
              <a:rPr lang="en-GB" sz="1300">
                <a:solidFill>
                  <a:schemeClr val="accent1"/>
                </a:solidFill>
                <a:latin typeface="Lato"/>
                <a:ea typeface="Lato"/>
                <a:cs typeface="Lato"/>
                <a:sym typeface="Lato"/>
              </a:rPr>
              <a:t>adequate</a:t>
            </a:r>
            <a:r>
              <a:rPr lang="en-GB" sz="1300">
                <a:solidFill>
                  <a:schemeClr val="accent1"/>
                </a:solidFill>
                <a:latin typeface="Lato"/>
                <a:ea typeface="Lato"/>
                <a:cs typeface="Lato"/>
                <a:sym typeface="Lato"/>
              </a:rPr>
              <a:t> Computational power and in the </a:t>
            </a:r>
            <a:r>
              <a:rPr lang="en-GB" sz="1300">
                <a:solidFill>
                  <a:schemeClr val="accent1"/>
                </a:solidFill>
                <a:latin typeface="Lato"/>
                <a:ea typeface="Lato"/>
                <a:cs typeface="Lato"/>
                <a:sym typeface="Lato"/>
              </a:rPr>
              <a:t>pinnacle</a:t>
            </a:r>
            <a:r>
              <a:rPr lang="en-GB" sz="1300">
                <a:solidFill>
                  <a:schemeClr val="accent1"/>
                </a:solidFill>
                <a:latin typeface="Lato"/>
                <a:ea typeface="Lato"/>
                <a:cs typeface="Lato"/>
                <a:sym typeface="Lato"/>
              </a:rPr>
              <a:t> of the </a:t>
            </a:r>
            <a:r>
              <a:rPr lang="en-GB" sz="1300">
                <a:solidFill>
                  <a:schemeClr val="accent1"/>
                </a:solidFill>
                <a:latin typeface="Lato"/>
                <a:ea typeface="Lato"/>
                <a:cs typeface="Lato"/>
                <a:sym typeface="Lato"/>
              </a:rPr>
              <a:t>hierarchy</a:t>
            </a:r>
            <a:r>
              <a:rPr lang="en-GB" sz="1300">
                <a:solidFill>
                  <a:schemeClr val="accent1"/>
                </a:solidFill>
                <a:latin typeface="Lato"/>
                <a:ea typeface="Lato"/>
                <a:cs typeface="Lato"/>
                <a:sym typeface="Lato"/>
              </a:rPr>
              <a:t> of the system organisation.</a:t>
            </a:r>
            <a:endParaRPr sz="1300">
              <a:solidFill>
                <a:schemeClr val="accent1"/>
              </a:solidFill>
              <a:latin typeface="Lato"/>
              <a:ea typeface="Lato"/>
              <a:cs typeface="Lato"/>
              <a:sym typeface="Lato"/>
            </a:endParaRPr>
          </a:p>
        </p:txBody>
      </p:sp>
      <p:sp>
        <p:nvSpPr>
          <p:cNvPr id="225" name="Google Shape;225;p24"/>
          <p:cNvSpPr/>
          <p:nvPr/>
        </p:nvSpPr>
        <p:spPr>
          <a:xfrm>
            <a:off x="1790725" y="1065125"/>
            <a:ext cx="1086900" cy="27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6" name="Google Shape;226;p24"/>
          <p:cNvSpPr/>
          <p:nvPr/>
        </p:nvSpPr>
        <p:spPr>
          <a:xfrm>
            <a:off x="1790725" y="2358975"/>
            <a:ext cx="1086900" cy="27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7" name="Google Shape;227;p24"/>
          <p:cNvSpPr/>
          <p:nvPr/>
        </p:nvSpPr>
        <p:spPr>
          <a:xfrm>
            <a:off x="1790725" y="3913525"/>
            <a:ext cx="1086900" cy="27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957825" y="2340825"/>
            <a:ext cx="7688400" cy="120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GB" sz="4540"/>
              <a:t>Case - I</a:t>
            </a:r>
            <a:endParaRPr sz="454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6"/>
          <p:cNvSpPr/>
          <p:nvPr/>
        </p:nvSpPr>
        <p:spPr>
          <a:xfrm>
            <a:off x="3788700" y="22782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8" name="Google Shape;238;p26"/>
          <p:cNvSpPr/>
          <p:nvPr/>
        </p:nvSpPr>
        <p:spPr>
          <a:xfrm>
            <a:off x="6277175" y="3710888"/>
            <a:ext cx="609000" cy="5871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9" name="Google Shape;239;p26"/>
          <p:cNvSpPr/>
          <p:nvPr/>
        </p:nvSpPr>
        <p:spPr>
          <a:xfrm>
            <a:off x="5695400" y="983650"/>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26"/>
          <p:cNvSpPr/>
          <p:nvPr/>
        </p:nvSpPr>
        <p:spPr>
          <a:xfrm>
            <a:off x="2336300" y="4068225"/>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 name="Google Shape;241;p26"/>
          <p:cNvSpPr/>
          <p:nvPr/>
        </p:nvSpPr>
        <p:spPr>
          <a:xfrm>
            <a:off x="6277175" y="2278200"/>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2" name="Google Shape;242;p26"/>
          <p:cNvSpPr/>
          <p:nvPr/>
        </p:nvSpPr>
        <p:spPr>
          <a:xfrm>
            <a:off x="2014450" y="1991575"/>
            <a:ext cx="1052100" cy="9438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43" name="Google Shape;243;p26"/>
          <p:cNvCxnSpPr>
            <a:stCxn id="242" idx="6"/>
            <a:endCxn id="237" idx="1"/>
          </p:cNvCxnSpPr>
          <p:nvPr/>
        </p:nvCxnSpPr>
        <p:spPr>
          <a:xfrm flipH="1" rot="10800000">
            <a:off x="3066550" y="2364175"/>
            <a:ext cx="811200" cy="99300"/>
          </a:xfrm>
          <a:prstGeom prst="straightConnector1">
            <a:avLst/>
          </a:prstGeom>
          <a:noFill/>
          <a:ln cap="flat" cmpd="sng" w="9525">
            <a:solidFill>
              <a:schemeClr val="dk2"/>
            </a:solidFill>
            <a:prstDash val="solid"/>
            <a:round/>
            <a:headEnd len="med" w="med" type="none"/>
            <a:tailEnd len="med" w="med" type="none"/>
          </a:ln>
        </p:spPr>
      </p:cxnSp>
      <p:cxnSp>
        <p:nvCxnSpPr>
          <p:cNvPr id="244" name="Google Shape;244;p26"/>
          <p:cNvCxnSpPr>
            <a:stCxn id="240" idx="6"/>
            <a:endCxn id="237" idx="3"/>
          </p:cNvCxnSpPr>
          <p:nvPr/>
        </p:nvCxnSpPr>
        <p:spPr>
          <a:xfrm flipH="1" rot="10800000">
            <a:off x="2945300" y="2779275"/>
            <a:ext cx="932700" cy="1582500"/>
          </a:xfrm>
          <a:prstGeom prst="straightConnector1">
            <a:avLst/>
          </a:prstGeom>
          <a:noFill/>
          <a:ln cap="flat" cmpd="sng" w="9525">
            <a:solidFill>
              <a:schemeClr val="dk2"/>
            </a:solidFill>
            <a:prstDash val="solid"/>
            <a:round/>
            <a:headEnd len="med" w="med" type="none"/>
            <a:tailEnd len="med" w="med" type="none"/>
          </a:ln>
        </p:spPr>
      </p:cxnSp>
      <p:cxnSp>
        <p:nvCxnSpPr>
          <p:cNvPr id="245" name="Google Shape;245;p26"/>
          <p:cNvCxnSpPr>
            <a:stCxn id="242" idx="4"/>
            <a:endCxn id="240" idx="0"/>
          </p:cNvCxnSpPr>
          <p:nvPr/>
        </p:nvCxnSpPr>
        <p:spPr>
          <a:xfrm>
            <a:off x="2540500" y="2935375"/>
            <a:ext cx="100200" cy="1132800"/>
          </a:xfrm>
          <a:prstGeom prst="straightConnector1">
            <a:avLst/>
          </a:prstGeom>
          <a:noFill/>
          <a:ln cap="flat" cmpd="sng" w="9525">
            <a:solidFill>
              <a:schemeClr val="dk2"/>
            </a:solidFill>
            <a:prstDash val="solid"/>
            <a:round/>
            <a:headEnd len="med" w="med" type="none"/>
            <a:tailEnd len="med" w="med" type="none"/>
          </a:ln>
        </p:spPr>
      </p:cxnSp>
      <p:cxnSp>
        <p:nvCxnSpPr>
          <p:cNvPr id="246" name="Google Shape;246;p26"/>
          <p:cNvCxnSpPr>
            <a:stCxn id="239" idx="6"/>
            <a:endCxn id="241" idx="2"/>
          </p:cNvCxnSpPr>
          <p:nvPr/>
        </p:nvCxnSpPr>
        <p:spPr>
          <a:xfrm flipH="1">
            <a:off x="6277100" y="1277200"/>
            <a:ext cx="27300" cy="12945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26"/>
          <p:cNvCxnSpPr>
            <a:stCxn id="239" idx="0"/>
          </p:cNvCxnSpPr>
          <p:nvPr/>
        </p:nvCxnSpPr>
        <p:spPr>
          <a:xfrm flipH="1" rot="10800000">
            <a:off x="5999900" y="624550"/>
            <a:ext cx="197400" cy="3591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26"/>
          <p:cNvCxnSpPr>
            <a:endCxn id="241" idx="7"/>
          </p:cNvCxnSpPr>
          <p:nvPr/>
        </p:nvCxnSpPr>
        <p:spPr>
          <a:xfrm flipH="1">
            <a:off x="6796989" y="2000879"/>
            <a:ext cx="514200" cy="3633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26"/>
          <p:cNvCxnSpPr>
            <a:endCxn id="238" idx="5"/>
          </p:cNvCxnSpPr>
          <p:nvPr/>
        </p:nvCxnSpPr>
        <p:spPr>
          <a:xfrm rot="10800000">
            <a:off x="6796989" y="4212009"/>
            <a:ext cx="599700" cy="3903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26"/>
          <p:cNvCxnSpPr>
            <a:stCxn id="237" idx="6"/>
            <a:endCxn id="238" idx="2"/>
          </p:cNvCxnSpPr>
          <p:nvPr/>
        </p:nvCxnSpPr>
        <p:spPr>
          <a:xfrm>
            <a:off x="4397700" y="2571750"/>
            <a:ext cx="1879500" cy="14328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26"/>
          <p:cNvCxnSpPr>
            <a:stCxn id="237" idx="7"/>
            <a:endCxn id="239" idx="2"/>
          </p:cNvCxnSpPr>
          <p:nvPr/>
        </p:nvCxnSpPr>
        <p:spPr>
          <a:xfrm flipH="1" rot="10800000">
            <a:off x="4308514" y="1277279"/>
            <a:ext cx="1386900" cy="1086900"/>
          </a:xfrm>
          <a:prstGeom prst="straightConnector1">
            <a:avLst/>
          </a:prstGeom>
          <a:noFill/>
          <a:ln cap="flat" cmpd="sng" w="9525">
            <a:solidFill>
              <a:schemeClr val="dk2"/>
            </a:solidFill>
            <a:prstDash val="solid"/>
            <a:round/>
            <a:headEnd len="med" w="med" type="none"/>
            <a:tailEnd len="med" w="med" type="none"/>
          </a:ln>
        </p:spPr>
      </p:cxnSp>
      <p:sp>
        <p:nvSpPr>
          <p:cNvPr id="252" name="Google Shape;252;p26"/>
          <p:cNvSpPr/>
          <p:nvPr/>
        </p:nvSpPr>
        <p:spPr>
          <a:xfrm>
            <a:off x="391875" y="259300"/>
            <a:ext cx="1534800" cy="1605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53" name="Google Shape;253;p26"/>
          <p:cNvCxnSpPr>
            <a:stCxn id="242" idx="1"/>
            <a:endCxn id="252" idx="5"/>
          </p:cNvCxnSpPr>
          <p:nvPr/>
        </p:nvCxnSpPr>
        <p:spPr>
          <a:xfrm rot="10800000">
            <a:off x="1702026" y="1629391"/>
            <a:ext cx="466500" cy="500400"/>
          </a:xfrm>
          <a:prstGeom prst="straightConnector1">
            <a:avLst/>
          </a:prstGeom>
          <a:noFill/>
          <a:ln cap="flat" cmpd="sng" w="9525">
            <a:solidFill>
              <a:schemeClr val="dk2"/>
            </a:solidFill>
            <a:prstDash val="solid"/>
            <a:round/>
            <a:headEnd len="med" w="med" type="none"/>
            <a:tailEnd len="med" w="med" type="none"/>
          </a:ln>
        </p:spPr>
      </p:cxnSp>
      <p:sp>
        <p:nvSpPr>
          <p:cNvPr id="254" name="Google Shape;254;p26"/>
          <p:cNvSpPr/>
          <p:nvPr/>
        </p:nvSpPr>
        <p:spPr>
          <a:xfrm>
            <a:off x="7142975" y="358950"/>
            <a:ext cx="152400" cy="153000"/>
          </a:xfrm>
          <a:prstGeom prst="rect">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5" name="Google Shape;255;p26"/>
          <p:cNvSpPr/>
          <p:nvPr/>
        </p:nvSpPr>
        <p:spPr>
          <a:xfrm>
            <a:off x="7142975" y="595050"/>
            <a:ext cx="152400" cy="153000"/>
          </a:xfrm>
          <a:prstGeom prst="rect">
            <a:avLst/>
          </a:prstGeom>
          <a:solidFill>
            <a:srgbClr val="D0E0E3"/>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6" name="Google Shape;256;p26"/>
          <p:cNvSpPr/>
          <p:nvPr/>
        </p:nvSpPr>
        <p:spPr>
          <a:xfrm>
            <a:off x="7142975" y="831150"/>
            <a:ext cx="152400" cy="153000"/>
          </a:xfrm>
          <a:prstGeom prst="rect">
            <a:avLst/>
          </a:prstGeom>
          <a:solidFill>
            <a:srgbClr val="FFE599"/>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7" name="Google Shape;257;p26"/>
          <p:cNvSpPr txBox="1"/>
          <p:nvPr/>
        </p:nvSpPr>
        <p:spPr>
          <a:xfrm>
            <a:off x="7465400" y="358950"/>
            <a:ext cx="1428300" cy="15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rgbClr val="595959"/>
                </a:solidFill>
                <a:latin typeface="Lato"/>
                <a:ea typeface="Lato"/>
                <a:cs typeface="Lato"/>
                <a:sym typeface="Lato"/>
              </a:rPr>
              <a:t>Traffic System  Nodes</a:t>
            </a:r>
            <a:endParaRPr sz="1000">
              <a:solidFill>
                <a:srgbClr val="595959"/>
              </a:solidFill>
              <a:latin typeface="Lato"/>
              <a:ea typeface="Lato"/>
              <a:cs typeface="Lato"/>
              <a:sym typeface="Lato"/>
            </a:endParaRPr>
          </a:p>
        </p:txBody>
      </p:sp>
      <p:sp>
        <p:nvSpPr>
          <p:cNvPr id="258" name="Google Shape;258;p26"/>
          <p:cNvSpPr txBox="1"/>
          <p:nvPr/>
        </p:nvSpPr>
        <p:spPr>
          <a:xfrm>
            <a:off x="7418100" y="502200"/>
            <a:ext cx="1725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rgbClr val="595959"/>
                </a:solidFill>
                <a:latin typeface="Lato"/>
                <a:ea typeface="Lato"/>
                <a:cs typeface="Lato"/>
                <a:sym typeface="Lato"/>
              </a:rPr>
              <a:t>Insurance  System  Nodes</a:t>
            </a:r>
            <a:endParaRPr sz="900">
              <a:solidFill>
                <a:srgbClr val="595959"/>
              </a:solidFill>
              <a:latin typeface="Lato"/>
              <a:ea typeface="Lato"/>
              <a:cs typeface="Lato"/>
              <a:sym typeface="Lato"/>
            </a:endParaRPr>
          </a:p>
        </p:txBody>
      </p:sp>
      <p:sp>
        <p:nvSpPr>
          <p:cNvPr id="259" name="Google Shape;259;p26"/>
          <p:cNvSpPr txBox="1"/>
          <p:nvPr/>
        </p:nvSpPr>
        <p:spPr>
          <a:xfrm>
            <a:off x="7418100" y="738300"/>
            <a:ext cx="1725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595959"/>
                </a:solidFill>
                <a:latin typeface="Lato"/>
                <a:ea typeface="Lato"/>
                <a:cs typeface="Lato"/>
                <a:sym typeface="Lato"/>
              </a:rPr>
              <a:t>   Hospital System  Nodes</a:t>
            </a:r>
            <a:endParaRPr sz="1000">
              <a:solidFill>
                <a:srgbClr val="595959"/>
              </a:solidFill>
              <a:latin typeface="Lato"/>
              <a:ea typeface="Lato"/>
              <a:cs typeface="Lato"/>
              <a:sym typeface="Lato"/>
            </a:endParaRPr>
          </a:p>
        </p:txBody>
      </p:sp>
      <p:sp>
        <p:nvSpPr>
          <p:cNvPr id="260" name="Google Shape;260;p26"/>
          <p:cNvSpPr/>
          <p:nvPr/>
        </p:nvSpPr>
        <p:spPr>
          <a:xfrm>
            <a:off x="6878925" y="61450"/>
            <a:ext cx="2227200" cy="1579800"/>
          </a:xfrm>
          <a:prstGeom prst="rect">
            <a:avLst/>
          </a:prstGeom>
          <a:noFill/>
          <a:ln cap="flat" cmpd="sng" w="19050">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                  </a:t>
            </a:r>
            <a:endParaRPr>
              <a:latin typeface="Lato"/>
              <a:ea typeface="Lato"/>
              <a:cs typeface="Lato"/>
              <a:sym typeface="Lato"/>
            </a:endParaRPr>
          </a:p>
        </p:txBody>
      </p:sp>
      <p:sp>
        <p:nvSpPr>
          <p:cNvPr id="261" name="Google Shape;261;p26"/>
          <p:cNvSpPr/>
          <p:nvPr/>
        </p:nvSpPr>
        <p:spPr>
          <a:xfrm>
            <a:off x="7142975" y="1127675"/>
            <a:ext cx="205800" cy="153000"/>
          </a:xfrm>
          <a:prstGeom prst="ellipse">
            <a:avLst/>
          </a:prstGeom>
          <a:solidFill>
            <a:srgbClr val="1A1A1A"/>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latin typeface="Lato"/>
              <a:ea typeface="Lato"/>
              <a:cs typeface="Lato"/>
              <a:sym typeface="Lato"/>
            </a:endParaRPr>
          </a:p>
        </p:txBody>
      </p:sp>
      <p:sp>
        <p:nvSpPr>
          <p:cNvPr id="262" name="Google Shape;262;p26"/>
          <p:cNvSpPr txBox="1"/>
          <p:nvPr/>
        </p:nvSpPr>
        <p:spPr>
          <a:xfrm>
            <a:off x="7446075" y="1196200"/>
            <a:ext cx="1326300" cy="19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solidFill>
                  <a:srgbClr val="595959"/>
                </a:solidFill>
                <a:latin typeface="Lato"/>
                <a:ea typeface="Lato"/>
                <a:cs typeface="Lato"/>
                <a:sym typeface="Lato"/>
              </a:rPr>
              <a:t> Size of the circle indicates the stake or weight of a node </a:t>
            </a:r>
            <a:endParaRPr sz="1000">
              <a:solidFill>
                <a:srgbClr val="595959"/>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7"/>
          <p:cNvSpPr/>
          <p:nvPr/>
        </p:nvSpPr>
        <p:spPr>
          <a:xfrm>
            <a:off x="6024800" y="3234000"/>
            <a:ext cx="1542600" cy="14328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8" name="Google Shape;268;p27"/>
          <p:cNvSpPr/>
          <p:nvPr/>
        </p:nvSpPr>
        <p:spPr>
          <a:xfrm>
            <a:off x="5100200" y="502200"/>
            <a:ext cx="1879500" cy="22773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 name="Google Shape;269;p27"/>
          <p:cNvSpPr/>
          <p:nvPr/>
        </p:nvSpPr>
        <p:spPr>
          <a:xfrm>
            <a:off x="589525" y="624225"/>
            <a:ext cx="4371600" cy="4045500"/>
          </a:xfrm>
          <a:prstGeom prst="ellipse">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0" name="Google Shape;270;p27"/>
          <p:cNvSpPr/>
          <p:nvPr/>
        </p:nvSpPr>
        <p:spPr>
          <a:xfrm>
            <a:off x="3788700" y="22782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 name="Google Shape;271;p27"/>
          <p:cNvSpPr/>
          <p:nvPr/>
        </p:nvSpPr>
        <p:spPr>
          <a:xfrm>
            <a:off x="6277175" y="3710888"/>
            <a:ext cx="609000" cy="5871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2" name="Google Shape;272;p27"/>
          <p:cNvSpPr/>
          <p:nvPr/>
        </p:nvSpPr>
        <p:spPr>
          <a:xfrm>
            <a:off x="5695400" y="983650"/>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3" name="Google Shape;273;p27"/>
          <p:cNvSpPr/>
          <p:nvPr/>
        </p:nvSpPr>
        <p:spPr>
          <a:xfrm>
            <a:off x="1405450" y="34296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4" name="Google Shape;274;p27"/>
          <p:cNvSpPr/>
          <p:nvPr/>
        </p:nvSpPr>
        <p:spPr>
          <a:xfrm>
            <a:off x="6019175" y="2108825"/>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5" name="Google Shape;275;p27"/>
          <p:cNvSpPr/>
          <p:nvPr/>
        </p:nvSpPr>
        <p:spPr>
          <a:xfrm>
            <a:off x="1688475" y="1277200"/>
            <a:ext cx="824700" cy="7947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76" name="Google Shape;276;p27"/>
          <p:cNvCxnSpPr>
            <a:stCxn id="275" idx="6"/>
            <a:endCxn id="270" idx="1"/>
          </p:cNvCxnSpPr>
          <p:nvPr/>
        </p:nvCxnSpPr>
        <p:spPr>
          <a:xfrm>
            <a:off x="2513175" y="1674550"/>
            <a:ext cx="1364700" cy="689700"/>
          </a:xfrm>
          <a:prstGeom prst="straightConnector1">
            <a:avLst/>
          </a:prstGeom>
          <a:noFill/>
          <a:ln cap="flat" cmpd="sng" w="9525">
            <a:solidFill>
              <a:schemeClr val="dk2"/>
            </a:solidFill>
            <a:prstDash val="solid"/>
            <a:round/>
            <a:headEnd len="med" w="med" type="none"/>
            <a:tailEnd len="med" w="med" type="none"/>
          </a:ln>
        </p:spPr>
      </p:cxnSp>
      <p:cxnSp>
        <p:nvCxnSpPr>
          <p:cNvPr id="277" name="Google Shape;277;p27"/>
          <p:cNvCxnSpPr>
            <a:stCxn id="273" idx="6"/>
            <a:endCxn id="270" idx="3"/>
          </p:cNvCxnSpPr>
          <p:nvPr/>
        </p:nvCxnSpPr>
        <p:spPr>
          <a:xfrm flipH="1" rot="10800000">
            <a:off x="2014450" y="2779350"/>
            <a:ext cx="1863300" cy="943800"/>
          </a:xfrm>
          <a:prstGeom prst="straightConnector1">
            <a:avLst/>
          </a:prstGeom>
          <a:noFill/>
          <a:ln cap="flat" cmpd="sng" w="9525">
            <a:solidFill>
              <a:schemeClr val="dk2"/>
            </a:solidFill>
            <a:prstDash val="solid"/>
            <a:round/>
            <a:headEnd len="med" w="med" type="none"/>
            <a:tailEnd len="med" w="med" type="none"/>
          </a:ln>
        </p:spPr>
      </p:cxnSp>
      <p:cxnSp>
        <p:nvCxnSpPr>
          <p:cNvPr id="278" name="Google Shape;278;p27"/>
          <p:cNvCxnSpPr>
            <a:stCxn id="275" idx="3"/>
            <a:endCxn id="273" idx="1"/>
          </p:cNvCxnSpPr>
          <p:nvPr/>
        </p:nvCxnSpPr>
        <p:spPr>
          <a:xfrm flipH="1">
            <a:off x="1494550" y="1955519"/>
            <a:ext cx="314700" cy="1560000"/>
          </a:xfrm>
          <a:prstGeom prst="straightConnector1">
            <a:avLst/>
          </a:prstGeom>
          <a:noFill/>
          <a:ln cap="flat" cmpd="sng" w="9525">
            <a:solidFill>
              <a:schemeClr val="dk2"/>
            </a:solidFill>
            <a:prstDash val="solid"/>
            <a:round/>
            <a:headEnd len="med" w="med" type="none"/>
            <a:tailEnd len="med" w="med" type="none"/>
          </a:ln>
        </p:spPr>
      </p:cxnSp>
      <p:cxnSp>
        <p:nvCxnSpPr>
          <p:cNvPr id="279" name="Google Shape;279;p27"/>
          <p:cNvCxnSpPr>
            <a:stCxn id="272" idx="3"/>
            <a:endCxn id="274" idx="2"/>
          </p:cNvCxnSpPr>
          <p:nvPr/>
        </p:nvCxnSpPr>
        <p:spPr>
          <a:xfrm>
            <a:off x="5784586" y="1484771"/>
            <a:ext cx="234600" cy="917700"/>
          </a:xfrm>
          <a:prstGeom prst="straightConnector1">
            <a:avLst/>
          </a:prstGeom>
          <a:noFill/>
          <a:ln cap="flat" cmpd="sng" w="9525">
            <a:solidFill>
              <a:schemeClr val="dk2"/>
            </a:solidFill>
            <a:prstDash val="solid"/>
            <a:round/>
            <a:headEnd len="med" w="med" type="none"/>
            <a:tailEnd len="med" w="med" type="none"/>
          </a:ln>
        </p:spPr>
      </p:cxnSp>
      <p:cxnSp>
        <p:nvCxnSpPr>
          <p:cNvPr id="280" name="Google Shape;280;p27"/>
          <p:cNvCxnSpPr>
            <a:stCxn id="272" idx="0"/>
          </p:cNvCxnSpPr>
          <p:nvPr/>
        </p:nvCxnSpPr>
        <p:spPr>
          <a:xfrm flipH="1" rot="10800000">
            <a:off x="5999900" y="624550"/>
            <a:ext cx="197400" cy="3591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27"/>
          <p:cNvCxnSpPr>
            <a:endCxn id="274" idx="7"/>
          </p:cNvCxnSpPr>
          <p:nvPr/>
        </p:nvCxnSpPr>
        <p:spPr>
          <a:xfrm flipH="1">
            <a:off x="6538989" y="1831504"/>
            <a:ext cx="514200" cy="3633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27"/>
          <p:cNvCxnSpPr>
            <a:endCxn id="271" idx="5"/>
          </p:cNvCxnSpPr>
          <p:nvPr/>
        </p:nvCxnSpPr>
        <p:spPr>
          <a:xfrm rot="10800000">
            <a:off x="6796989" y="4212009"/>
            <a:ext cx="599700" cy="3903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27"/>
          <p:cNvCxnSpPr>
            <a:stCxn id="270" idx="6"/>
            <a:endCxn id="271" idx="2"/>
          </p:cNvCxnSpPr>
          <p:nvPr/>
        </p:nvCxnSpPr>
        <p:spPr>
          <a:xfrm>
            <a:off x="4397700" y="2571750"/>
            <a:ext cx="1879500" cy="14328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27"/>
          <p:cNvCxnSpPr>
            <a:stCxn id="270" idx="7"/>
            <a:endCxn id="272" idx="2"/>
          </p:cNvCxnSpPr>
          <p:nvPr/>
        </p:nvCxnSpPr>
        <p:spPr>
          <a:xfrm flipH="1" rot="10800000">
            <a:off x="4308514" y="1277279"/>
            <a:ext cx="1386900" cy="1086900"/>
          </a:xfrm>
          <a:prstGeom prst="straightConnector1">
            <a:avLst/>
          </a:prstGeom>
          <a:noFill/>
          <a:ln cap="flat" cmpd="sng" w="9525">
            <a:solidFill>
              <a:schemeClr val="dk2"/>
            </a:solidFill>
            <a:prstDash val="solid"/>
            <a:round/>
            <a:headEnd len="med" w="med" type="none"/>
            <a:tailEnd len="med" w="med" type="none"/>
          </a:ln>
        </p:spPr>
      </p:cxnSp>
      <p:sp>
        <p:nvSpPr>
          <p:cNvPr id="285" name="Google Shape;285;p27"/>
          <p:cNvSpPr/>
          <p:nvPr/>
        </p:nvSpPr>
        <p:spPr>
          <a:xfrm>
            <a:off x="3894138" y="23922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286" name="Google Shape;286;p27"/>
          <p:cNvSpPr/>
          <p:nvPr/>
        </p:nvSpPr>
        <p:spPr>
          <a:xfrm rot="-9242971">
            <a:off x="2183412" y="940278"/>
            <a:ext cx="2038875" cy="705742"/>
          </a:xfrm>
          <a:prstGeom prst="curvedUp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7" name="Google Shape;287;p27"/>
          <p:cNvSpPr/>
          <p:nvPr/>
        </p:nvSpPr>
        <p:spPr>
          <a:xfrm rot="9345684">
            <a:off x="1933118" y="3460898"/>
            <a:ext cx="2597814" cy="683722"/>
          </a:xfrm>
          <a:prstGeom prst="curvedDown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8" name="Google Shape;288;p27"/>
          <p:cNvSpPr/>
          <p:nvPr/>
        </p:nvSpPr>
        <p:spPr>
          <a:xfrm>
            <a:off x="5722563" y="983650"/>
            <a:ext cx="554700" cy="5547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9" name="Google Shape;289;p27"/>
          <p:cNvSpPr/>
          <p:nvPr/>
        </p:nvSpPr>
        <p:spPr>
          <a:xfrm rot="-1401987">
            <a:off x="3788290" y="885545"/>
            <a:ext cx="2043820" cy="580758"/>
          </a:xfrm>
          <a:prstGeom prst="curvedDown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0" name="Google Shape;290;p27"/>
          <p:cNvSpPr/>
          <p:nvPr/>
        </p:nvSpPr>
        <p:spPr>
          <a:xfrm rot="2039795">
            <a:off x="3990771" y="3593650"/>
            <a:ext cx="2504008" cy="599251"/>
          </a:xfrm>
          <a:prstGeom prst="curvedUp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1" name="Google Shape;291;p27"/>
          <p:cNvSpPr/>
          <p:nvPr/>
        </p:nvSpPr>
        <p:spPr>
          <a:xfrm>
            <a:off x="6304313" y="3727100"/>
            <a:ext cx="554700" cy="5547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2" name="Google Shape;292;p27"/>
          <p:cNvSpPr txBox="1"/>
          <p:nvPr/>
        </p:nvSpPr>
        <p:spPr>
          <a:xfrm>
            <a:off x="3005450" y="990575"/>
            <a:ext cx="10851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Request Stake</a:t>
            </a:r>
            <a:endParaRPr b="1" sz="1600">
              <a:latin typeface="Roboto Mono"/>
              <a:ea typeface="Roboto Mono"/>
              <a:cs typeface="Roboto Mono"/>
              <a:sym typeface="Roboto Mono"/>
            </a:endParaRPr>
          </a:p>
        </p:txBody>
      </p:sp>
      <p:sp>
        <p:nvSpPr>
          <p:cNvPr id="293" name="Google Shape;293;p27"/>
          <p:cNvSpPr txBox="1"/>
          <p:nvPr/>
        </p:nvSpPr>
        <p:spPr>
          <a:xfrm>
            <a:off x="4502725" y="197350"/>
            <a:ext cx="10851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Request Stake</a:t>
            </a:r>
            <a:endParaRPr b="1" sz="1600">
              <a:latin typeface="Roboto Mono"/>
              <a:ea typeface="Roboto Mono"/>
              <a:cs typeface="Roboto Mono"/>
              <a:sym typeface="Roboto Mono"/>
            </a:endParaRPr>
          </a:p>
        </p:txBody>
      </p:sp>
      <p:sp>
        <p:nvSpPr>
          <p:cNvPr id="294" name="Google Shape;294;p27"/>
          <p:cNvSpPr txBox="1"/>
          <p:nvPr/>
        </p:nvSpPr>
        <p:spPr>
          <a:xfrm>
            <a:off x="2663525" y="3589150"/>
            <a:ext cx="10851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Request Stake</a:t>
            </a:r>
            <a:endParaRPr b="1" sz="1600">
              <a:latin typeface="Roboto Mono"/>
              <a:ea typeface="Roboto Mono"/>
              <a:cs typeface="Roboto Mono"/>
              <a:sym typeface="Roboto Mono"/>
            </a:endParaRPr>
          </a:p>
        </p:txBody>
      </p:sp>
      <p:sp>
        <p:nvSpPr>
          <p:cNvPr id="295" name="Google Shape;295;p27"/>
          <p:cNvSpPr txBox="1"/>
          <p:nvPr/>
        </p:nvSpPr>
        <p:spPr>
          <a:xfrm>
            <a:off x="4732800" y="4062225"/>
            <a:ext cx="10851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Request Stake</a:t>
            </a:r>
            <a:endParaRPr b="1" sz="1600">
              <a:latin typeface="Roboto Mono"/>
              <a:ea typeface="Roboto Mono"/>
              <a:cs typeface="Roboto Mono"/>
              <a:sym typeface="Roboto Mono"/>
            </a:endParaRPr>
          </a:p>
        </p:txBody>
      </p:sp>
      <p:sp>
        <p:nvSpPr>
          <p:cNvPr id="296" name="Google Shape;296;p27"/>
          <p:cNvSpPr/>
          <p:nvPr/>
        </p:nvSpPr>
        <p:spPr>
          <a:xfrm>
            <a:off x="7142975" y="358950"/>
            <a:ext cx="152400" cy="153000"/>
          </a:xfrm>
          <a:prstGeom prst="rect">
            <a:avLst/>
          </a:prstGeom>
          <a:solidFill>
            <a:srgbClr val="1A9988"/>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7" name="Google Shape;297;p27"/>
          <p:cNvSpPr/>
          <p:nvPr/>
        </p:nvSpPr>
        <p:spPr>
          <a:xfrm>
            <a:off x="7142975" y="595050"/>
            <a:ext cx="152400" cy="153000"/>
          </a:xfrm>
          <a:prstGeom prst="rect">
            <a:avLst/>
          </a:prstGeom>
          <a:solidFill>
            <a:srgbClr val="D0E0E3"/>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8" name="Google Shape;298;p27"/>
          <p:cNvSpPr/>
          <p:nvPr/>
        </p:nvSpPr>
        <p:spPr>
          <a:xfrm>
            <a:off x="7142975" y="831150"/>
            <a:ext cx="152400" cy="153000"/>
          </a:xfrm>
          <a:prstGeom prst="rect">
            <a:avLst/>
          </a:prstGeom>
          <a:solidFill>
            <a:srgbClr val="FFE599"/>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9" name="Google Shape;299;p27"/>
          <p:cNvSpPr txBox="1"/>
          <p:nvPr/>
        </p:nvSpPr>
        <p:spPr>
          <a:xfrm>
            <a:off x="7465400" y="358950"/>
            <a:ext cx="1428300" cy="15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rgbClr val="595959"/>
                </a:solidFill>
                <a:latin typeface="Lato"/>
                <a:ea typeface="Lato"/>
                <a:cs typeface="Lato"/>
                <a:sym typeface="Lato"/>
              </a:rPr>
              <a:t>Traffic System  Nodes</a:t>
            </a:r>
            <a:endParaRPr sz="1000">
              <a:solidFill>
                <a:srgbClr val="595959"/>
              </a:solidFill>
              <a:latin typeface="Lato"/>
              <a:ea typeface="Lato"/>
              <a:cs typeface="Lato"/>
              <a:sym typeface="Lato"/>
            </a:endParaRPr>
          </a:p>
        </p:txBody>
      </p:sp>
      <p:sp>
        <p:nvSpPr>
          <p:cNvPr id="300" name="Google Shape;300;p27"/>
          <p:cNvSpPr txBox="1"/>
          <p:nvPr/>
        </p:nvSpPr>
        <p:spPr>
          <a:xfrm>
            <a:off x="7418100" y="502200"/>
            <a:ext cx="1725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rgbClr val="595959"/>
                </a:solidFill>
                <a:latin typeface="Lato"/>
                <a:ea typeface="Lato"/>
                <a:cs typeface="Lato"/>
                <a:sym typeface="Lato"/>
              </a:rPr>
              <a:t>Insurance  System  Nodes</a:t>
            </a:r>
            <a:endParaRPr sz="900">
              <a:solidFill>
                <a:srgbClr val="595959"/>
              </a:solidFill>
              <a:latin typeface="Lato"/>
              <a:ea typeface="Lato"/>
              <a:cs typeface="Lato"/>
              <a:sym typeface="Lato"/>
            </a:endParaRPr>
          </a:p>
        </p:txBody>
      </p:sp>
      <p:sp>
        <p:nvSpPr>
          <p:cNvPr id="301" name="Google Shape;301;p27"/>
          <p:cNvSpPr txBox="1"/>
          <p:nvPr/>
        </p:nvSpPr>
        <p:spPr>
          <a:xfrm>
            <a:off x="7418100" y="738300"/>
            <a:ext cx="1725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595959"/>
                </a:solidFill>
                <a:latin typeface="Lato"/>
                <a:ea typeface="Lato"/>
                <a:cs typeface="Lato"/>
                <a:sym typeface="Lato"/>
              </a:rPr>
              <a:t>   Hospital System  Nodes</a:t>
            </a:r>
            <a:endParaRPr sz="1000">
              <a:solidFill>
                <a:srgbClr val="595959"/>
              </a:solidFill>
              <a:latin typeface="Lato"/>
              <a:ea typeface="Lato"/>
              <a:cs typeface="Lato"/>
              <a:sym typeface="Lato"/>
            </a:endParaRPr>
          </a:p>
        </p:txBody>
      </p:sp>
      <p:sp>
        <p:nvSpPr>
          <p:cNvPr id="302" name="Google Shape;302;p27"/>
          <p:cNvSpPr/>
          <p:nvPr/>
        </p:nvSpPr>
        <p:spPr>
          <a:xfrm>
            <a:off x="7055925" y="127650"/>
            <a:ext cx="2106600" cy="1560000"/>
          </a:xfrm>
          <a:prstGeom prst="rect">
            <a:avLst/>
          </a:prstGeom>
          <a:noFill/>
          <a:ln cap="flat" cmpd="sng" w="19050">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                  </a:t>
            </a:r>
            <a:endParaRPr>
              <a:latin typeface="Lato"/>
              <a:ea typeface="Lato"/>
              <a:cs typeface="Lato"/>
              <a:sym typeface="Lato"/>
            </a:endParaRPr>
          </a:p>
        </p:txBody>
      </p:sp>
      <p:sp>
        <p:nvSpPr>
          <p:cNvPr id="303" name="Google Shape;303;p27"/>
          <p:cNvSpPr/>
          <p:nvPr/>
        </p:nvSpPr>
        <p:spPr>
          <a:xfrm>
            <a:off x="7142975" y="1127675"/>
            <a:ext cx="205800" cy="153000"/>
          </a:xfrm>
          <a:prstGeom prst="ellipse">
            <a:avLst/>
          </a:prstGeom>
          <a:solidFill>
            <a:srgbClr val="1A1A1A"/>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latin typeface="Lato"/>
              <a:ea typeface="Lato"/>
              <a:cs typeface="Lato"/>
              <a:sym typeface="Lato"/>
            </a:endParaRPr>
          </a:p>
        </p:txBody>
      </p:sp>
      <p:sp>
        <p:nvSpPr>
          <p:cNvPr id="304" name="Google Shape;304;p27"/>
          <p:cNvSpPr txBox="1"/>
          <p:nvPr/>
        </p:nvSpPr>
        <p:spPr>
          <a:xfrm>
            <a:off x="7446075" y="1196200"/>
            <a:ext cx="1326300" cy="19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solidFill>
                  <a:srgbClr val="595959"/>
                </a:solidFill>
                <a:latin typeface="Lato"/>
                <a:ea typeface="Lato"/>
                <a:cs typeface="Lato"/>
                <a:sym typeface="Lato"/>
              </a:rPr>
              <a:t> Size of the circle indicates the stake or weight of a node </a:t>
            </a:r>
            <a:endParaRPr sz="1000">
              <a:solidFill>
                <a:srgbClr val="595959"/>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8"/>
          <p:cNvSpPr/>
          <p:nvPr/>
        </p:nvSpPr>
        <p:spPr>
          <a:xfrm>
            <a:off x="5993875" y="3234000"/>
            <a:ext cx="1542600" cy="14328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0" name="Google Shape;310;p28"/>
          <p:cNvSpPr/>
          <p:nvPr/>
        </p:nvSpPr>
        <p:spPr>
          <a:xfrm>
            <a:off x="5504525" y="287075"/>
            <a:ext cx="2546100" cy="24924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1" name="Google Shape;311;p28"/>
          <p:cNvSpPr/>
          <p:nvPr/>
        </p:nvSpPr>
        <p:spPr>
          <a:xfrm>
            <a:off x="589525" y="624225"/>
            <a:ext cx="4371600" cy="4045500"/>
          </a:xfrm>
          <a:prstGeom prst="ellipse">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2" name="Google Shape;312;p28"/>
          <p:cNvSpPr/>
          <p:nvPr/>
        </p:nvSpPr>
        <p:spPr>
          <a:xfrm>
            <a:off x="3788700" y="22782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3" name="Google Shape;313;p28"/>
          <p:cNvSpPr/>
          <p:nvPr/>
        </p:nvSpPr>
        <p:spPr>
          <a:xfrm>
            <a:off x="6277175" y="3710888"/>
            <a:ext cx="609000" cy="5871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4" name="Google Shape;314;p28"/>
          <p:cNvSpPr/>
          <p:nvPr/>
        </p:nvSpPr>
        <p:spPr>
          <a:xfrm>
            <a:off x="5695400" y="983650"/>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5" name="Google Shape;315;p28"/>
          <p:cNvSpPr/>
          <p:nvPr/>
        </p:nvSpPr>
        <p:spPr>
          <a:xfrm>
            <a:off x="1405450" y="34296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6" name="Google Shape;316;p28"/>
          <p:cNvSpPr/>
          <p:nvPr/>
        </p:nvSpPr>
        <p:spPr>
          <a:xfrm>
            <a:off x="7016700" y="1778325"/>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7" name="Google Shape;317;p28"/>
          <p:cNvSpPr/>
          <p:nvPr/>
        </p:nvSpPr>
        <p:spPr>
          <a:xfrm>
            <a:off x="1688475" y="1277200"/>
            <a:ext cx="779100" cy="7935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18" name="Google Shape;318;p28"/>
          <p:cNvCxnSpPr>
            <a:stCxn id="317" idx="6"/>
            <a:endCxn id="312" idx="1"/>
          </p:cNvCxnSpPr>
          <p:nvPr/>
        </p:nvCxnSpPr>
        <p:spPr>
          <a:xfrm>
            <a:off x="2467575" y="1673950"/>
            <a:ext cx="1410300" cy="690300"/>
          </a:xfrm>
          <a:prstGeom prst="straightConnector1">
            <a:avLst/>
          </a:prstGeom>
          <a:noFill/>
          <a:ln cap="flat" cmpd="sng" w="9525">
            <a:solidFill>
              <a:schemeClr val="dk2"/>
            </a:solidFill>
            <a:prstDash val="solid"/>
            <a:round/>
            <a:headEnd len="med" w="med" type="none"/>
            <a:tailEnd len="med" w="med" type="none"/>
          </a:ln>
        </p:spPr>
      </p:cxnSp>
      <p:cxnSp>
        <p:nvCxnSpPr>
          <p:cNvPr id="319" name="Google Shape;319;p28"/>
          <p:cNvCxnSpPr>
            <a:stCxn id="315" idx="6"/>
            <a:endCxn id="312" idx="3"/>
          </p:cNvCxnSpPr>
          <p:nvPr/>
        </p:nvCxnSpPr>
        <p:spPr>
          <a:xfrm flipH="1" rot="10800000">
            <a:off x="2014450" y="2779350"/>
            <a:ext cx="1863300" cy="943800"/>
          </a:xfrm>
          <a:prstGeom prst="straightConnector1">
            <a:avLst/>
          </a:prstGeom>
          <a:noFill/>
          <a:ln cap="flat" cmpd="sng" w="9525">
            <a:solidFill>
              <a:schemeClr val="dk2"/>
            </a:solidFill>
            <a:prstDash val="solid"/>
            <a:round/>
            <a:headEnd len="med" w="med" type="none"/>
            <a:tailEnd len="med" w="med" type="none"/>
          </a:ln>
        </p:spPr>
      </p:cxnSp>
      <p:cxnSp>
        <p:nvCxnSpPr>
          <p:cNvPr id="320" name="Google Shape;320;p28"/>
          <p:cNvCxnSpPr>
            <a:stCxn id="317" idx="3"/>
            <a:endCxn id="315" idx="1"/>
          </p:cNvCxnSpPr>
          <p:nvPr/>
        </p:nvCxnSpPr>
        <p:spPr>
          <a:xfrm flipH="1">
            <a:off x="1494772" y="1954495"/>
            <a:ext cx="307800" cy="1561200"/>
          </a:xfrm>
          <a:prstGeom prst="straightConnector1">
            <a:avLst/>
          </a:prstGeom>
          <a:noFill/>
          <a:ln cap="flat" cmpd="sng" w="9525">
            <a:solidFill>
              <a:schemeClr val="dk2"/>
            </a:solidFill>
            <a:prstDash val="solid"/>
            <a:round/>
            <a:headEnd len="med" w="med" type="none"/>
            <a:tailEnd len="med" w="med" type="none"/>
          </a:ln>
        </p:spPr>
      </p:cxnSp>
      <p:cxnSp>
        <p:nvCxnSpPr>
          <p:cNvPr id="321" name="Google Shape;321;p28"/>
          <p:cNvCxnSpPr>
            <a:stCxn id="314" idx="6"/>
            <a:endCxn id="316" idx="2"/>
          </p:cNvCxnSpPr>
          <p:nvPr/>
        </p:nvCxnSpPr>
        <p:spPr>
          <a:xfrm>
            <a:off x="6304400" y="1277200"/>
            <a:ext cx="712200" cy="794700"/>
          </a:xfrm>
          <a:prstGeom prst="straightConnector1">
            <a:avLst/>
          </a:prstGeom>
          <a:noFill/>
          <a:ln cap="flat" cmpd="sng" w="9525">
            <a:solidFill>
              <a:schemeClr val="dk2"/>
            </a:solidFill>
            <a:prstDash val="solid"/>
            <a:round/>
            <a:headEnd len="med" w="med" type="none"/>
            <a:tailEnd len="med" w="med" type="none"/>
          </a:ln>
        </p:spPr>
      </p:cxnSp>
      <p:cxnSp>
        <p:nvCxnSpPr>
          <p:cNvPr id="322" name="Google Shape;322;p28"/>
          <p:cNvCxnSpPr>
            <a:stCxn id="314" idx="0"/>
          </p:cNvCxnSpPr>
          <p:nvPr/>
        </p:nvCxnSpPr>
        <p:spPr>
          <a:xfrm flipH="1" rot="10800000">
            <a:off x="5999900" y="624550"/>
            <a:ext cx="197400" cy="359100"/>
          </a:xfrm>
          <a:prstGeom prst="straightConnector1">
            <a:avLst/>
          </a:prstGeom>
          <a:noFill/>
          <a:ln cap="flat" cmpd="sng" w="9525">
            <a:solidFill>
              <a:schemeClr val="dk2"/>
            </a:solidFill>
            <a:prstDash val="solid"/>
            <a:round/>
            <a:headEnd len="med" w="med" type="none"/>
            <a:tailEnd len="med" w="med" type="none"/>
          </a:ln>
        </p:spPr>
      </p:cxnSp>
      <p:cxnSp>
        <p:nvCxnSpPr>
          <p:cNvPr id="323" name="Google Shape;323;p28"/>
          <p:cNvCxnSpPr>
            <a:endCxn id="316" idx="7"/>
          </p:cNvCxnSpPr>
          <p:nvPr/>
        </p:nvCxnSpPr>
        <p:spPr>
          <a:xfrm flipH="1">
            <a:off x="7536514" y="1501004"/>
            <a:ext cx="514200" cy="3633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28"/>
          <p:cNvCxnSpPr>
            <a:endCxn id="313" idx="5"/>
          </p:cNvCxnSpPr>
          <p:nvPr/>
        </p:nvCxnSpPr>
        <p:spPr>
          <a:xfrm rot="10800000">
            <a:off x="6796989" y="4212009"/>
            <a:ext cx="599700" cy="3903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28"/>
          <p:cNvCxnSpPr>
            <a:stCxn id="312" idx="6"/>
            <a:endCxn id="313" idx="2"/>
          </p:cNvCxnSpPr>
          <p:nvPr/>
        </p:nvCxnSpPr>
        <p:spPr>
          <a:xfrm>
            <a:off x="4397700" y="2571750"/>
            <a:ext cx="1879500" cy="14328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28"/>
          <p:cNvCxnSpPr>
            <a:stCxn id="312" idx="7"/>
            <a:endCxn id="314" idx="2"/>
          </p:cNvCxnSpPr>
          <p:nvPr/>
        </p:nvCxnSpPr>
        <p:spPr>
          <a:xfrm flipH="1" rot="10800000">
            <a:off x="4308514" y="1277279"/>
            <a:ext cx="1386900" cy="1086900"/>
          </a:xfrm>
          <a:prstGeom prst="straightConnector1">
            <a:avLst/>
          </a:prstGeom>
          <a:noFill/>
          <a:ln cap="flat" cmpd="sng" w="9525">
            <a:solidFill>
              <a:schemeClr val="dk2"/>
            </a:solidFill>
            <a:prstDash val="solid"/>
            <a:round/>
            <a:headEnd len="med" w="med" type="none"/>
            <a:tailEnd len="med" w="med" type="none"/>
          </a:ln>
        </p:spPr>
      </p:cxnSp>
      <p:sp>
        <p:nvSpPr>
          <p:cNvPr id="327" name="Google Shape;327;p28"/>
          <p:cNvSpPr/>
          <p:nvPr/>
        </p:nvSpPr>
        <p:spPr>
          <a:xfrm>
            <a:off x="3894138" y="23922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328" name="Google Shape;328;p28"/>
          <p:cNvSpPr/>
          <p:nvPr/>
        </p:nvSpPr>
        <p:spPr>
          <a:xfrm rot="-9242801">
            <a:off x="2173459" y="983547"/>
            <a:ext cx="2236777" cy="705742"/>
          </a:xfrm>
          <a:prstGeom prst="curvedUp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9" name="Google Shape;329;p28"/>
          <p:cNvSpPr/>
          <p:nvPr/>
        </p:nvSpPr>
        <p:spPr>
          <a:xfrm rot="9345684">
            <a:off x="1933118" y="3460898"/>
            <a:ext cx="2597814" cy="683722"/>
          </a:xfrm>
          <a:prstGeom prst="curvedDown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0" name="Google Shape;330;p28"/>
          <p:cNvSpPr/>
          <p:nvPr/>
        </p:nvSpPr>
        <p:spPr>
          <a:xfrm>
            <a:off x="5722563" y="983650"/>
            <a:ext cx="554700" cy="5547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1" name="Google Shape;331;p28"/>
          <p:cNvSpPr/>
          <p:nvPr/>
        </p:nvSpPr>
        <p:spPr>
          <a:xfrm>
            <a:off x="1878963" y="15031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332" name="Google Shape;332;p28"/>
          <p:cNvSpPr/>
          <p:nvPr/>
        </p:nvSpPr>
        <p:spPr>
          <a:xfrm>
            <a:off x="1510888" y="35436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333" name="Google Shape;333;p28"/>
          <p:cNvSpPr/>
          <p:nvPr/>
        </p:nvSpPr>
        <p:spPr>
          <a:xfrm>
            <a:off x="1391538" y="4016700"/>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334" name="Google Shape;334;p28"/>
          <p:cNvSpPr/>
          <p:nvPr/>
        </p:nvSpPr>
        <p:spPr>
          <a:xfrm>
            <a:off x="1793925" y="579325"/>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335" name="Google Shape;335;p28"/>
          <p:cNvSpPr/>
          <p:nvPr/>
        </p:nvSpPr>
        <p:spPr>
          <a:xfrm rot="1807055">
            <a:off x="1656991" y="2491844"/>
            <a:ext cx="2236654" cy="705601"/>
          </a:xfrm>
          <a:prstGeom prst="curvedUpArrow">
            <a:avLst>
              <a:gd fmla="val 25000" name="adj1"/>
              <a:gd fmla="val 50000" name="adj2"/>
              <a:gd fmla="val 25000" name="adj3"/>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6" name="Google Shape;336;p28"/>
          <p:cNvSpPr txBox="1"/>
          <p:nvPr/>
        </p:nvSpPr>
        <p:spPr>
          <a:xfrm>
            <a:off x="2426300" y="2070688"/>
            <a:ext cx="1258500" cy="2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Stake value Appended</a:t>
            </a:r>
            <a:endParaRPr sz="1300">
              <a:solidFill>
                <a:schemeClr val="accent1"/>
              </a:solidFill>
              <a:latin typeface="Lato"/>
              <a:ea typeface="Lato"/>
              <a:cs typeface="Lato"/>
              <a:sym typeface="Lato"/>
            </a:endParaRPr>
          </a:p>
        </p:txBody>
      </p:sp>
      <p:sp>
        <p:nvSpPr>
          <p:cNvPr id="337" name="Google Shape;337;p28"/>
          <p:cNvSpPr/>
          <p:nvPr/>
        </p:nvSpPr>
        <p:spPr>
          <a:xfrm>
            <a:off x="6304313" y="3727100"/>
            <a:ext cx="554700" cy="5547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8" name="Google Shape;338;p28"/>
          <p:cNvSpPr txBox="1"/>
          <p:nvPr/>
        </p:nvSpPr>
        <p:spPr>
          <a:xfrm>
            <a:off x="3038800" y="964000"/>
            <a:ext cx="10851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Request Stake</a:t>
            </a:r>
            <a:endParaRPr b="1" sz="1600">
              <a:latin typeface="Roboto Mono"/>
              <a:ea typeface="Roboto Mono"/>
              <a:cs typeface="Roboto Mono"/>
              <a:sym typeface="Roboto Mono"/>
            </a:endParaRPr>
          </a:p>
        </p:txBody>
      </p:sp>
      <p:sp>
        <p:nvSpPr>
          <p:cNvPr id="339" name="Google Shape;339;p28"/>
          <p:cNvSpPr txBox="1"/>
          <p:nvPr/>
        </p:nvSpPr>
        <p:spPr>
          <a:xfrm>
            <a:off x="1909000" y="2572763"/>
            <a:ext cx="10851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Reply Stake</a:t>
            </a:r>
            <a:endParaRPr b="1" sz="1600">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9"/>
          <p:cNvSpPr/>
          <p:nvPr/>
        </p:nvSpPr>
        <p:spPr>
          <a:xfrm>
            <a:off x="5993875" y="3234000"/>
            <a:ext cx="1542600" cy="14328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5" name="Google Shape;345;p29"/>
          <p:cNvSpPr/>
          <p:nvPr/>
        </p:nvSpPr>
        <p:spPr>
          <a:xfrm>
            <a:off x="5492125" y="324550"/>
            <a:ext cx="2546100" cy="2492400"/>
          </a:xfrm>
          <a:prstGeom prst="ellipse">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6" name="Google Shape;346;p29"/>
          <p:cNvSpPr/>
          <p:nvPr/>
        </p:nvSpPr>
        <p:spPr>
          <a:xfrm>
            <a:off x="589525" y="624225"/>
            <a:ext cx="4371600" cy="4045500"/>
          </a:xfrm>
          <a:prstGeom prst="ellipse">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7" name="Google Shape;347;p29"/>
          <p:cNvSpPr/>
          <p:nvPr/>
        </p:nvSpPr>
        <p:spPr>
          <a:xfrm>
            <a:off x="3788700" y="22782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8" name="Google Shape;348;p29"/>
          <p:cNvSpPr/>
          <p:nvPr/>
        </p:nvSpPr>
        <p:spPr>
          <a:xfrm>
            <a:off x="6277175" y="3710888"/>
            <a:ext cx="609000" cy="5871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9" name="Google Shape;349;p29"/>
          <p:cNvSpPr/>
          <p:nvPr/>
        </p:nvSpPr>
        <p:spPr>
          <a:xfrm>
            <a:off x="5737713" y="942950"/>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0" name="Google Shape;350;p29"/>
          <p:cNvSpPr/>
          <p:nvPr/>
        </p:nvSpPr>
        <p:spPr>
          <a:xfrm>
            <a:off x="1405450" y="34296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1" name="Google Shape;351;p29"/>
          <p:cNvSpPr/>
          <p:nvPr/>
        </p:nvSpPr>
        <p:spPr>
          <a:xfrm>
            <a:off x="7016700" y="1778325"/>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2" name="Google Shape;352;p29"/>
          <p:cNvSpPr/>
          <p:nvPr/>
        </p:nvSpPr>
        <p:spPr>
          <a:xfrm>
            <a:off x="1658638" y="1309675"/>
            <a:ext cx="759900" cy="8355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3" name="Google Shape;353;p29"/>
          <p:cNvCxnSpPr>
            <a:stCxn id="352" idx="6"/>
            <a:endCxn id="347" idx="1"/>
          </p:cNvCxnSpPr>
          <p:nvPr/>
        </p:nvCxnSpPr>
        <p:spPr>
          <a:xfrm>
            <a:off x="2418538" y="1727425"/>
            <a:ext cx="1459200" cy="636900"/>
          </a:xfrm>
          <a:prstGeom prst="straightConnector1">
            <a:avLst/>
          </a:prstGeom>
          <a:noFill/>
          <a:ln cap="flat" cmpd="sng" w="9525">
            <a:solidFill>
              <a:schemeClr val="dk2"/>
            </a:solidFill>
            <a:prstDash val="solid"/>
            <a:round/>
            <a:headEnd len="med" w="med" type="none"/>
            <a:tailEnd len="med" w="med" type="none"/>
          </a:ln>
        </p:spPr>
      </p:cxnSp>
      <p:cxnSp>
        <p:nvCxnSpPr>
          <p:cNvPr id="354" name="Google Shape;354;p29"/>
          <p:cNvCxnSpPr>
            <a:stCxn id="350" idx="6"/>
            <a:endCxn id="347" idx="3"/>
          </p:cNvCxnSpPr>
          <p:nvPr/>
        </p:nvCxnSpPr>
        <p:spPr>
          <a:xfrm flipH="1" rot="10800000">
            <a:off x="2014450" y="2779350"/>
            <a:ext cx="1863300" cy="943800"/>
          </a:xfrm>
          <a:prstGeom prst="straightConnector1">
            <a:avLst/>
          </a:prstGeom>
          <a:noFill/>
          <a:ln cap="flat" cmpd="sng" w="9525">
            <a:solidFill>
              <a:schemeClr val="dk2"/>
            </a:solidFill>
            <a:prstDash val="solid"/>
            <a:round/>
            <a:headEnd len="med" w="med" type="none"/>
            <a:tailEnd len="med" w="med" type="none"/>
          </a:ln>
        </p:spPr>
      </p:cxnSp>
      <p:cxnSp>
        <p:nvCxnSpPr>
          <p:cNvPr id="355" name="Google Shape;355;p29"/>
          <p:cNvCxnSpPr>
            <a:stCxn id="352" idx="3"/>
            <a:endCxn id="350" idx="1"/>
          </p:cNvCxnSpPr>
          <p:nvPr/>
        </p:nvCxnSpPr>
        <p:spPr>
          <a:xfrm flipH="1">
            <a:off x="1494522" y="2022819"/>
            <a:ext cx="275400" cy="14928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29"/>
          <p:cNvCxnSpPr>
            <a:stCxn id="349" idx="6"/>
            <a:endCxn id="351" idx="2"/>
          </p:cNvCxnSpPr>
          <p:nvPr/>
        </p:nvCxnSpPr>
        <p:spPr>
          <a:xfrm>
            <a:off x="6346713" y="1236500"/>
            <a:ext cx="669900" cy="8355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29"/>
          <p:cNvCxnSpPr>
            <a:stCxn id="349" idx="0"/>
          </p:cNvCxnSpPr>
          <p:nvPr/>
        </p:nvCxnSpPr>
        <p:spPr>
          <a:xfrm flipH="1" rot="10800000">
            <a:off x="6042213" y="583850"/>
            <a:ext cx="197400" cy="35910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29"/>
          <p:cNvCxnSpPr>
            <a:endCxn id="351" idx="7"/>
          </p:cNvCxnSpPr>
          <p:nvPr/>
        </p:nvCxnSpPr>
        <p:spPr>
          <a:xfrm flipH="1">
            <a:off x="7536514" y="1501004"/>
            <a:ext cx="514200" cy="3633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29"/>
          <p:cNvCxnSpPr>
            <a:endCxn id="348" idx="5"/>
          </p:cNvCxnSpPr>
          <p:nvPr/>
        </p:nvCxnSpPr>
        <p:spPr>
          <a:xfrm rot="10800000">
            <a:off x="6796989" y="4212009"/>
            <a:ext cx="599700" cy="390300"/>
          </a:xfrm>
          <a:prstGeom prst="straightConnector1">
            <a:avLst/>
          </a:prstGeom>
          <a:noFill/>
          <a:ln cap="flat" cmpd="sng" w="9525">
            <a:solidFill>
              <a:schemeClr val="dk2"/>
            </a:solidFill>
            <a:prstDash val="solid"/>
            <a:round/>
            <a:headEnd len="med" w="med" type="none"/>
            <a:tailEnd len="med" w="med" type="none"/>
          </a:ln>
        </p:spPr>
      </p:cxnSp>
      <p:cxnSp>
        <p:nvCxnSpPr>
          <p:cNvPr id="360" name="Google Shape;360;p29"/>
          <p:cNvCxnSpPr>
            <a:stCxn id="347" idx="6"/>
            <a:endCxn id="348" idx="2"/>
          </p:cNvCxnSpPr>
          <p:nvPr/>
        </p:nvCxnSpPr>
        <p:spPr>
          <a:xfrm>
            <a:off x="4397700" y="2571750"/>
            <a:ext cx="1879500" cy="1432800"/>
          </a:xfrm>
          <a:prstGeom prst="straightConnector1">
            <a:avLst/>
          </a:prstGeom>
          <a:noFill/>
          <a:ln cap="flat" cmpd="sng" w="9525">
            <a:solidFill>
              <a:schemeClr val="dk2"/>
            </a:solidFill>
            <a:prstDash val="solid"/>
            <a:round/>
            <a:headEnd len="med" w="med" type="none"/>
            <a:tailEnd len="med" w="med" type="none"/>
          </a:ln>
        </p:spPr>
      </p:cxnSp>
      <p:cxnSp>
        <p:nvCxnSpPr>
          <p:cNvPr id="361" name="Google Shape;361;p29"/>
          <p:cNvCxnSpPr>
            <a:stCxn id="347" idx="7"/>
            <a:endCxn id="349" idx="2"/>
          </p:cNvCxnSpPr>
          <p:nvPr/>
        </p:nvCxnSpPr>
        <p:spPr>
          <a:xfrm flipH="1" rot="10800000">
            <a:off x="4308514" y="1236479"/>
            <a:ext cx="1429200" cy="1127700"/>
          </a:xfrm>
          <a:prstGeom prst="straightConnector1">
            <a:avLst/>
          </a:prstGeom>
          <a:noFill/>
          <a:ln cap="flat" cmpd="sng" w="9525">
            <a:solidFill>
              <a:schemeClr val="dk2"/>
            </a:solidFill>
            <a:prstDash val="solid"/>
            <a:round/>
            <a:headEnd len="med" w="med" type="none"/>
            <a:tailEnd len="med" w="med" type="none"/>
          </a:ln>
        </p:spPr>
      </p:cxnSp>
      <p:sp>
        <p:nvSpPr>
          <p:cNvPr id="362" name="Google Shape;362;p29"/>
          <p:cNvSpPr/>
          <p:nvPr/>
        </p:nvSpPr>
        <p:spPr>
          <a:xfrm>
            <a:off x="3894138" y="23922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363" name="Google Shape;363;p29"/>
          <p:cNvSpPr/>
          <p:nvPr/>
        </p:nvSpPr>
        <p:spPr>
          <a:xfrm rot="-9242632">
            <a:off x="2183495" y="939178"/>
            <a:ext cx="1931535" cy="681994"/>
          </a:xfrm>
          <a:prstGeom prst="curvedUp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4" name="Google Shape;364;p29"/>
          <p:cNvSpPr/>
          <p:nvPr/>
        </p:nvSpPr>
        <p:spPr>
          <a:xfrm rot="9345869">
            <a:off x="1914871" y="3524409"/>
            <a:ext cx="2320407" cy="535745"/>
          </a:xfrm>
          <a:prstGeom prst="curvedDown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5" name="Google Shape;365;p29"/>
          <p:cNvSpPr/>
          <p:nvPr/>
        </p:nvSpPr>
        <p:spPr>
          <a:xfrm>
            <a:off x="1807263" y="1547875"/>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366" name="Google Shape;366;p29"/>
          <p:cNvSpPr/>
          <p:nvPr/>
        </p:nvSpPr>
        <p:spPr>
          <a:xfrm>
            <a:off x="1510888" y="35436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367" name="Google Shape;367;p29"/>
          <p:cNvSpPr/>
          <p:nvPr/>
        </p:nvSpPr>
        <p:spPr>
          <a:xfrm>
            <a:off x="5843163" y="105695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368" name="Google Shape;368;p29"/>
          <p:cNvSpPr/>
          <p:nvPr/>
        </p:nvSpPr>
        <p:spPr>
          <a:xfrm>
            <a:off x="1793925" y="579325"/>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369" name="Google Shape;369;p29"/>
          <p:cNvSpPr/>
          <p:nvPr/>
        </p:nvSpPr>
        <p:spPr>
          <a:xfrm>
            <a:off x="1304600" y="4016700"/>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370" name="Google Shape;370;p29"/>
          <p:cNvSpPr/>
          <p:nvPr/>
        </p:nvSpPr>
        <p:spPr>
          <a:xfrm>
            <a:off x="5797563" y="324550"/>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371" name="Google Shape;371;p29"/>
          <p:cNvSpPr/>
          <p:nvPr/>
        </p:nvSpPr>
        <p:spPr>
          <a:xfrm rot="-1401889">
            <a:off x="3805100" y="863929"/>
            <a:ext cx="2131703" cy="683689"/>
          </a:xfrm>
          <a:prstGeom prst="curvedDown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2" name="Google Shape;372;p29"/>
          <p:cNvSpPr/>
          <p:nvPr/>
        </p:nvSpPr>
        <p:spPr>
          <a:xfrm rot="2039795">
            <a:off x="3990771" y="3593650"/>
            <a:ext cx="2504008" cy="599251"/>
          </a:xfrm>
          <a:prstGeom prst="curvedUp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3" name="Google Shape;373;p29"/>
          <p:cNvSpPr/>
          <p:nvPr/>
        </p:nvSpPr>
        <p:spPr>
          <a:xfrm>
            <a:off x="6382613" y="38249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374" name="Google Shape;374;p29"/>
          <p:cNvSpPr/>
          <p:nvPr/>
        </p:nvSpPr>
        <p:spPr>
          <a:xfrm>
            <a:off x="6437013" y="4298000"/>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375" name="Google Shape;375;p29"/>
          <p:cNvSpPr/>
          <p:nvPr/>
        </p:nvSpPr>
        <p:spPr>
          <a:xfrm>
            <a:off x="7122138" y="1892325"/>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376" name="Google Shape;376;p29"/>
          <p:cNvSpPr/>
          <p:nvPr/>
        </p:nvSpPr>
        <p:spPr>
          <a:xfrm>
            <a:off x="7200513" y="1155650"/>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377" name="Google Shape;377;p29"/>
          <p:cNvSpPr txBox="1"/>
          <p:nvPr/>
        </p:nvSpPr>
        <p:spPr>
          <a:xfrm>
            <a:off x="2956038" y="324550"/>
            <a:ext cx="18633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On Ledger Transaction</a:t>
            </a:r>
            <a:endParaRPr b="1" sz="1600">
              <a:latin typeface="Roboto Mono"/>
              <a:ea typeface="Roboto Mono"/>
              <a:cs typeface="Roboto Mono"/>
              <a:sym typeface="Roboto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0"/>
          <p:cNvSpPr txBox="1"/>
          <p:nvPr>
            <p:ph type="ctrTitle"/>
          </p:nvPr>
        </p:nvSpPr>
        <p:spPr>
          <a:xfrm>
            <a:off x="1381900" y="2290250"/>
            <a:ext cx="6438900" cy="150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Case - II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1"/>
          <p:cNvSpPr/>
          <p:nvPr/>
        </p:nvSpPr>
        <p:spPr>
          <a:xfrm>
            <a:off x="5993875" y="3234000"/>
            <a:ext cx="1542600" cy="14328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8" name="Google Shape;388;p31"/>
          <p:cNvSpPr/>
          <p:nvPr/>
        </p:nvSpPr>
        <p:spPr>
          <a:xfrm>
            <a:off x="5504525" y="287075"/>
            <a:ext cx="2546100" cy="24924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9" name="Google Shape;389;p31"/>
          <p:cNvSpPr/>
          <p:nvPr/>
        </p:nvSpPr>
        <p:spPr>
          <a:xfrm>
            <a:off x="589525" y="624225"/>
            <a:ext cx="4371600" cy="4045500"/>
          </a:xfrm>
          <a:prstGeom prst="ellipse">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0" name="Google Shape;390;p31"/>
          <p:cNvSpPr/>
          <p:nvPr/>
        </p:nvSpPr>
        <p:spPr>
          <a:xfrm>
            <a:off x="3788700" y="22782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1" name="Google Shape;391;p31"/>
          <p:cNvSpPr/>
          <p:nvPr/>
        </p:nvSpPr>
        <p:spPr>
          <a:xfrm>
            <a:off x="6277175" y="3710888"/>
            <a:ext cx="609000" cy="5871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2" name="Google Shape;392;p31"/>
          <p:cNvSpPr/>
          <p:nvPr/>
        </p:nvSpPr>
        <p:spPr>
          <a:xfrm>
            <a:off x="5695400" y="983650"/>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3" name="Google Shape;393;p31"/>
          <p:cNvSpPr/>
          <p:nvPr/>
        </p:nvSpPr>
        <p:spPr>
          <a:xfrm>
            <a:off x="1405450" y="34296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4" name="Google Shape;394;p31"/>
          <p:cNvSpPr/>
          <p:nvPr/>
        </p:nvSpPr>
        <p:spPr>
          <a:xfrm>
            <a:off x="7016700" y="1778325"/>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5" name="Google Shape;395;p31"/>
          <p:cNvSpPr/>
          <p:nvPr/>
        </p:nvSpPr>
        <p:spPr>
          <a:xfrm>
            <a:off x="1688475" y="12772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96" name="Google Shape;396;p31"/>
          <p:cNvCxnSpPr>
            <a:stCxn id="395" idx="6"/>
            <a:endCxn id="390" idx="1"/>
          </p:cNvCxnSpPr>
          <p:nvPr/>
        </p:nvCxnSpPr>
        <p:spPr>
          <a:xfrm>
            <a:off x="2297475" y="1570750"/>
            <a:ext cx="1580400" cy="793500"/>
          </a:xfrm>
          <a:prstGeom prst="straightConnector1">
            <a:avLst/>
          </a:prstGeom>
          <a:noFill/>
          <a:ln cap="flat" cmpd="sng" w="9525">
            <a:solidFill>
              <a:schemeClr val="dk2"/>
            </a:solidFill>
            <a:prstDash val="solid"/>
            <a:round/>
            <a:headEnd len="med" w="med" type="none"/>
            <a:tailEnd len="med" w="med" type="none"/>
          </a:ln>
        </p:spPr>
      </p:cxnSp>
      <p:cxnSp>
        <p:nvCxnSpPr>
          <p:cNvPr id="397" name="Google Shape;397;p31"/>
          <p:cNvCxnSpPr>
            <a:stCxn id="393" idx="6"/>
            <a:endCxn id="390" idx="3"/>
          </p:cNvCxnSpPr>
          <p:nvPr/>
        </p:nvCxnSpPr>
        <p:spPr>
          <a:xfrm flipH="1" rot="10800000">
            <a:off x="2014450" y="2779350"/>
            <a:ext cx="1863300" cy="943800"/>
          </a:xfrm>
          <a:prstGeom prst="straightConnector1">
            <a:avLst/>
          </a:prstGeom>
          <a:noFill/>
          <a:ln cap="flat" cmpd="sng" w="9525">
            <a:solidFill>
              <a:schemeClr val="dk2"/>
            </a:solidFill>
            <a:prstDash val="solid"/>
            <a:round/>
            <a:headEnd len="med" w="med" type="none"/>
            <a:tailEnd len="med" w="med" type="none"/>
          </a:ln>
        </p:spPr>
      </p:cxnSp>
      <p:cxnSp>
        <p:nvCxnSpPr>
          <p:cNvPr id="398" name="Google Shape;398;p31"/>
          <p:cNvCxnSpPr>
            <a:stCxn id="395" idx="3"/>
            <a:endCxn id="393" idx="1"/>
          </p:cNvCxnSpPr>
          <p:nvPr/>
        </p:nvCxnSpPr>
        <p:spPr>
          <a:xfrm flipH="1">
            <a:off x="1494761" y="1778321"/>
            <a:ext cx="282900" cy="1737300"/>
          </a:xfrm>
          <a:prstGeom prst="straightConnector1">
            <a:avLst/>
          </a:prstGeom>
          <a:noFill/>
          <a:ln cap="flat" cmpd="sng" w="9525">
            <a:solidFill>
              <a:schemeClr val="dk2"/>
            </a:solidFill>
            <a:prstDash val="solid"/>
            <a:round/>
            <a:headEnd len="med" w="med" type="none"/>
            <a:tailEnd len="med" w="med" type="none"/>
          </a:ln>
        </p:spPr>
      </p:cxnSp>
      <p:cxnSp>
        <p:nvCxnSpPr>
          <p:cNvPr id="399" name="Google Shape;399;p31"/>
          <p:cNvCxnSpPr>
            <a:stCxn id="392" idx="6"/>
            <a:endCxn id="394" idx="2"/>
          </p:cNvCxnSpPr>
          <p:nvPr/>
        </p:nvCxnSpPr>
        <p:spPr>
          <a:xfrm>
            <a:off x="6304400" y="1277200"/>
            <a:ext cx="712200" cy="794700"/>
          </a:xfrm>
          <a:prstGeom prst="straightConnector1">
            <a:avLst/>
          </a:prstGeom>
          <a:noFill/>
          <a:ln cap="flat" cmpd="sng" w="9525">
            <a:solidFill>
              <a:schemeClr val="dk2"/>
            </a:solidFill>
            <a:prstDash val="solid"/>
            <a:round/>
            <a:headEnd len="med" w="med" type="none"/>
            <a:tailEnd len="med" w="med" type="none"/>
          </a:ln>
        </p:spPr>
      </p:cxnSp>
      <p:cxnSp>
        <p:nvCxnSpPr>
          <p:cNvPr id="400" name="Google Shape;400;p31"/>
          <p:cNvCxnSpPr>
            <a:stCxn id="392" idx="0"/>
          </p:cNvCxnSpPr>
          <p:nvPr/>
        </p:nvCxnSpPr>
        <p:spPr>
          <a:xfrm flipH="1" rot="10800000">
            <a:off x="5999900" y="624550"/>
            <a:ext cx="197400" cy="359100"/>
          </a:xfrm>
          <a:prstGeom prst="straightConnector1">
            <a:avLst/>
          </a:prstGeom>
          <a:noFill/>
          <a:ln cap="flat" cmpd="sng" w="9525">
            <a:solidFill>
              <a:schemeClr val="dk2"/>
            </a:solidFill>
            <a:prstDash val="solid"/>
            <a:round/>
            <a:headEnd len="med" w="med" type="none"/>
            <a:tailEnd len="med" w="med" type="none"/>
          </a:ln>
        </p:spPr>
      </p:cxnSp>
      <p:cxnSp>
        <p:nvCxnSpPr>
          <p:cNvPr id="401" name="Google Shape;401;p31"/>
          <p:cNvCxnSpPr>
            <a:endCxn id="394" idx="7"/>
          </p:cNvCxnSpPr>
          <p:nvPr/>
        </p:nvCxnSpPr>
        <p:spPr>
          <a:xfrm flipH="1">
            <a:off x="7536514" y="1501004"/>
            <a:ext cx="514200" cy="363300"/>
          </a:xfrm>
          <a:prstGeom prst="straightConnector1">
            <a:avLst/>
          </a:prstGeom>
          <a:noFill/>
          <a:ln cap="flat" cmpd="sng" w="9525">
            <a:solidFill>
              <a:schemeClr val="dk2"/>
            </a:solidFill>
            <a:prstDash val="solid"/>
            <a:round/>
            <a:headEnd len="med" w="med" type="none"/>
            <a:tailEnd len="med" w="med" type="none"/>
          </a:ln>
        </p:spPr>
      </p:cxnSp>
      <p:cxnSp>
        <p:nvCxnSpPr>
          <p:cNvPr id="402" name="Google Shape;402;p31"/>
          <p:cNvCxnSpPr>
            <a:endCxn id="391" idx="5"/>
          </p:cNvCxnSpPr>
          <p:nvPr/>
        </p:nvCxnSpPr>
        <p:spPr>
          <a:xfrm rot="10800000">
            <a:off x="6796989" y="4212009"/>
            <a:ext cx="599700" cy="390300"/>
          </a:xfrm>
          <a:prstGeom prst="straightConnector1">
            <a:avLst/>
          </a:prstGeom>
          <a:noFill/>
          <a:ln cap="flat" cmpd="sng" w="9525">
            <a:solidFill>
              <a:schemeClr val="dk2"/>
            </a:solidFill>
            <a:prstDash val="solid"/>
            <a:round/>
            <a:headEnd len="med" w="med" type="none"/>
            <a:tailEnd len="med" w="med" type="none"/>
          </a:ln>
        </p:spPr>
      </p:cxnSp>
      <p:cxnSp>
        <p:nvCxnSpPr>
          <p:cNvPr id="403" name="Google Shape;403;p31"/>
          <p:cNvCxnSpPr>
            <a:stCxn id="390" idx="6"/>
            <a:endCxn id="391" idx="2"/>
          </p:cNvCxnSpPr>
          <p:nvPr/>
        </p:nvCxnSpPr>
        <p:spPr>
          <a:xfrm>
            <a:off x="4397700" y="2571750"/>
            <a:ext cx="1879500" cy="1432800"/>
          </a:xfrm>
          <a:prstGeom prst="straightConnector1">
            <a:avLst/>
          </a:prstGeom>
          <a:noFill/>
          <a:ln cap="flat" cmpd="sng" w="9525">
            <a:solidFill>
              <a:schemeClr val="dk2"/>
            </a:solidFill>
            <a:prstDash val="solid"/>
            <a:round/>
            <a:headEnd len="med" w="med" type="none"/>
            <a:tailEnd len="med" w="med" type="none"/>
          </a:ln>
        </p:spPr>
      </p:cxnSp>
      <p:cxnSp>
        <p:nvCxnSpPr>
          <p:cNvPr id="404" name="Google Shape;404;p31"/>
          <p:cNvCxnSpPr>
            <a:stCxn id="390" idx="7"/>
            <a:endCxn id="392" idx="2"/>
          </p:cNvCxnSpPr>
          <p:nvPr/>
        </p:nvCxnSpPr>
        <p:spPr>
          <a:xfrm flipH="1" rot="10800000">
            <a:off x="4308514" y="1277279"/>
            <a:ext cx="1386900" cy="1086900"/>
          </a:xfrm>
          <a:prstGeom prst="straightConnector1">
            <a:avLst/>
          </a:prstGeom>
          <a:noFill/>
          <a:ln cap="flat" cmpd="sng" w="9525">
            <a:solidFill>
              <a:schemeClr val="dk2"/>
            </a:solidFill>
            <a:prstDash val="solid"/>
            <a:round/>
            <a:headEnd len="med" w="med" type="none"/>
            <a:tailEnd len="med" w="med" type="none"/>
          </a:ln>
        </p:spPr>
      </p:cxnSp>
      <p:sp>
        <p:nvSpPr>
          <p:cNvPr id="405" name="Google Shape;405;p31"/>
          <p:cNvSpPr/>
          <p:nvPr/>
        </p:nvSpPr>
        <p:spPr>
          <a:xfrm>
            <a:off x="3894138" y="23922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406" name="Google Shape;406;p31"/>
          <p:cNvSpPr/>
          <p:nvPr/>
        </p:nvSpPr>
        <p:spPr>
          <a:xfrm rot="-9242801">
            <a:off x="2173459" y="983547"/>
            <a:ext cx="2236777" cy="705742"/>
          </a:xfrm>
          <a:prstGeom prst="curvedUp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7" name="Google Shape;407;p31"/>
          <p:cNvSpPr/>
          <p:nvPr/>
        </p:nvSpPr>
        <p:spPr>
          <a:xfrm rot="9345684">
            <a:off x="1933118" y="3460898"/>
            <a:ext cx="2597814" cy="683722"/>
          </a:xfrm>
          <a:prstGeom prst="curvedDown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8" name="Google Shape;408;p31"/>
          <p:cNvSpPr/>
          <p:nvPr/>
        </p:nvSpPr>
        <p:spPr>
          <a:xfrm>
            <a:off x="5722563" y="983650"/>
            <a:ext cx="554700" cy="5547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9" name="Google Shape;409;p31"/>
          <p:cNvSpPr/>
          <p:nvPr/>
        </p:nvSpPr>
        <p:spPr>
          <a:xfrm>
            <a:off x="1793913" y="13912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410" name="Google Shape;410;p31"/>
          <p:cNvSpPr/>
          <p:nvPr/>
        </p:nvSpPr>
        <p:spPr>
          <a:xfrm>
            <a:off x="1510888" y="35436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411" name="Google Shape;411;p31"/>
          <p:cNvSpPr/>
          <p:nvPr/>
        </p:nvSpPr>
        <p:spPr>
          <a:xfrm>
            <a:off x="1391538" y="4016700"/>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412" name="Google Shape;412;p31"/>
          <p:cNvSpPr/>
          <p:nvPr/>
        </p:nvSpPr>
        <p:spPr>
          <a:xfrm>
            <a:off x="1793925" y="579325"/>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413" name="Google Shape;413;p31"/>
          <p:cNvSpPr/>
          <p:nvPr/>
        </p:nvSpPr>
        <p:spPr>
          <a:xfrm rot="1807055">
            <a:off x="1656991" y="2491844"/>
            <a:ext cx="2236654" cy="705601"/>
          </a:xfrm>
          <a:prstGeom prst="curvedUpArrow">
            <a:avLst>
              <a:gd fmla="val 25000" name="adj1"/>
              <a:gd fmla="val 50000" name="adj2"/>
              <a:gd fmla="val 25000" name="adj3"/>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14" name="Google Shape;414;p31"/>
          <p:cNvSpPr txBox="1"/>
          <p:nvPr/>
        </p:nvSpPr>
        <p:spPr>
          <a:xfrm>
            <a:off x="2413838" y="1981463"/>
            <a:ext cx="1258500" cy="2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Stake value Appended</a:t>
            </a:r>
            <a:endParaRPr sz="1300">
              <a:solidFill>
                <a:schemeClr val="accent1"/>
              </a:solidFill>
              <a:latin typeface="Lato"/>
              <a:ea typeface="Lato"/>
              <a:cs typeface="Lato"/>
              <a:sym typeface="Lato"/>
            </a:endParaRPr>
          </a:p>
        </p:txBody>
      </p:sp>
      <p:sp>
        <p:nvSpPr>
          <p:cNvPr id="415" name="Google Shape;415;p31"/>
          <p:cNvSpPr/>
          <p:nvPr/>
        </p:nvSpPr>
        <p:spPr>
          <a:xfrm>
            <a:off x="6304313" y="3727100"/>
            <a:ext cx="554700" cy="5547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16" name="Google Shape;416;p31"/>
          <p:cNvSpPr txBox="1"/>
          <p:nvPr/>
        </p:nvSpPr>
        <p:spPr>
          <a:xfrm>
            <a:off x="3038800" y="964000"/>
            <a:ext cx="10851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Request Stake</a:t>
            </a:r>
            <a:endParaRPr b="1" sz="1600">
              <a:latin typeface="Roboto Mono"/>
              <a:ea typeface="Roboto Mono"/>
              <a:cs typeface="Roboto Mono"/>
              <a:sym typeface="Roboto Mono"/>
            </a:endParaRPr>
          </a:p>
        </p:txBody>
      </p:sp>
      <p:sp>
        <p:nvSpPr>
          <p:cNvPr id="417" name="Google Shape;417;p31"/>
          <p:cNvSpPr txBox="1"/>
          <p:nvPr/>
        </p:nvSpPr>
        <p:spPr>
          <a:xfrm>
            <a:off x="1909000" y="2572763"/>
            <a:ext cx="10851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Reply Stake</a:t>
            </a:r>
            <a:endParaRPr b="1" sz="1600">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2"/>
          <p:cNvSpPr/>
          <p:nvPr/>
        </p:nvSpPr>
        <p:spPr>
          <a:xfrm>
            <a:off x="5993875" y="3234000"/>
            <a:ext cx="1542600" cy="14328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3" name="Google Shape;423;p32"/>
          <p:cNvSpPr/>
          <p:nvPr/>
        </p:nvSpPr>
        <p:spPr>
          <a:xfrm>
            <a:off x="5504525" y="287075"/>
            <a:ext cx="2546100" cy="24924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4" name="Google Shape;424;p32"/>
          <p:cNvSpPr/>
          <p:nvPr/>
        </p:nvSpPr>
        <p:spPr>
          <a:xfrm>
            <a:off x="0" y="-103575"/>
            <a:ext cx="5504400" cy="4941300"/>
          </a:xfrm>
          <a:prstGeom prst="ellipse">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5" name="Google Shape;425;p32"/>
          <p:cNvSpPr/>
          <p:nvPr/>
        </p:nvSpPr>
        <p:spPr>
          <a:xfrm>
            <a:off x="3788700" y="22782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6" name="Google Shape;426;p32"/>
          <p:cNvSpPr/>
          <p:nvPr/>
        </p:nvSpPr>
        <p:spPr>
          <a:xfrm>
            <a:off x="6277175" y="3710888"/>
            <a:ext cx="609000" cy="5871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7" name="Google Shape;427;p32"/>
          <p:cNvSpPr/>
          <p:nvPr/>
        </p:nvSpPr>
        <p:spPr>
          <a:xfrm>
            <a:off x="5695400" y="983650"/>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8" name="Google Shape;428;p32"/>
          <p:cNvSpPr/>
          <p:nvPr/>
        </p:nvSpPr>
        <p:spPr>
          <a:xfrm>
            <a:off x="1734088" y="32340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9" name="Google Shape;429;p32"/>
          <p:cNvSpPr/>
          <p:nvPr/>
        </p:nvSpPr>
        <p:spPr>
          <a:xfrm>
            <a:off x="7016700" y="1778325"/>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0" name="Google Shape;430;p32"/>
          <p:cNvSpPr/>
          <p:nvPr/>
        </p:nvSpPr>
        <p:spPr>
          <a:xfrm>
            <a:off x="2072875" y="1763175"/>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1" name="Google Shape;431;p32"/>
          <p:cNvCxnSpPr>
            <a:stCxn id="430" idx="6"/>
            <a:endCxn id="425" idx="1"/>
          </p:cNvCxnSpPr>
          <p:nvPr/>
        </p:nvCxnSpPr>
        <p:spPr>
          <a:xfrm>
            <a:off x="2681875" y="2056725"/>
            <a:ext cx="1196100" cy="307500"/>
          </a:xfrm>
          <a:prstGeom prst="straightConnector1">
            <a:avLst/>
          </a:prstGeom>
          <a:noFill/>
          <a:ln cap="flat" cmpd="sng" w="9525">
            <a:solidFill>
              <a:schemeClr val="dk2"/>
            </a:solidFill>
            <a:prstDash val="solid"/>
            <a:round/>
            <a:headEnd len="med" w="med" type="none"/>
            <a:tailEnd len="med" w="med" type="none"/>
          </a:ln>
        </p:spPr>
      </p:cxnSp>
      <p:cxnSp>
        <p:nvCxnSpPr>
          <p:cNvPr id="432" name="Google Shape;432;p32"/>
          <p:cNvCxnSpPr>
            <a:stCxn id="428" idx="6"/>
            <a:endCxn id="425" idx="3"/>
          </p:cNvCxnSpPr>
          <p:nvPr/>
        </p:nvCxnSpPr>
        <p:spPr>
          <a:xfrm flipH="1" rot="10800000">
            <a:off x="2343088" y="2779350"/>
            <a:ext cx="1534800" cy="748200"/>
          </a:xfrm>
          <a:prstGeom prst="straightConnector1">
            <a:avLst/>
          </a:prstGeom>
          <a:noFill/>
          <a:ln cap="flat" cmpd="sng" w="9525">
            <a:solidFill>
              <a:schemeClr val="dk2"/>
            </a:solidFill>
            <a:prstDash val="solid"/>
            <a:round/>
            <a:headEnd len="med" w="med" type="none"/>
            <a:tailEnd len="med" w="med" type="none"/>
          </a:ln>
        </p:spPr>
      </p:cxnSp>
      <p:cxnSp>
        <p:nvCxnSpPr>
          <p:cNvPr id="433" name="Google Shape;433;p32"/>
          <p:cNvCxnSpPr>
            <a:stCxn id="430" idx="3"/>
            <a:endCxn id="428" idx="0"/>
          </p:cNvCxnSpPr>
          <p:nvPr/>
        </p:nvCxnSpPr>
        <p:spPr>
          <a:xfrm flipH="1">
            <a:off x="2038461" y="2264296"/>
            <a:ext cx="123600" cy="969600"/>
          </a:xfrm>
          <a:prstGeom prst="straightConnector1">
            <a:avLst/>
          </a:prstGeom>
          <a:noFill/>
          <a:ln cap="flat" cmpd="sng" w="9525">
            <a:solidFill>
              <a:schemeClr val="dk2"/>
            </a:solidFill>
            <a:prstDash val="solid"/>
            <a:round/>
            <a:headEnd len="med" w="med" type="none"/>
            <a:tailEnd len="med" w="med" type="none"/>
          </a:ln>
        </p:spPr>
      </p:cxnSp>
      <p:cxnSp>
        <p:nvCxnSpPr>
          <p:cNvPr id="434" name="Google Shape;434;p32"/>
          <p:cNvCxnSpPr>
            <a:stCxn id="427" idx="6"/>
            <a:endCxn id="429" idx="2"/>
          </p:cNvCxnSpPr>
          <p:nvPr/>
        </p:nvCxnSpPr>
        <p:spPr>
          <a:xfrm>
            <a:off x="6304400" y="1277200"/>
            <a:ext cx="712200" cy="794700"/>
          </a:xfrm>
          <a:prstGeom prst="straightConnector1">
            <a:avLst/>
          </a:prstGeom>
          <a:noFill/>
          <a:ln cap="flat" cmpd="sng" w="9525">
            <a:solidFill>
              <a:schemeClr val="dk2"/>
            </a:solidFill>
            <a:prstDash val="solid"/>
            <a:round/>
            <a:headEnd len="med" w="med" type="none"/>
            <a:tailEnd len="med" w="med" type="none"/>
          </a:ln>
        </p:spPr>
      </p:cxnSp>
      <p:cxnSp>
        <p:nvCxnSpPr>
          <p:cNvPr id="435" name="Google Shape;435;p32"/>
          <p:cNvCxnSpPr>
            <a:stCxn id="427" idx="0"/>
          </p:cNvCxnSpPr>
          <p:nvPr/>
        </p:nvCxnSpPr>
        <p:spPr>
          <a:xfrm flipH="1" rot="10800000">
            <a:off x="5999900" y="624550"/>
            <a:ext cx="197400" cy="359100"/>
          </a:xfrm>
          <a:prstGeom prst="straightConnector1">
            <a:avLst/>
          </a:prstGeom>
          <a:noFill/>
          <a:ln cap="flat" cmpd="sng" w="9525">
            <a:solidFill>
              <a:schemeClr val="dk2"/>
            </a:solidFill>
            <a:prstDash val="solid"/>
            <a:round/>
            <a:headEnd len="med" w="med" type="none"/>
            <a:tailEnd len="med" w="med" type="none"/>
          </a:ln>
        </p:spPr>
      </p:cxnSp>
      <p:cxnSp>
        <p:nvCxnSpPr>
          <p:cNvPr id="436" name="Google Shape;436;p32"/>
          <p:cNvCxnSpPr>
            <a:endCxn id="429" idx="7"/>
          </p:cNvCxnSpPr>
          <p:nvPr/>
        </p:nvCxnSpPr>
        <p:spPr>
          <a:xfrm flipH="1">
            <a:off x="7536514" y="1501004"/>
            <a:ext cx="514200" cy="363300"/>
          </a:xfrm>
          <a:prstGeom prst="straightConnector1">
            <a:avLst/>
          </a:prstGeom>
          <a:noFill/>
          <a:ln cap="flat" cmpd="sng" w="9525">
            <a:solidFill>
              <a:schemeClr val="dk2"/>
            </a:solidFill>
            <a:prstDash val="solid"/>
            <a:round/>
            <a:headEnd len="med" w="med" type="none"/>
            <a:tailEnd len="med" w="med" type="none"/>
          </a:ln>
        </p:spPr>
      </p:cxnSp>
      <p:cxnSp>
        <p:nvCxnSpPr>
          <p:cNvPr id="437" name="Google Shape;437;p32"/>
          <p:cNvCxnSpPr>
            <a:endCxn id="426" idx="5"/>
          </p:cNvCxnSpPr>
          <p:nvPr/>
        </p:nvCxnSpPr>
        <p:spPr>
          <a:xfrm rot="10800000">
            <a:off x="6796989" y="4212009"/>
            <a:ext cx="599700" cy="390300"/>
          </a:xfrm>
          <a:prstGeom prst="straightConnector1">
            <a:avLst/>
          </a:prstGeom>
          <a:noFill/>
          <a:ln cap="flat" cmpd="sng" w="9525">
            <a:solidFill>
              <a:schemeClr val="dk2"/>
            </a:solidFill>
            <a:prstDash val="solid"/>
            <a:round/>
            <a:headEnd len="med" w="med" type="none"/>
            <a:tailEnd len="med" w="med" type="none"/>
          </a:ln>
        </p:spPr>
      </p:cxnSp>
      <p:cxnSp>
        <p:nvCxnSpPr>
          <p:cNvPr id="438" name="Google Shape;438;p32"/>
          <p:cNvCxnSpPr>
            <a:stCxn id="425" idx="6"/>
            <a:endCxn id="426" idx="2"/>
          </p:cNvCxnSpPr>
          <p:nvPr/>
        </p:nvCxnSpPr>
        <p:spPr>
          <a:xfrm>
            <a:off x="4397700" y="2571750"/>
            <a:ext cx="1879500" cy="1432800"/>
          </a:xfrm>
          <a:prstGeom prst="straightConnector1">
            <a:avLst/>
          </a:prstGeom>
          <a:noFill/>
          <a:ln cap="flat" cmpd="sng" w="9525">
            <a:solidFill>
              <a:schemeClr val="dk2"/>
            </a:solidFill>
            <a:prstDash val="solid"/>
            <a:round/>
            <a:headEnd len="med" w="med" type="none"/>
            <a:tailEnd len="med" w="med" type="none"/>
          </a:ln>
        </p:spPr>
      </p:cxnSp>
      <p:cxnSp>
        <p:nvCxnSpPr>
          <p:cNvPr id="439" name="Google Shape;439;p32"/>
          <p:cNvCxnSpPr>
            <a:stCxn id="425" idx="7"/>
            <a:endCxn id="427" idx="2"/>
          </p:cNvCxnSpPr>
          <p:nvPr/>
        </p:nvCxnSpPr>
        <p:spPr>
          <a:xfrm flipH="1" rot="10800000">
            <a:off x="4308514" y="1277279"/>
            <a:ext cx="1386900" cy="1086900"/>
          </a:xfrm>
          <a:prstGeom prst="straightConnector1">
            <a:avLst/>
          </a:prstGeom>
          <a:noFill/>
          <a:ln cap="flat" cmpd="sng" w="9525">
            <a:solidFill>
              <a:schemeClr val="dk2"/>
            </a:solidFill>
            <a:prstDash val="solid"/>
            <a:round/>
            <a:headEnd len="med" w="med" type="none"/>
            <a:tailEnd len="med" w="med" type="none"/>
          </a:ln>
        </p:spPr>
      </p:cxnSp>
      <p:sp>
        <p:nvSpPr>
          <p:cNvPr id="440" name="Google Shape;440;p32"/>
          <p:cNvSpPr/>
          <p:nvPr/>
        </p:nvSpPr>
        <p:spPr>
          <a:xfrm>
            <a:off x="3894138" y="23922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441" name="Google Shape;441;p32"/>
          <p:cNvSpPr/>
          <p:nvPr/>
        </p:nvSpPr>
        <p:spPr>
          <a:xfrm rot="-9645520">
            <a:off x="2489957" y="1589085"/>
            <a:ext cx="1698691" cy="463288"/>
          </a:xfrm>
          <a:prstGeom prst="curvedUp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2" name="Google Shape;442;p32"/>
          <p:cNvSpPr/>
          <p:nvPr/>
        </p:nvSpPr>
        <p:spPr>
          <a:xfrm rot="9345684">
            <a:off x="1933118" y="3460898"/>
            <a:ext cx="2597814" cy="683722"/>
          </a:xfrm>
          <a:prstGeom prst="curvedDown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3" name="Google Shape;443;p32"/>
          <p:cNvSpPr/>
          <p:nvPr/>
        </p:nvSpPr>
        <p:spPr>
          <a:xfrm>
            <a:off x="5722563" y="983650"/>
            <a:ext cx="554700" cy="5547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4" name="Google Shape;444;p32"/>
          <p:cNvSpPr/>
          <p:nvPr/>
        </p:nvSpPr>
        <p:spPr>
          <a:xfrm>
            <a:off x="2162049" y="1861575"/>
            <a:ext cx="398100" cy="390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445" name="Google Shape;445;p32"/>
          <p:cNvSpPr/>
          <p:nvPr/>
        </p:nvSpPr>
        <p:spPr>
          <a:xfrm>
            <a:off x="1839538" y="3387725"/>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t>
            </a:r>
            <a:endParaRPr>
              <a:latin typeface="Lato"/>
              <a:ea typeface="Lato"/>
              <a:cs typeface="Lato"/>
              <a:sym typeface="Lato"/>
            </a:endParaRPr>
          </a:p>
        </p:txBody>
      </p:sp>
      <p:sp>
        <p:nvSpPr>
          <p:cNvPr id="446" name="Google Shape;446;p32"/>
          <p:cNvSpPr/>
          <p:nvPr/>
        </p:nvSpPr>
        <p:spPr>
          <a:xfrm>
            <a:off x="1839542" y="3846600"/>
            <a:ext cx="197394" cy="207592"/>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447" name="Google Shape;447;p32"/>
          <p:cNvSpPr/>
          <p:nvPr/>
        </p:nvSpPr>
        <p:spPr>
          <a:xfrm>
            <a:off x="2241200" y="1555575"/>
            <a:ext cx="272358" cy="207592"/>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448" name="Google Shape;448;p32"/>
          <p:cNvSpPr/>
          <p:nvPr/>
        </p:nvSpPr>
        <p:spPr>
          <a:xfrm rot="1807374">
            <a:off x="2180241" y="2685877"/>
            <a:ext cx="1426902" cy="332297"/>
          </a:xfrm>
          <a:prstGeom prst="curvedUpArrow">
            <a:avLst>
              <a:gd fmla="val 25000" name="adj1"/>
              <a:gd fmla="val 50000" name="adj2"/>
              <a:gd fmla="val 25000" name="adj3"/>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9" name="Google Shape;449;p32"/>
          <p:cNvSpPr txBox="1"/>
          <p:nvPr/>
        </p:nvSpPr>
        <p:spPr>
          <a:xfrm>
            <a:off x="2650663" y="2106663"/>
            <a:ext cx="1258500" cy="2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Stake value Appended</a:t>
            </a:r>
            <a:endParaRPr sz="1300">
              <a:solidFill>
                <a:schemeClr val="accent1"/>
              </a:solidFill>
              <a:latin typeface="Lato"/>
              <a:ea typeface="Lato"/>
              <a:cs typeface="Lato"/>
              <a:sym typeface="Lato"/>
            </a:endParaRPr>
          </a:p>
        </p:txBody>
      </p:sp>
      <p:sp>
        <p:nvSpPr>
          <p:cNvPr id="450" name="Google Shape;450;p32"/>
          <p:cNvSpPr/>
          <p:nvPr/>
        </p:nvSpPr>
        <p:spPr>
          <a:xfrm>
            <a:off x="6304313" y="3727100"/>
            <a:ext cx="554700" cy="5547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1" name="Google Shape;451;p32"/>
          <p:cNvSpPr/>
          <p:nvPr/>
        </p:nvSpPr>
        <p:spPr>
          <a:xfrm>
            <a:off x="337750" y="787300"/>
            <a:ext cx="1534800" cy="1605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2" name="Google Shape;452;p32"/>
          <p:cNvSpPr txBox="1"/>
          <p:nvPr/>
        </p:nvSpPr>
        <p:spPr>
          <a:xfrm>
            <a:off x="567625" y="1352750"/>
            <a:ext cx="1033200" cy="3903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Authority</a:t>
            </a:r>
            <a:endParaRPr sz="1300">
              <a:solidFill>
                <a:schemeClr val="accent1"/>
              </a:solidFill>
              <a:latin typeface="Lato"/>
              <a:ea typeface="Lato"/>
              <a:cs typeface="Lato"/>
              <a:sym typeface="Lato"/>
            </a:endParaRPr>
          </a:p>
        </p:txBody>
      </p:sp>
      <p:cxnSp>
        <p:nvCxnSpPr>
          <p:cNvPr id="453" name="Google Shape;453;p32"/>
          <p:cNvCxnSpPr>
            <a:stCxn id="430" idx="0"/>
            <a:endCxn id="451" idx="7"/>
          </p:cNvCxnSpPr>
          <p:nvPr/>
        </p:nvCxnSpPr>
        <p:spPr>
          <a:xfrm rot="10800000">
            <a:off x="1647775" y="1022475"/>
            <a:ext cx="729600" cy="7407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32"/>
          <p:cNvCxnSpPr>
            <a:stCxn id="451" idx="4"/>
            <a:endCxn id="428" idx="1"/>
          </p:cNvCxnSpPr>
          <p:nvPr/>
        </p:nvCxnSpPr>
        <p:spPr>
          <a:xfrm>
            <a:off x="1105150" y="2392300"/>
            <a:ext cx="718200" cy="927600"/>
          </a:xfrm>
          <a:prstGeom prst="straightConnector1">
            <a:avLst/>
          </a:prstGeom>
          <a:noFill/>
          <a:ln cap="flat" cmpd="sng" w="9525">
            <a:solidFill>
              <a:schemeClr val="dk2"/>
            </a:solidFill>
            <a:prstDash val="solid"/>
            <a:round/>
            <a:headEnd len="med" w="med" type="none"/>
            <a:tailEnd len="med" w="med" type="none"/>
          </a:ln>
        </p:spPr>
      </p:cxnSp>
      <p:sp>
        <p:nvSpPr>
          <p:cNvPr id="455" name="Google Shape;455;p32"/>
          <p:cNvSpPr/>
          <p:nvPr/>
        </p:nvSpPr>
        <p:spPr>
          <a:xfrm rot="-9122019">
            <a:off x="1519511" y="603560"/>
            <a:ext cx="3181982" cy="887896"/>
          </a:xfrm>
          <a:prstGeom prst="curvedUpArrow">
            <a:avLst>
              <a:gd fmla="val 25000" name="adj1"/>
              <a:gd fmla="val 50000" name="adj2"/>
              <a:gd fmla="val 25000" name="adj3"/>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6" name="Google Shape;456;p32"/>
          <p:cNvSpPr txBox="1"/>
          <p:nvPr/>
        </p:nvSpPr>
        <p:spPr>
          <a:xfrm>
            <a:off x="2954825" y="68200"/>
            <a:ext cx="20481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Authority Redirection</a:t>
            </a:r>
            <a:endParaRPr b="1" sz="1600">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3"/>
          <p:cNvSpPr/>
          <p:nvPr/>
        </p:nvSpPr>
        <p:spPr>
          <a:xfrm>
            <a:off x="5993875" y="3234000"/>
            <a:ext cx="1542600" cy="14328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2" name="Google Shape;462;p33"/>
          <p:cNvSpPr/>
          <p:nvPr/>
        </p:nvSpPr>
        <p:spPr>
          <a:xfrm>
            <a:off x="5504525" y="301700"/>
            <a:ext cx="2546100" cy="24924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3" name="Google Shape;463;p33"/>
          <p:cNvSpPr/>
          <p:nvPr/>
        </p:nvSpPr>
        <p:spPr>
          <a:xfrm flipH="1" rot="10800000">
            <a:off x="0" y="-38925"/>
            <a:ext cx="5132700" cy="4811400"/>
          </a:xfrm>
          <a:prstGeom prst="ellipse">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4" name="Google Shape;464;p33"/>
          <p:cNvSpPr/>
          <p:nvPr/>
        </p:nvSpPr>
        <p:spPr>
          <a:xfrm>
            <a:off x="3788700" y="22782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5" name="Google Shape;465;p33"/>
          <p:cNvSpPr/>
          <p:nvPr/>
        </p:nvSpPr>
        <p:spPr>
          <a:xfrm>
            <a:off x="6277175" y="3710888"/>
            <a:ext cx="609000" cy="5871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6" name="Google Shape;466;p33"/>
          <p:cNvSpPr/>
          <p:nvPr/>
        </p:nvSpPr>
        <p:spPr>
          <a:xfrm>
            <a:off x="5695400" y="983650"/>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7" name="Google Shape;467;p33"/>
          <p:cNvSpPr/>
          <p:nvPr/>
        </p:nvSpPr>
        <p:spPr>
          <a:xfrm>
            <a:off x="1734088" y="3234000"/>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8" name="Google Shape;468;p33"/>
          <p:cNvSpPr/>
          <p:nvPr/>
        </p:nvSpPr>
        <p:spPr>
          <a:xfrm>
            <a:off x="7060000" y="1573175"/>
            <a:ext cx="609000" cy="5871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9" name="Google Shape;469;p33"/>
          <p:cNvSpPr/>
          <p:nvPr/>
        </p:nvSpPr>
        <p:spPr>
          <a:xfrm>
            <a:off x="2072875" y="1763175"/>
            <a:ext cx="609000" cy="5871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70" name="Google Shape;470;p33"/>
          <p:cNvCxnSpPr>
            <a:stCxn id="469" idx="6"/>
            <a:endCxn id="464" idx="1"/>
          </p:cNvCxnSpPr>
          <p:nvPr/>
        </p:nvCxnSpPr>
        <p:spPr>
          <a:xfrm>
            <a:off x="2681875" y="2056725"/>
            <a:ext cx="1196100" cy="307500"/>
          </a:xfrm>
          <a:prstGeom prst="straightConnector1">
            <a:avLst/>
          </a:prstGeom>
          <a:noFill/>
          <a:ln cap="flat" cmpd="sng" w="9525">
            <a:solidFill>
              <a:schemeClr val="dk2"/>
            </a:solidFill>
            <a:prstDash val="solid"/>
            <a:round/>
            <a:headEnd len="med" w="med" type="none"/>
            <a:tailEnd len="med" w="med" type="none"/>
          </a:ln>
        </p:spPr>
      </p:cxnSp>
      <p:cxnSp>
        <p:nvCxnSpPr>
          <p:cNvPr id="471" name="Google Shape;471;p33"/>
          <p:cNvCxnSpPr>
            <a:stCxn id="467" idx="6"/>
            <a:endCxn id="464" idx="3"/>
          </p:cNvCxnSpPr>
          <p:nvPr/>
        </p:nvCxnSpPr>
        <p:spPr>
          <a:xfrm flipH="1" rot="10800000">
            <a:off x="2343088" y="2779350"/>
            <a:ext cx="1534800" cy="748200"/>
          </a:xfrm>
          <a:prstGeom prst="straightConnector1">
            <a:avLst/>
          </a:prstGeom>
          <a:noFill/>
          <a:ln cap="flat" cmpd="sng" w="9525">
            <a:solidFill>
              <a:schemeClr val="dk2"/>
            </a:solidFill>
            <a:prstDash val="solid"/>
            <a:round/>
            <a:headEnd len="med" w="med" type="none"/>
            <a:tailEnd len="med" w="med" type="none"/>
          </a:ln>
        </p:spPr>
      </p:cxnSp>
      <p:cxnSp>
        <p:nvCxnSpPr>
          <p:cNvPr id="472" name="Google Shape;472;p33"/>
          <p:cNvCxnSpPr>
            <a:stCxn id="469" idx="3"/>
            <a:endCxn id="467" idx="0"/>
          </p:cNvCxnSpPr>
          <p:nvPr/>
        </p:nvCxnSpPr>
        <p:spPr>
          <a:xfrm flipH="1">
            <a:off x="2038461" y="2264296"/>
            <a:ext cx="123600" cy="969600"/>
          </a:xfrm>
          <a:prstGeom prst="straightConnector1">
            <a:avLst/>
          </a:prstGeom>
          <a:noFill/>
          <a:ln cap="flat" cmpd="sng" w="9525">
            <a:solidFill>
              <a:schemeClr val="dk2"/>
            </a:solidFill>
            <a:prstDash val="solid"/>
            <a:round/>
            <a:headEnd len="med" w="med" type="none"/>
            <a:tailEnd len="med" w="med" type="none"/>
          </a:ln>
        </p:spPr>
      </p:cxnSp>
      <p:cxnSp>
        <p:nvCxnSpPr>
          <p:cNvPr id="473" name="Google Shape;473;p33"/>
          <p:cNvCxnSpPr>
            <a:stCxn id="466" idx="6"/>
            <a:endCxn id="468" idx="1"/>
          </p:cNvCxnSpPr>
          <p:nvPr/>
        </p:nvCxnSpPr>
        <p:spPr>
          <a:xfrm>
            <a:off x="6304400" y="1277200"/>
            <a:ext cx="844800" cy="381900"/>
          </a:xfrm>
          <a:prstGeom prst="straightConnector1">
            <a:avLst/>
          </a:prstGeom>
          <a:noFill/>
          <a:ln cap="flat" cmpd="sng" w="9525">
            <a:solidFill>
              <a:schemeClr val="dk2"/>
            </a:solidFill>
            <a:prstDash val="solid"/>
            <a:round/>
            <a:headEnd len="med" w="med" type="none"/>
            <a:tailEnd len="med" w="med" type="none"/>
          </a:ln>
        </p:spPr>
      </p:cxnSp>
      <p:cxnSp>
        <p:nvCxnSpPr>
          <p:cNvPr id="474" name="Google Shape;474;p33"/>
          <p:cNvCxnSpPr>
            <a:stCxn id="466" idx="0"/>
          </p:cNvCxnSpPr>
          <p:nvPr/>
        </p:nvCxnSpPr>
        <p:spPr>
          <a:xfrm flipH="1" rot="10800000">
            <a:off x="5999900" y="624550"/>
            <a:ext cx="197400" cy="359100"/>
          </a:xfrm>
          <a:prstGeom prst="straightConnector1">
            <a:avLst/>
          </a:prstGeom>
          <a:noFill/>
          <a:ln cap="flat" cmpd="sng" w="9525">
            <a:solidFill>
              <a:schemeClr val="dk2"/>
            </a:solidFill>
            <a:prstDash val="solid"/>
            <a:round/>
            <a:headEnd len="med" w="med" type="none"/>
            <a:tailEnd len="med" w="med" type="none"/>
          </a:ln>
        </p:spPr>
      </p:cxnSp>
      <p:cxnSp>
        <p:nvCxnSpPr>
          <p:cNvPr id="475" name="Google Shape;475;p33"/>
          <p:cNvCxnSpPr>
            <a:endCxn id="468" idx="7"/>
          </p:cNvCxnSpPr>
          <p:nvPr/>
        </p:nvCxnSpPr>
        <p:spPr>
          <a:xfrm flipH="1">
            <a:off x="7579814" y="1295854"/>
            <a:ext cx="514200" cy="363300"/>
          </a:xfrm>
          <a:prstGeom prst="straightConnector1">
            <a:avLst/>
          </a:prstGeom>
          <a:noFill/>
          <a:ln cap="flat" cmpd="sng" w="9525">
            <a:solidFill>
              <a:schemeClr val="dk2"/>
            </a:solidFill>
            <a:prstDash val="solid"/>
            <a:round/>
            <a:headEnd len="med" w="med" type="none"/>
            <a:tailEnd len="med" w="med" type="none"/>
          </a:ln>
        </p:spPr>
      </p:cxnSp>
      <p:cxnSp>
        <p:nvCxnSpPr>
          <p:cNvPr id="476" name="Google Shape;476;p33"/>
          <p:cNvCxnSpPr>
            <a:endCxn id="465" idx="5"/>
          </p:cNvCxnSpPr>
          <p:nvPr/>
        </p:nvCxnSpPr>
        <p:spPr>
          <a:xfrm rot="10800000">
            <a:off x="6796989" y="4212009"/>
            <a:ext cx="599700" cy="390300"/>
          </a:xfrm>
          <a:prstGeom prst="straightConnector1">
            <a:avLst/>
          </a:prstGeom>
          <a:noFill/>
          <a:ln cap="flat" cmpd="sng" w="9525">
            <a:solidFill>
              <a:schemeClr val="dk2"/>
            </a:solidFill>
            <a:prstDash val="solid"/>
            <a:round/>
            <a:headEnd len="med" w="med" type="none"/>
            <a:tailEnd len="med" w="med" type="none"/>
          </a:ln>
        </p:spPr>
      </p:cxnSp>
      <p:cxnSp>
        <p:nvCxnSpPr>
          <p:cNvPr id="477" name="Google Shape;477;p33"/>
          <p:cNvCxnSpPr>
            <a:stCxn id="464" idx="6"/>
            <a:endCxn id="465" idx="2"/>
          </p:cNvCxnSpPr>
          <p:nvPr/>
        </p:nvCxnSpPr>
        <p:spPr>
          <a:xfrm>
            <a:off x="4397700" y="2571750"/>
            <a:ext cx="1879500" cy="1432800"/>
          </a:xfrm>
          <a:prstGeom prst="straightConnector1">
            <a:avLst/>
          </a:prstGeom>
          <a:noFill/>
          <a:ln cap="flat" cmpd="sng" w="9525">
            <a:solidFill>
              <a:schemeClr val="dk2"/>
            </a:solidFill>
            <a:prstDash val="solid"/>
            <a:round/>
            <a:headEnd len="med" w="med" type="none"/>
            <a:tailEnd len="med" w="med" type="none"/>
          </a:ln>
        </p:spPr>
      </p:cxnSp>
      <p:cxnSp>
        <p:nvCxnSpPr>
          <p:cNvPr id="478" name="Google Shape;478;p33"/>
          <p:cNvCxnSpPr>
            <a:stCxn id="464" idx="7"/>
            <a:endCxn id="466" idx="2"/>
          </p:cNvCxnSpPr>
          <p:nvPr/>
        </p:nvCxnSpPr>
        <p:spPr>
          <a:xfrm flipH="1" rot="10800000">
            <a:off x="4308514" y="1277279"/>
            <a:ext cx="1386900" cy="1086900"/>
          </a:xfrm>
          <a:prstGeom prst="straightConnector1">
            <a:avLst/>
          </a:prstGeom>
          <a:noFill/>
          <a:ln cap="flat" cmpd="sng" w="9525">
            <a:solidFill>
              <a:schemeClr val="dk2"/>
            </a:solidFill>
            <a:prstDash val="solid"/>
            <a:round/>
            <a:headEnd len="med" w="med" type="none"/>
            <a:tailEnd len="med" w="med" type="none"/>
          </a:ln>
        </p:spPr>
      </p:cxnSp>
      <p:sp>
        <p:nvSpPr>
          <p:cNvPr id="479" name="Google Shape;479;p33"/>
          <p:cNvSpPr/>
          <p:nvPr/>
        </p:nvSpPr>
        <p:spPr>
          <a:xfrm>
            <a:off x="3894138" y="2409775"/>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480" name="Google Shape;480;p33"/>
          <p:cNvSpPr/>
          <p:nvPr/>
        </p:nvSpPr>
        <p:spPr>
          <a:xfrm flipH="1" rot="9355496">
            <a:off x="2113248" y="3389472"/>
            <a:ext cx="2279050" cy="683807"/>
          </a:xfrm>
          <a:prstGeom prst="curvedDown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1" name="Google Shape;481;p33"/>
          <p:cNvSpPr/>
          <p:nvPr/>
        </p:nvSpPr>
        <p:spPr>
          <a:xfrm>
            <a:off x="2162049" y="1861575"/>
            <a:ext cx="398100" cy="390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482" name="Google Shape;482;p33"/>
          <p:cNvSpPr/>
          <p:nvPr/>
        </p:nvSpPr>
        <p:spPr>
          <a:xfrm>
            <a:off x="1839538" y="3387725"/>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483" name="Google Shape;483;p33"/>
          <p:cNvSpPr/>
          <p:nvPr/>
        </p:nvSpPr>
        <p:spPr>
          <a:xfrm>
            <a:off x="1734093" y="3900650"/>
            <a:ext cx="321829" cy="207592"/>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484" name="Google Shape;484;p33"/>
          <p:cNvSpPr/>
          <p:nvPr/>
        </p:nvSpPr>
        <p:spPr>
          <a:xfrm>
            <a:off x="2241200" y="1372883"/>
            <a:ext cx="398115" cy="390287"/>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485" name="Google Shape;485;p33"/>
          <p:cNvSpPr/>
          <p:nvPr/>
        </p:nvSpPr>
        <p:spPr>
          <a:xfrm rot="2138680">
            <a:off x="4064076" y="3528645"/>
            <a:ext cx="2390707" cy="745613"/>
          </a:xfrm>
          <a:prstGeom prst="curvedUp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6" name="Google Shape;486;p33"/>
          <p:cNvSpPr/>
          <p:nvPr/>
        </p:nvSpPr>
        <p:spPr>
          <a:xfrm>
            <a:off x="337750" y="787300"/>
            <a:ext cx="1534800" cy="1605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7" name="Google Shape;487;p33"/>
          <p:cNvSpPr txBox="1"/>
          <p:nvPr/>
        </p:nvSpPr>
        <p:spPr>
          <a:xfrm>
            <a:off x="567625" y="1352750"/>
            <a:ext cx="1033200" cy="3903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Authority</a:t>
            </a:r>
            <a:endParaRPr sz="1300">
              <a:solidFill>
                <a:schemeClr val="accent1"/>
              </a:solidFill>
              <a:latin typeface="Lato"/>
              <a:ea typeface="Lato"/>
              <a:cs typeface="Lato"/>
              <a:sym typeface="Lato"/>
            </a:endParaRPr>
          </a:p>
        </p:txBody>
      </p:sp>
      <p:cxnSp>
        <p:nvCxnSpPr>
          <p:cNvPr id="488" name="Google Shape;488;p33"/>
          <p:cNvCxnSpPr>
            <a:stCxn id="469" idx="0"/>
            <a:endCxn id="486" idx="7"/>
          </p:cNvCxnSpPr>
          <p:nvPr/>
        </p:nvCxnSpPr>
        <p:spPr>
          <a:xfrm rot="10800000">
            <a:off x="1647775" y="1022475"/>
            <a:ext cx="729600" cy="740700"/>
          </a:xfrm>
          <a:prstGeom prst="straightConnector1">
            <a:avLst/>
          </a:prstGeom>
          <a:noFill/>
          <a:ln cap="flat" cmpd="sng" w="9525">
            <a:solidFill>
              <a:schemeClr val="dk2"/>
            </a:solidFill>
            <a:prstDash val="solid"/>
            <a:round/>
            <a:headEnd len="med" w="med" type="none"/>
            <a:tailEnd len="med" w="med" type="none"/>
          </a:ln>
        </p:spPr>
      </p:cxnSp>
      <p:cxnSp>
        <p:nvCxnSpPr>
          <p:cNvPr id="489" name="Google Shape;489;p33"/>
          <p:cNvCxnSpPr>
            <a:stCxn id="486" idx="4"/>
            <a:endCxn id="467" idx="1"/>
          </p:cNvCxnSpPr>
          <p:nvPr/>
        </p:nvCxnSpPr>
        <p:spPr>
          <a:xfrm>
            <a:off x="1105150" y="2392300"/>
            <a:ext cx="718200" cy="927600"/>
          </a:xfrm>
          <a:prstGeom prst="straightConnector1">
            <a:avLst/>
          </a:prstGeom>
          <a:noFill/>
          <a:ln cap="flat" cmpd="sng" w="9525">
            <a:solidFill>
              <a:schemeClr val="dk2"/>
            </a:solidFill>
            <a:prstDash val="solid"/>
            <a:round/>
            <a:headEnd len="med" w="med" type="none"/>
            <a:tailEnd len="med" w="med" type="none"/>
          </a:ln>
        </p:spPr>
      </p:cxnSp>
      <p:sp>
        <p:nvSpPr>
          <p:cNvPr id="490" name="Google Shape;490;p33"/>
          <p:cNvSpPr/>
          <p:nvPr/>
        </p:nvSpPr>
        <p:spPr>
          <a:xfrm rot="2699239">
            <a:off x="-31831" y="2977588"/>
            <a:ext cx="1915977" cy="621123"/>
          </a:xfrm>
          <a:prstGeom prst="curvedUp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1" name="Google Shape;491;p33"/>
          <p:cNvSpPr/>
          <p:nvPr/>
        </p:nvSpPr>
        <p:spPr>
          <a:xfrm rot="2293278">
            <a:off x="1691737" y="638010"/>
            <a:ext cx="1371261" cy="683828"/>
          </a:xfrm>
          <a:prstGeom prst="curvedDown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2" name="Google Shape;492;p33"/>
          <p:cNvSpPr/>
          <p:nvPr/>
        </p:nvSpPr>
        <p:spPr>
          <a:xfrm rot="1257443">
            <a:off x="2220259" y="2674069"/>
            <a:ext cx="1694282" cy="437862"/>
          </a:xfrm>
          <a:prstGeom prst="curvedUp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3" name="Google Shape;493;p33"/>
          <p:cNvSpPr/>
          <p:nvPr/>
        </p:nvSpPr>
        <p:spPr>
          <a:xfrm rot="5888072">
            <a:off x="1203672" y="2501885"/>
            <a:ext cx="1096129" cy="426428"/>
          </a:xfrm>
          <a:prstGeom prst="curvedUp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4" name="Google Shape;494;p33"/>
          <p:cNvSpPr/>
          <p:nvPr/>
        </p:nvSpPr>
        <p:spPr>
          <a:xfrm flipH="1" rot="8661320">
            <a:off x="3394026" y="904395"/>
            <a:ext cx="2390707" cy="745613"/>
          </a:xfrm>
          <a:prstGeom prst="curvedUp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5" name="Google Shape;495;p33"/>
          <p:cNvSpPr/>
          <p:nvPr/>
        </p:nvSpPr>
        <p:spPr>
          <a:xfrm rot="1481297">
            <a:off x="5467218" y="1917251"/>
            <a:ext cx="1810711" cy="745547"/>
          </a:xfrm>
          <a:prstGeom prst="curvedUpArrow">
            <a:avLst>
              <a:gd fmla="val 25000" name="adj1"/>
              <a:gd fmla="val 50000" name="adj2"/>
              <a:gd fmla="val 25000" name="adj3"/>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6" name="Google Shape;496;p33"/>
          <p:cNvSpPr/>
          <p:nvPr/>
        </p:nvSpPr>
        <p:spPr>
          <a:xfrm>
            <a:off x="928000" y="128175"/>
            <a:ext cx="489325" cy="57632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497" name="Google Shape;497;p33"/>
          <p:cNvSpPr/>
          <p:nvPr/>
        </p:nvSpPr>
        <p:spPr>
          <a:xfrm>
            <a:off x="6337021" y="3283750"/>
            <a:ext cx="321829" cy="363315"/>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498" name="Google Shape;498;p33"/>
          <p:cNvSpPr/>
          <p:nvPr/>
        </p:nvSpPr>
        <p:spPr>
          <a:xfrm>
            <a:off x="5695400" y="217225"/>
            <a:ext cx="398115" cy="359108"/>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499" name="Google Shape;499;p33"/>
          <p:cNvSpPr/>
          <p:nvPr/>
        </p:nvSpPr>
        <p:spPr>
          <a:xfrm>
            <a:off x="3999700" y="1763175"/>
            <a:ext cx="398115" cy="359108"/>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500" name="Google Shape;500;p33"/>
          <p:cNvSpPr/>
          <p:nvPr/>
        </p:nvSpPr>
        <p:spPr>
          <a:xfrm>
            <a:off x="5800850" y="1098863"/>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501" name="Google Shape;501;p33"/>
          <p:cNvSpPr/>
          <p:nvPr/>
        </p:nvSpPr>
        <p:spPr>
          <a:xfrm>
            <a:off x="6382613" y="3824900"/>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502" name="Google Shape;502;p33"/>
          <p:cNvSpPr/>
          <p:nvPr/>
        </p:nvSpPr>
        <p:spPr>
          <a:xfrm>
            <a:off x="7165438" y="1687175"/>
            <a:ext cx="398100" cy="35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Tx</a:t>
            </a:r>
            <a:endParaRPr>
              <a:latin typeface="Lato"/>
              <a:ea typeface="Lato"/>
              <a:cs typeface="Lato"/>
              <a:sym typeface="Lato"/>
            </a:endParaRPr>
          </a:p>
        </p:txBody>
      </p:sp>
      <p:sp>
        <p:nvSpPr>
          <p:cNvPr id="503" name="Google Shape;503;p33"/>
          <p:cNvSpPr/>
          <p:nvPr/>
        </p:nvSpPr>
        <p:spPr>
          <a:xfrm>
            <a:off x="7165438" y="1097650"/>
            <a:ext cx="398115" cy="359108"/>
          </a:xfrm>
          <a:custGeom>
            <a:rect b="b" l="l" r="r" t="t"/>
            <a:pathLst>
              <a:path extrusionOk="0" h="23053" w="19573">
                <a:moveTo>
                  <a:pt x="1740" y="8264"/>
                </a:moveTo>
                <a:lnTo>
                  <a:pt x="6524" y="15659"/>
                </a:lnTo>
                <a:lnTo>
                  <a:pt x="16964" y="0"/>
                </a:lnTo>
                <a:lnTo>
                  <a:pt x="19573" y="6524"/>
                </a:lnTo>
                <a:lnTo>
                  <a:pt x="6089" y="23053"/>
                </a:lnTo>
                <a:lnTo>
                  <a:pt x="0" y="15659"/>
                </a:lnTo>
                <a:close/>
              </a:path>
            </a:pathLst>
          </a:custGeom>
          <a:solidFill>
            <a:schemeClr val="dk1"/>
          </a:solidFill>
          <a:ln cap="flat" cmpd="sng" w="9525">
            <a:solidFill>
              <a:schemeClr val="dk2"/>
            </a:solidFill>
            <a:prstDash val="solid"/>
            <a:round/>
            <a:headEnd len="med" w="med" type="none"/>
            <a:tailEnd len="med" w="med" type="none"/>
          </a:ln>
        </p:spPr>
      </p:sp>
      <p:sp>
        <p:nvSpPr>
          <p:cNvPr id="504" name="Google Shape;504;p33"/>
          <p:cNvSpPr txBox="1"/>
          <p:nvPr/>
        </p:nvSpPr>
        <p:spPr>
          <a:xfrm rot="-553">
            <a:off x="2898318" y="383199"/>
            <a:ext cx="18633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latin typeface="Roboto Mono"/>
                <a:ea typeface="Roboto Mono"/>
                <a:cs typeface="Roboto Mono"/>
                <a:sym typeface="Roboto Mono"/>
              </a:rPr>
              <a:t>On Ledger Transactions Broadcast</a:t>
            </a:r>
            <a:endParaRPr b="1" sz="1600">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4"/>
          <p:cNvSpPr txBox="1"/>
          <p:nvPr>
            <p:ph type="title"/>
          </p:nvPr>
        </p:nvSpPr>
        <p:spPr>
          <a:xfrm>
            <a:off x="3969550" y="2357350"/>
            <a:ext cx="1293600" cy="64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000"/>
              <a:t>DAG</a:t>
            </a:r>
            <a:endParaRPr sz="3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IOTA</a:t>
            </a:r>
            <a:endParaRPr/>
          </a:p>
        </p:txBody>
      </p:sp>
      <p:sp>
        <p:nvSpPr>
          <p:cNvPr id="515" name="Google Shape;515;p35"/>
          <p:cNvSpPr txBox="1"/>
          <p:nvPr>
            <p:ph idx="1" type="body"/>
          </p:nvPr>
        </p:nvSpPr>
        <p:spPr>
          <a:xfrm>
            <a:off x="729450" y="1853850"/>
            <a:ext cx="7688700" cy="24861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374151"/>
              </a:buClr>
              <a:buSzPts val="1200"/>
              <a:buFont typeface="Roboto"/>
              <a:buChar char="●"/>
            </a:pPr>
            <a:r>
              <a:rPr lang="en-GB">
                <a:solidFill>
                  <a:srgbClr val="3C3C3B"/>
                </a:solidFill>
                <a:highlight>
                  <a:srgbClr val="FFFFFF"/>
                </a:highlight>
                <a:latin typeface="Arial"/>
                <a:ea typeface="Arial"/>
                <a:cs typeface="Arial"/>
                <a:sym typeface="Arial"/>
              </a:rPr>
              <a:t>The Tangle, which is the data structure behind IOTA, is a particular kind of directed graph, which holds </a:t>
            </a:r>
            <a:r>
              <a:rPr i="1" lang="en-GB">
                <a:solidFill>
                  <a:srgbClr val="3C3C3B"/>
                </a:solidFill>
                <a:highlight>
                  <a:srgbClr val="FFFFFF"/>
                </a:highlight>
                <a:latin typeface="Arial"/>
                <a:ea typeface="Arial"/>
                <a:cs typeface="Arial"/>
                <a:sym typeface="Arial"/>
              </a:rPr>
              <a:t>transactions</a:t>
            </a:r>
            <a:endParaRPr sz="1200">
              <a:solidFill>
                <a:srgbClr val="374151"/>
              </a:solidFill>
              <a:latin typeface="Roboto"/>
              <a:ea typeface="Roboto"/>
              <a:cs typeface="Roboto"/>
              <a:sym typeface="Roboto"/>
            </a:endParaRPr>
          </a:p>
          <a:p>
            <a:pPr indent="-311150" lvl="0" marL="457200" rtl="0" algn="l">
              <a:lnSpc>
                <a:spcPct val="100000"/>
              </a:lnSpc>
              <a:spcBef>
                <a:spcPts val="0"/>
              </a:spcBef>
              <a:spcAft>
                <a:spcPts val="0"/>
              </a:spcAft>
              <a:buClr>
                <a:srgbClr val="374151"/>
              </a:buClr>
              <a:buSzPts val="1300"/>
              <a:buFont typeface="Roboto"/>
              <a:buChar char="●"/>
            </a:pPr>
            <a:r>
              <a:rPr lang="en-GB">
                <a:solidFill>
                  <a:srgbClr val="3C3C3B"/>
                </a:solidFill>
                <a:latin typeface="Roboto"/>
                <a:ea typeface="Roboto"/>
                <a:cs typeface="Roboto"/>
                <a:sym typeface="Roboto"/>
              </a:rPr>
              <a:t>Each transaction is represented as a vertex in the graph. When a new transaction joins the tangle, it chooses two previous transactions to </a:t>
            </a:r>
            <a:r>
              <a:rPr i="1" lang="en-GB">
                <a:solidFill>
                  <a:srgbClr val="3C3C3B"/>
                </a:solidFill>
                <a:latin typeface="Roboto"/>
                <a:ea typeface="Roboto"/>
                <a:cs typeface="Roboto"/>
                <a:sym typeface="Roboto"/>
              </a:rPr>
              <a:t>approve</a:t>
            </a:r>
            <a:endParaRPr i="1">
              <a:solidFill>
                <a:srgbClr val="3C3C3B"/>
              </a:solidFill>
              <a:latin typeface="Roboto"/>
              <a:ea typeface="Roboto"/>
              <a:cs typeface="Roboto"/>
              <a:sym typeface="Roboto"/>
            </a:endParaRPr>
          </a:p>
          <a:p>
            <a:pPr indent="-311150" lvl="0" marL="457200" rtl="0" algn="l">
              <a:lnSpc>
                <a:spcPct val="100000"/>
              </a:lnSpc>
              <a:spcBef>
                <a:spcPts val="0"/>
              </a:spcBef>
              <a:spcAft>
                <a:spcPts val="0"/>
              </a:spcAft>
              <a:buClr>
                <a:srgbClr val="3C3C3B"/>
              </a:buClr>
              <a:buSzPts val="1300"/>
              <a:buFont typeface="Roboto"/>
              <a:buChar char="●"/>
            </a:pPr>
            <a:r>
              <a:rPr lang="en-GB">
                <a:solidFill>
                  <a:srgbClr val="3C3C3B"/>
                </a:solidFill>
                <a:highlight>
                  <a:srgbClr val="FFFFFF"/>
                </a:highlight>
                <a:latin typeface="Arial"/>
                <a:ea typeface="Arial"/>
                <a:cs typeface="Arial"/>
                <a:sym typeface="Arial"/>
              </a:rPr>
              <a:t>Unapproved transactions </a:t>
            </a:r>
            <a:r>
              <a:rPr i="1" lang="en-GB">
                <a:solidFill>
                  <a:srgbClr val="3C3C3B"/>
                </a:solidFill>
                <a:highlight>
                  <a:srgbClr val="FFFFFF"/>
                </a:highlight>
                <a:latin typeface="Arial"/>
                <a:ea typeface="Arial"/>
                <a:cs typeface="Arial"/>
                <a:sym typeface="Arial"/>
              </a:rPr>
              <a:t>tips</a:t>
            </a:r>
            <a:endParaRPr i="1">
              <a:solidFill>
                <a:srgbClr val="3C3C3B"/>
              </a:solidFill>
              <a:highlight>
                <a:srgbClr val="FFFFFF"/>
              </a:highlight>
              <a:latin typeface="Arial"/>
              <a:ea typeface="Arial"/>
              <a:cs typeface="Arial"/>
              <a:sym typeface="Arial"/>
            </a:endParaRPr>
          </a:p>
          <a:p>
            <a:pPr indent="-311150" lvl="0" marL="457200" rtl="0" algn="l">
              <a:lnSpc>
                <a:spcPct val="100000"/>
              </a:lnSpc>
              <a:spcBef>
                <a:spcPts val="0"/>
              </a:spcBef>
              <a:spcAft>
                <a:spcPts val="0"/>
              </a:spcAft>
              <a:buClr>
                <a:srgbClr val="3C3C3B"/>
              </a:buClr>
              <a:buSzPts val="1300"/>
              <a:buFont typeface="Arial"/>
              <a:buChar char="●"/>
            </a:pPr>
            <a:r>
              <a:rPr lang="en-GB">
                <a:solidFill>
                  <a:srgbClr val="3C3C3B"/>
                </a:solidFill>
                <a:highlight>
                  <a:srgbClr val="FFFFFF"/>
                </a:highlight>
                <a:latin typeface="Arial"/>
                <a:ea typeface="Arial"/>
                <a:cs typeface="Arial"/>
                <a:sym typeface="Arial"/>
              </a:rPr>
              <a:t>The strategy for choosing which two tips to approve is very important, and is the key to IOTA’s unique technology</a:t>
            </a:r>
            <a:endParaRPr i="1">
              <a:solidFill>
                <a:srgbClr val="3C3C3B"/>
              </a:solidFill>
              <a:highlight>
                <a:srgbClr val="FFFFFF"/>
              </a:highlight>
              <a:latin typeface="Arial"/>
              <a:ea typeface="Arial"/>
              <a:cs typeface="Arial"/>
              <a:sym typeface="Arial"/>
            </a:endParaRPr>
          </a:p>
          <a:p>
            <a:pPr indent="0" lvl="0" marL="457200" rtl="0" algn="l">
              <a:spcBef>
                <a:spcPts val="0"/>
              </a:spcBef>
              <a:spcAft>
                <a:spcPts val="1200"/>
              </a:spcAft>
              <a:buNone/>
            </a:pPr>
            <a:r>
              <a:t/>
            </a:r>
            <a:endParaRPr>
              <a:solidFill>
                <a:srgbClr val="3C3C3B"/>
              </a:solidFill>
              <a:highlight>
                <a:srgbClr val="FFFFFF"/>
              </a:highlight>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6"/>
          <p:cNvSpPr txBox="1"/>
          <p:nvPr>
            <p:ph type="title"/>
          </p:nvPr>
        </p:nvSpPr>
        <p:spPr>
          <a:xfrm>
            <a:off x="729450" y="6342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Transaction Rates and Network Latency</a:t>
            </a:r>
            <a:endParaRPr/>
          </a:p>
        </p:txBody>
      </p:sp>
      <p:sp>
        <p:nvSpPr>
          <p:cNvPr id="521" name="Google Shape;521;p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22" name="Google Shape;522;p36"/>
          <p:cNvPicPr preferRelativeResize="0"/>
          <p:nvPr/>
        </p:nvPicPr>
        <p:blipFill>
          <a:blip r:embed="rId3">
            <a:alphaModFix/>
          </a:blip>
          <a:stretch>
            <a:fillRect/>
          </a:stretch>
        </p:blipFill>
        <p:spPr>
          <a:xfrm>
            <a:off x="729450" y="1459899"/>
            <a:ext cx="7533324" cy="2963701"/>
          </a:xfrm>
          <a:prstGeom prst="rect">
            <a:avLst/>
          </a:prstGeom>
          <a:noFill/>
          <a:ln>
            <a:noFill/>
          </a:ln>
        </p:spPr>
      </p:pic>
      <p:sp>
        <p:nvSpPr>
          <p:cNvPr id="523" name="Google Shape;523;p36"/>
          <p:cNvSpPr txBox="1"/>
          <p:nvPr/>
        </p:nvSpPr>
        <p:spPr>
          <a:xfrm>
            <a:off x="750675" y="4538250"/>
            <a:ext cx="7581600" cy="4704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GB" sz="1300">
                <a:solidFill>
                  <a:srgbClr val="3C3C3B"/>
                </a:solidFill>
                <a:highlight>
                  <a:srgbClr val="FFFFFF"/>
                </a:highlight>
              </a:rPr>
              <a:t> </a:t>
            </a:r>
            <a:r>
              <a:rPr lang="en-GB" sz="1300">
                <a:highlight>
                  <a:srgbClr val="FFFFFF"/>
                </a:highlight>
                <a:uFill>
                  <a:noFill/>
                </a:uFill>
                <a:hlinkClick r:id="rId4"/>
              </a:rPr>
              <a:t>Poisson point process</a:t>
            </a:r>
            <a:r>
              <a:rPr lang="en-GB" sz="1300">
                <a:solidFill>
                  <a:srgbClr val="3C3C3B"/>
                </a:solidFill>
                <a:highlight>
                  <a:srgbClr val="FFFFFF"/>
                </a:highlight>
              </a:rPr>
              <a:t> </a:t>
            </a:r>
            <a:r>
              <a:rPr lang="en-GB" sz="1300">
                <a:solidFill>
                  <a:srgbClr val="1A1A1A"/>
                </a:solidFill>
                <a:highlight>
                  <a:srgbClr val="FFFFFF"/>
                </a:highlight>
              </a:rPr>
              <a:t>models how transactions should arrive</a:t>
            </a:r>
            <a:endParaRPr sz="1300">
              <a:solidFill>
                <a:srgbClr val="1A1A1A"/>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7"/>
          <p:cNvSpPr txBox="1"/>
          <p:nvPr>
            <p:ph type="title"/>
          </p:nvPr>
        </p:nvSpPr>
        <p:spPr>
          <a:xfrm>
            <a:off x="893375" y="41843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DAG behaves like traditional blockchain when </a:t>
            </a:r>
            <a:r>
              <a:rPr b="0" lang="en-GB" sz="1800">
                <a:solidFill>
                  <a:srgbClr val="3C3C3B"/>
                </a:solidFill>
                <a:highlight>
                  <a:srgbClr val="FFFFFF"/>
                </a:highlight>
                <a:latin typeface="Arial"/>
                <a:ea typeface="Arial"/>
                <a:cs typeface="Arial"/>
                <a:sym typeface="Arial"/>
              </a:rPr>
              <a:t>the rate of incoming transactions is very small</a:t>
            </a:r>
            <a:endParaRPr sz="1800"/>
          </a:p>
        </p:txBody>
      </p:sp>
      <p:sp>
        <p:nvSpPr>
          <p:cNvPr id="529" name="Google Shape;529;p37"/>
          <p:cNvSpPr txBox="1"/>
          <p:nvPr>
            <p:ph idx="1" type="body"/>
          </p:nvPr>
        </p:nvSpPr>
        <p:spPr>
          <a:xfrm>
            <a:off x="727650" y="1289950"/>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30" name="Google Shape;530;p37"/>
          <p:cNvPicPr preferRelativeResize="0"/>
          <p:nvPr/>
        </p:nvPicPr>
        <p:blipFill>
          <a:blip r:embed="rId3">
            <a:alphaModFix/>
          </a:blip>
          <a:stretch>
            <a:fillRect/>
          </a:stretch>
        </p:blipFill>
        <p:spPr>
          <a:xfrm>
            <a:off x="799375" y="1360285"/>
            <a:ext cx="7459449" cy="27626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8"/>
          <p:cNvSpPr txBox="1"/>
          <p:nvPr>
            <p:ph type="title"/>
          </p:nvPr>
        </p:nvSpPr>
        <p:spPr>
          <a:xfrm>
            <a:off x="2406600" y="2388000"/>
            <a:ext cx="4330800" cy="90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Tip Selection Algorithms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39"/>
          <p:cNvSpPr txBox="1"/>
          <p:nvPr>
            <p:ph type="title"/>
          </p:nvPr>
        </p:nvSpPr>
        <p:spPr>
          <a:xfrm>
            <a:off x="729450" y="626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Random Walk </a:t>
            </a:r>
            <a:endParaRPr/>
          </a:p>
        </p:txBody>
      </p:sp>
      <p:pic>
        <p:nvPicPr>
          <p:cNvPr id="541" name="Google Shape;541;p39"/>
          <p:cNvPicPr preferRelativeResize="0"/>
          <p:nvPr/>
        </p:nvPicPr>
        <p:blipFill>
          <a:blip r:embed="rId3">
            <a:alphaModFix/>
          </a:blip>
          <a:stretch>
            <a:fillRect/>
          </a:stretch>
        </p:blipFill>
        <p:spPr>
          <a:xfrm>
            <a:off x="836375" y="1367250"/>
            <a:ext cx="7202250" cy="3077475"/>
          </a:xfrm>
          <a:prstGeom prst="rect">
            <a:avLst/>
          </a:prstGeom>
          <a:noFill/>
          <a:ln>
            <a:noFill/>
          </a:ln>
        </p:spPr>
      </p:pic>
      <p:sp>
        <p:nvSpPr>
          <p:cNvPr id="542" name="Google Shape;542;p39"/>
          <p:cNvSpPr txBox="1"/>
          <p:nvPr/>
        </p:nvSpPr>
        <p:spPr>
          <a:xfrm>
            <a:off x="876650" y="4555200"/>
            <a:ext cx="7121700" cy="5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3C3C3B"/>
                </a:solidFill>
                <a:highlight>
                  <a:srgbClr val="FFFFFF"/>
                </a:highlight>
              </a:rPr>
              <a:t>At each step it goes to one of the transactions which directly approved the current transaction and chooses the transaction with equal probability</a:t>
            </a:r>
            <a:endParaRPr sz="1300">
              <a:solidFill>
                <a:schemeClr val="accen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0"/>
          <p:cNvSpPr txBox="1"/>
          <p:nvPr>
            <p:ph type="title"/>
          </p:nvPr>
        </p:nvSpPr>
        <p:spPr>
          <a:xfrm>
            <a:off x="750675" y="667275"/>
            <a:ext cx="7667400" cy="4515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400"/>
              </a:spcAft>
              <a:buNone/>
            </a:pPr>
            <a:r>
              <a:rPr b="0" lang="en-GB" sz="2300">
                <a:solidFill>
                  <a:srgbClr val="000000"/>
                </a:solidFill>
                <a:latin typeface="Raleway SemiBold"/>
                <a:ea typeface="Raleway SemiBold"/>
                <a:cs typeface="Raleway SemiBold"/>
                <a:sym typeface="Raleway SemiBold"/>
              </a:rPr>
              <a:t>Weighted Random Walk and </a:t>
            </a:r>
            <a:r>
              <a:rPr b="0" lang="en-GB" sz="2300">
                <a:solidFill>
                  <a:srgbClr val="000000"/>
                </a:solidFill>
                <a:latin typeface="Raleway SemiBold"/>
                <a:ea typeface="Raleway SemiBold"/>
                <a:cs typeface="Raleway SemiBold"/>
                <a:sym typeface="Raleway SemiBold"/>
              </a:rPr>
              <a:t>Cumulative</a:t>
            </a:r>
            <a:r>
              <a:rPr b="0" lang="en-GB" sz="2300">
                <a:solidFill>
                  <a:srgbClr val="000000"/>
                </a:solidFill>
                <a:latin typeface="Raleway SemiBold"/>
                <a:ea typeface="Raleway SemiBold"/>
                <a:cs typeface="Raleway SemiBold"/>
                <a:sym typeface="Raleway SemiBold"/>
              </a:rPr>
              <a:t> Weight</a:t>
            </a:r>
            <a:endParaRPr b="0" sz="2300">
              <a:latin typeface="Raleway SemiBold"/>
              <a:ea typeface="Raleway SemiBold"/>
              <a:cs typeface="Raleway SemiBold"/>
              <a:sym typeface="Raleway SemiBold"/>
            </a:endParaRPr>
          </a:p>
        </p:txBody>
      </p:sp>
      <p:pic>
        <p:nvPicPr>
          <p:cNvPr id="548" name="Google Shape;548;p40"/>
          <p:cNvPicPr preferRelativeResize="0"/>
          <p:nvPr/>
        </p:nvPicPr>
        <p:blipFill>
          <a:blip r:embed="rId3">
            <a:alphaModFix/>
          </a:blip>
          <a:stretch>
            <a:fillRect/>
          </a:stretch>
        </p:blipFill>
        <p:spPr>
          <a:xfrm>
            <a:off x="855975" y="1297800"/>
            <a:ext cx="8041476" cy="3067126"/>
          </a:xfrm>
          <a:prstGeom prst="rect">
            <a:avLst/>
          </a:prstGeom>
          <a:noFill/>
          <a:ln>
            <a:noFill/>
          </a:ln>
        </p:spPr>
      </p:pic>
      <p:sp>
        <p:nvSpPr>
          <p:cNvPr id="549" name="Google Shape;549;p40"/>
          <p:cNvSpPr txBox="1"/>
          <p:nvPr/>
        </p:nvSpPr>
        <p:spPr>
          <a:xfrm>
            <a:off x="868300" y="4495475"/>
            <a:ext cx="8052000" cy="6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3C3C3B"/>
                </a:solidFill>
                <a:highlight>
                  <a:srgbClr val="FFFFFF"/>
                </a:highlight>
              </a:rPr>
              <a:t>A lazy tip approves old transactions rather than recent ones. It will only broadcasts its own transactions based on old data.</a:t>
            </a:r>
            <a:endParaRPr sz="1300">
              <a:solidFill>
                <a:schemeClr val="accen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pic>
        <p:nvPicPr>
          <p:cNvPr id="554" name="Google Shape;554;p41"/>
          <p:cNvPicPr preferRelativeResize="0"/>
          <p:nvPr/>
        </p:nvPicPr>
        <p:blipFill>
          <a:blip r:embed="rId3">
            <a:alphaModFix/>
          </a:blip>
          <a:stretch>
            <a:fillRect/>
          </a:stretch>
        </p:blipFill>
        <p:spPr>
          <a:xfrm>
            <a:off x="847125" y="1341800"/>
            <a:ext cx="8009101" cy="2822200"/>
          </a:xfrm>
          <a:prstGeom prst="rect">
            <a:avLst/>
          </a:prstGeom>
          <a:noFill/>
          <a:ln>
            <a:noFill/>
          </a:ln>
        </p:spPr>
      </p:pic>
      <p:sp>
        <p:nvSpPr>
          <p:cNvPr id="555" name="Google Shape;555;p41"/>
          <p:cNvSpPr txBox="1"/>
          <p:nvPr/>
        </p:nvSpPr>
        <p:spPr>
          <a:xfrm>
            <a:off x="836225" y="4270925"/>
            <a:ext cx="8041500" cy="609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rgbClr val="3C3C3B"/>
              </a:buClr>
              <a:buSzPts val="1300"/>
              <a:buChar char="●"/>
            </a:pPr>
            <a:r>
              <a:rPr lang="en-GB" sz="1300">
                <a:solidFill>
                  <a:srgbClr val="3C3C3B"/>
                </a:solidFill>
                <a:highlight>
                  <a:srgbClr val="FFFFFF"/>
                </a:highlight>
              </a:rPr>
              <a:t>Strategy will be to </a:t>
            </a:r>
            <a:r>
              <a:rPr i="1" lang="en-GB" sz="1300">
                <a:solidFill>
                  <a:srgbClr val="3C3C3B"/>
                </a:solidFill>
                <a:highlight>
                  <a:srgbClr val="FFFFFF"/>
                </a:highlight>
              </a:rPr>
              <a:t>bias</a:t>
            </a:r>
            <a:r>
              <a:rPr lang="en-GB" sz="1300">
                <a:solidFill>
                  <a:srgbClr val="3C3C3B"/>
                </a:solidFill>
                <a:highlight>
                  <a:srgbClr val="FFFFFF"/>
                </a:highlight>
              </a:rPr>
              <a:t> our random walk, so we are less likely to choose lazy tips.</a:t>
            </a:r>
            <a:endParaRPr sz="1300">
              <a:solidFill>
                <a:srgbClr val="3C3C3B"/>
              </a:solidFill>
              <a:highlight>
                <a:srgbClr val="FFFFFF"/>
              </a:highlight>
            </a:endParaRPr>
          </a:p>
          <a:p>
            <a:pPr indent="-311150" lvl="0" marL="457200" rtl="0" algn="l">
              <a:spcBef>
                <a:spcPts val="0"/>
              </a:spcBef>
              <a:spcAft>
                <a:spcPts val="0"/>
              </a:spcAft>
              <a:buClr>
                <a:srgbClr val="3C3C3B"/>
              </a:buClr>
              <a:buSzPts val="1300"/>
              <a:buChar char="●"/>
            </a:pPr>
            <a:r>
              <a:rPr lang="en-GB" sz="1300">
                <a:solidFill>
                  <a:srgbClr val="3C3C3B"/>
                </a:solidFill>
                <a:highlight>
                  <a:srgbClr val="FFFFFF"/>
                </a:highlight>
              </a:rPr>
              <a:t>Cumulative weight is count how many approvers a transaction has, and add one.</a:t>
            </a:r>
            <a:endParaRPr sz="1300">
              <a:solidFill>
                <a:srgbClr val="3C3C3B"/>
              </a:solidFill>
              <a:highlight>
                <a:srgbClr val="FFFFFF"/>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5000">
                <a:latin typeface="Lato"/>
                <a:ea typeface="Lato"/>
                <a:cs typeface="Lato"/>
                <a:sym typeface="Lato"/>
              </a:rPr>
              <a:t>Here </a:t>
            </a:r>
            <a:endParaRPr sz="5000">
              <a:latin typeface="Lato"/>
              <a:ea typeface="Lato"/>
              <a:cs typeface="Lato"/>
              <a:sym typeface="Lato"/>
            </a:endParaRPr>
          </a:p>
          <a:p>
            <a:pPr indent="0" lvl="0" marL="0" rtl="0" algn="l">
              <a:spcBef>
                <a:spcPts val="0"/>
              </a:spcBef>
              <a:spcAft>
                <a:spcPts val="0"/>
              </a:spcAft>
              <a:buNone/>
            </a:pPr>
            <a:r>
              <a:rPr lang="en-GB" sz="5000">
                <a:latin typeface="Lato"/>
                <a:ea typeface="Lato"/>
                <a:cs typeface="Lato"/>
                <a:sym typeface="Lato"/>
              </a:rPr>
              <a:t>the problem </a:t>
            </a:r>
            <a:endParaRPr sz="5000">
              <a:latin typeface="Lato"/>
              <a:ea typeface="Lato"/>
              <a:cs typeface="Lato"/>
              <a:sym typeface="Lato"/>
            </a:endParaRPr>
          </a:p>
          <a:p>
            <a:pPr indent="0" lvl="0" marL="0" rtl="0" algn="l">
              <a:spcBef>
                <a:spcPts val="0"/>
              </a:spcBef>
              <a:spcAft>
                <a:spcPts val="0"/>
              </a:spcAft>
              <a:buNone/>
            </a:pPr>
            <a:r>
              <a:rPr lang="en-GB" sz="5000">
                <a:latin typeface="Lato"/>
                <a:ea typeface="Lato"/>
                <a:cs typeface="Lato"/>
                <a:sym typeface="Lato"/>
              </a:rPr>
              <a:t>arises</a:t>
            </a:r>
            <a:endParaRPr sz="5000">
              <a:latin typeface="Lato"/>
              <a:ea typeface="Lato"/>
              <a:cs typeface="Lato"/>
              <a:sym typeface="Lato"/>
            </a:endParaRPr>
          </a:p>
        </p:txBody>
      </p:sp>
      <p:sp>
        <p:nvSpPr>
          <p:cNvPr id="561" name="Google Shape;561;p42"/>
          <p:cNvSpPr txBox="1"/>
          <p:nvPr>
            <p:ph idx="1" type="subTitle"/>
          </p:nvPr>
        </p:nvSpPr>
        <p:spPr>
          <a:xfrm>
            <a:off x="3895477" y="3849125"/>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700"/>
              <a:t>How the recent transactions(tip) will get </a:t>
            </a:r>
            <a:r>
              <a:rPr lang="en-GB" sz="1700"/>
              <a:t>verified</a:t>
            </a:r>
            <a:r>
              <a:rPr lang="en-GB" sz="1700"/>
              <a:t>?</a:t>
            </a:r>
            <a:endParaRPr sz="1700"/>
          </a:p>
          <a:p>
            <a:pPr indent="0" lvl="0" marL="0" rtl="0" algn="l">
              <a:spcBef>
                <a:spcPts val="0"/>
              </a:spcBef>
              <a:spcAft>
                <a:spcPts val="0"/>
              </a:spcAft>
              <a:buNone/>
            </a:pPr>
            <a:r>
              <a:rPr lang="en-GB" sz="1700"/>
              <a:t>How the DAG structure would be maintained?</a:t>
            </a: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 </a:t>
            </a:r>
            <a:r>
              <a:rPr b="0" lang="en-GB" sz="1494">
                <a:highlight>
                  <a:schemeClr val="lt1"/>
                </a:highlight>
                <a:latin typeface="Lato"/>
                <a:ea typeface="Lato"/>
                <a:cs typeface="Lato"/>
                <a:sym typeface="Lato"/>
              </a:rPr>
              <a:t>Add subsequent transactions with random 2 parents from the latest 5(Based on the Timestamp)</a:t>
            </a:r>
            <a:endParaRPr b="0" sz="1494">
              <a:highlight>
                <a:schemeClr val="lt1"/>
              </a:highlight>
              <a:latin typeface="Lato"/>
              <a:ea typeface="Lato"/>
              <a:cs typeface="Lato"/>
              <a:sym typeface="Lato"/>
            </a:endParaRPr>
          </a:p>
          <a:p>
            <a:pPr indent="0" lvl="0" marL="0" rtl="0" algn="l">
              <a:spcBef>
                <a:spcPts val="0"/>
              </a:spcBef>
              <a:spcAft>
                <a:spcPts val="0"/>
              </a:spcAft>
              <a:buNone/>
            </a:pPr>
            <a:r>
              <a:t/>
            </a:r>
            <a:endParaRPr/>
          </a:p>
        </p:txBody>
      </p:sp>
      <p:sp>
        <p:nvSpPr>
          <p:cNvPr id="567" name="Google Shape;567;p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68" name="Google Shape;568;p43"/>
          <p:cNvPicPr preferRelativeResize="0"/>
          <p:nvPr/>
        </p:nvPicPr>
        <p:blipFill>
          <a:blip r:embed="rId3">
            <a:alphaModFix/>
          </a:blip>
          <a:stretch>
            <a:fillRect/>
          </a:stretch>
        </p:blipFill>
        <p:spPr>
          <a:xfrm>
            <a:off x="628425" y="1985361"/>
            <a:ext cx="7533300" cy="2963700"/>
          </a:xfrm>
          <a:prstGeom prst="rect">
            <a:avLst/>
          </a:prstGeom>
          <a:noFill/>
          <a:ln cap="flat" cmpd="sng" w="9525">
            <a:solidFill>
              <a:schemeClr val="lt1"/>
            </a:solidFill>
            <a:prstDash val="solid"/>
            <a:round/>
            <a:headEnd len="sm" w="sm" type="none"/>
            <a:tailEnd len="sm" w="sm" type="none"/>
          </a:ln>
        </p:spPr>
      </p:pic>
      <p:sp>
        <p:nvSpPr>
          <p:cNvPr id="569" name="Google Shape;569;p43"/>
          <p:cNvSpPr/>
          <p:nvPr/>
        </p:nvSpPr>
        <p:spPr>
          <a:xfrm rot="2833725">
            <a:off x="2717240" y="3478969"/>
            <a:ext cx="2889515" cy="202058"/>
          </a:xfrm>
          <a:custGeom>
            <a:rect b="b" l="l" r="r" t="t"/>
            <a:pathLst>
              <a:path extrusionOk="0" h="8082" w="115576">
                <a:moveTo>
                  <a:pt x="0" y="0"/>
                </a:moveTo>
                <a:cubicBezTo>
                  <a:pt x="23236" y="4357"/>
                  <a:pt x="46882" y="8968"/>
                  <a:pt x="70493" y="7787"/>
                </a:cubicBezTo>
                <a:cubicBezTo>
                  <a:pt x="78535" y="7385"/>
                  <a:pt x="85842" y="2440"/>
                  <a:pt x="93854" y="1639"/>
                </a:cubicBezTo>
                <a:cubicBezTo>
                  <a:pt x="101060" y="918"/>
                  <a:pt x="108334" y="1229"/>
                  <a:pt x="115576" y="1229"/>
                </a:cubicBezTo>
              </a:path>
            </a:pathLst>
          </a:custGeom>
          <a:noFill/>
          <a:ln cap="flat" cmpd="sng" w="228600">
            <a:solidFill>
              <a:schemeClr val="lt1"/>
            </a:solidFill>
            <a:prstDash val="solid"/>
            <a:round/>
            <a:headEnd len="med" w="med" type="none"/>
            <a:tailEnd len="med" w="med" type="none"/>
          </a:ln>
        </p:spPr>
      </p:sp>
      <p:sp>
        <p:nvSpPr>
          <p:cNvPr id="570" name="Google Shape;570;p43"/>
          <p:cNvSpPr/>
          <p:nvPr/>
        </p:nvSpPr>
        <p:spPr>
          <a:xfrm rot="4128327">
            <a:off x="3302148" y="3448762"/>
            <a:ext cx="982198" cy="450853"/>
          </a:xfrm>
          <a:custGeom>
            <a:rect b="b" l="l" r="r" t="t"/>
            <a:pathLst>
              <a:path extrusionOk="0" h="18033" w="43853">
                <a:moveTo>
                  <a:pt x="43853" y="0"/>
                </a:moveTo>
                <a:cubicBezTo>
                  <a:pt x="36751" y="888"/>
                  <a:pt x="30584" y="5408"/>
                  <a:pt x="24181" y="8606"/>
                </a:cubicBezTo>
                <a:cubicBezTo>
                  <a:pt x="16441" y="12471"/>
                  <a:pt x="3869" y="10295"/>
                  <a:pt x="0" y="18033"/>
                </a:cubicBezTo>
              </a:path>
            </a:pathLst>
          </a:custGeom>
          <a:noFill/>
          <a:ln cap="flat" cmpd="sng" w="152400">
            <a:solidFill>
              <a:schemeClr val="lt1"/>
            </a:solidFill>
            <a:prstDash val="solid"/>
            <a:round/>
            <a:headEnd len="med" w="med" type="none"/>
            <a:tailEnd len="med" w="med" type="none"/>
          </a:ln>
        </p:spPr>
      </p:sp>
      <p:sp>
        <p:nvSpPr>
          <p:cNvPr id="571" name="Google Shape;571;p43"/>
          <p:cNvSpPr/>
          <p:nvPr/>
        </p:nvSpPr>
        <p:spPr>
          <a:xfrm>
            <a:off x="2952900" y="3784875"/>
            <a:ext cx="30750" cy="30750"/>
          </a:xfrm>
          <a:custGeom>
            <a:rect b="b" l="l" r="r" t="t"/>
            <a:pathLst>
              <a:path extrusionOk="0" h="1230" w="1230">
                <a:moveTo>
                  <a:pt x="0" y="1230"/>
                </a:moveTo>
                <a:cubicBezTo>
                  <a:pt x="615" y="615"/>
                  <a:pt x="615" y="615"/>
                  <a:pt x="1230" y="0"/>
                </a:cubicBezTo>
              </a:path>
            </a:pathLst>
          </a:custGeom>
          <a:noFill/>
          <a:ln cap="flat" cmpd="sng" w="152400">
            <a:solidFill>
              <a:schemeClr val="lt1"/>
            </a:solidFill>
            <a:prstDash val="solid"/>
            <a:round/>
            <a:headEnd len="med" w="med" type="none"/>
            <a:tailEnd len="med" w="med" type="none"/>
          </a:ln>
        </p:spPr>
      </p:sp>
      <p:cxnSp>
        <p:nvCxnSpPr>
          <p:cNvPr id="572" name="Google Shape;572;p43"/>
          <p:cNvCxnSpPr/>
          <p:nvPr/>
        </p:nvCxnSpPr>
        <p:spPr>
          <a:xfrm flipH="1" rot="10800000">
            <a:off x="4305375" y="2371025"/>
            <a:ext cx="123000" cy="758100"/>
          </a:xfrm>
          <a:prstGeom prst="straightConnector1">
            <a:avLst/>
          </a:prstGeom>
          <a:noFill/>
          <a:ln cap="flat" cmpd="sng" w="9525">
            <a:solidFill>
              <a:schemeClr val="dk2"/>
            </a:solidFill>
            <a:prstDash val="solid"/>
            <a:round/>
            <a:headEnd len="med" w="med" type="none"/>
            <a:tailEnd len="med" w="med" type="triangle"/>
          </a:ln>
        </p:spPr>
      </p:cxnSp>
      <p:cxnSp>
        <p:nvCxnSpPr>
          <p:cNvPr id="573" name="Google Shape;573;p43"/>
          <p:cNvCxnSpPr/>
          <p:nvPr/>
        </p:nvCxnSpPr>
        <p:spPr>
          <a:xfrm rot="10800000">
            <a:off x="3362825" y="3098400"/>
            <a:ext cx="819600" cy="133200"/>
          </a:xfrm>
          <a:prstGeom prst="straightConnector1">
            <a:avLst/>
          </a:prstGeom>
          <a:noFill/>
          <a:ln cap="flat" cmpd="sng" w="9525">
            <a:solidFill>
              <a:schemeClr val="dk2"/>
            </a:solidFill>
            <a:prstDash val="solid"/>
            <a:round/>
            <a:headEnd len="med" w="med" type="none"/>
            <a:tailEnd len="med" w="med" type="triangle"/>
          </a:ln>
        </p:spPr>
      </p:cxnSp>
      <p:sp>
        <p:nvSpPr>
          <p:cNvPr id="574" name="Google Shape;574;p43"/>
          <p:cNvSpPr/>
          <p:nvPr/>
        </p:nvSpPr>
        <p:spPr>
          <a:xfrm>
            <a:off x="4827925" y="3498000"/>
            <a:ext cx="307500" cy="3177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75" name="Google Shape;575;p43"/>
          <p:cNvSpPr txBox="1"/>
          <p:nvPr/>
        </p:nvSpPr>
        <p:spPr>
          <a:xfrm>
            <a:off x="4894525" y="3462100"/>
            <a:ext cx="174300" cy="2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latin typeface="Lato"/>
                <a:ea typeface="Lato"/>
                <a:cs typeface="Lato"/>
                <a:sym typeface="Lato"/>
              </a:rPr>
              <a:t>4</a:t>
            </a:r>
            <a:endParaRPr sz="1300">
              <a:solidFill>
                <a:schemeClr val="dk2"/>
              </a:solidFill>
              <a:latin typeface="Lato"/>
              <a:ea typeface="Lato"/>
              <a:cs typeface="Lato"/>
              <a:sym typeface="Lato"/>
            </a:endParaRPr>
          </a:p>
        </p:txBody>
      </p:sp>
      <p:cxnSp>
        <p:nvCxnSpPr>
          <p:cNvPr id="576" name="Google Shape;576;p43"/>
          <p:cNvCxnSpPr>
            <a:stCxn id="575" idx="3"/>
          </p:cNvCxnSpPr>
          <p:nvPr/>
        </p:nvCxnSpPr>
        <p:spPr>
          <a:xfrm rot="10800000">
            <a:off x="4571725" y="2309500"/>
            <a:ext cx="497100" cy="1270500"/>
          </a:xfrm>
          <a:prstGeom prst="straightConnector1">
            <a:avLst/>
          </a:prstGeom>
          <a:noFill/>
          <a:ln cap="flat" cmpd="sng" w="9525">
            <a:solidFill>
              <a:schemeClr val="dk2"/>
            </a:solidFill>
            <a:prstDash val="solid"/>
            <a:round/>
            <a:headEnd len="med" w="med" type="none"/>
            <a:tailEnd len="med" w="med" type="triangle"/>
          </a:ln>
        </p:spPr>
      </p:cxnSp>
      <p:cxnSp>
        <p:nvCxnSpPr>
          <p:cNvPr id="577" name="Google Shape;577;p43"/>
          <p:cNvCxnSpPr>
            <a:stCxn id="575" idx="1"/>
          </p:cNvCxnSpPr>
          <p:nvPr/>
        </p:nvCxnSpPr>
        <p:spPr>
          <a:xfrm rot="10800000">
            <a:off x="4469425" y="3262300"/>
            <a:ext cx="425100" cy="317700"/>
          </a:xfrm>
          <a:prstGeom prst="straightConnector1">
            <a:avLst/>
          </a:prstGeom>
          <a:noFill/>
          <a:ln cap="flat" cmpd="sng" w="9525">
            <a:solidFill>
              <a:schemeClr val="dk2"/>
            </a:solidFill>
            <a:prstDash val="solid"/>
            <a:round/>
            <a:headEnd len="med" w="med" type="none"/>
            <a:tailEnd len="med" w="med" type="triangle"/>
          </a:ln>
        </p:spPr>
      </p:cxnSp>
      <p:sp>
        <p:nvSpPr>
          <p:cNvPr id="578" name="Google Shape;578;p43"/>
          <p:cNvSpPr/>
          <p:nvPr/>
        </p:nvSpPr>
        <p:spPr>
          <a:xfrm>
            <a:off x="4090200" y="4008948"/>
            <a:ext cx="417925" cy="400925"/>
          </a:xfrm>
          <a:custGeom>
            <a:rect b="b" l="l" r="r" t="t"/>
            <a:pathLst>
              <a:path extrusionOk="0" h="16037" w="16717">
                <a:moveTo>
                  <a:pt x="0" y="2103"/>
                </a:moveTo>
                <a:cubicBezTo>
                  <a:pt x="5439" y="1559"/>
                  <a:pt x="13948" y="-2376"/>
                  <a:pt x="16394" y="2513"/>
                </a:cubicBezTo>
                <a:cubicBezTo>
                  <a:pt x="18696" y="7114"/>
                  <a:pt x="4870" y="1747"/>
                  <a:pt x="1230" y="5382"/>
                </a:cubicBezTo>
                <a:cubicBezTo>
                  <a:pt x="-647" y="7256"/>
                  <a:pt x="5363" y="8813"/>
                  <a:pt x="7787" y="9890"/>
                </a:cubicBezTo>
                <a:cubicBezTo>
                  <a:pt x="9968" y="10859"/>
                  <a:pt x="12913" y="14668"/>
                  <a:pt x="14345" y="12759"/>
                </a:cubicBezTo>
                <a:cubicBezTo>
                  <a:pt x="17214" y="8934"/>
                  <a:pt x="9838" y="-1177"/>
                  <a:pt x="5738" y="1283"/>
                </a:cubicBezTo>
                <a:cubicBezTo>
                  <a:pt x="1442" y="3861"/>
                  <a:pt x="6364" y="11557"/>
                  <a:pt x="8607" y="16037"/>
                </a:cubicBezTo>
              </a:path>
            </a:pathLst>
          </a:custGeom>
          <a:noFill/>
          <a:ln cap="flat" cmpd="sng" w="152400">
            <a:solidFill>
              <a:schemeClr val="lt1"/>
            </a:solidFill>
            <a:prstDash val="solid"/>
            <a:round/>
            <a:headEnd len="med" w="med" type="none"/>
            <a:tailEnd len="med" w="med" type="none"/>
          </a:ln>
        </p:spPr>
      </p:sp>
      <p:cxnSp>
        <p:nvCxnSpPr>
          <p:cNvPr id="579" name="Google Shape;579;p43"/>
          <p:cNvCxnSpPr/>
          <p:nvPr/>
        </p:nvCxnSpPr>
        <p:spPr>
          <a:xfrm flipH="1">
            <a:off x="3357800" y="2377175"/>
            <a:ext cx="870900" cy="573900"/>
          </a:xfrm>
          <a:prstGeom prst="straightConnector1">
            <a:avLst/>
          </a:prstGeom>
          <a:noFill/>
          <a:ln cap="flat" cmpd="sng" w="9525">
            <a:solidFill>
              <a:schemeClr val="dk2"/>
            </a:solidFill>
            <a:prstDash val="solid"/>
            <a:round/>
            <a:headEnd len="med" w="med" type="none"/>
            <a:tailEnd len="med" w="med" type="triangle"/>
          </a:ln>
        </p:spPr>
      </p:cxnSp>
      <p:cxnSp>
        <p:nvCxnSpPr>
          <p:cNvPr id="580" name="Google Shape;580;p43"/>
          <p:cNvCxnSpPr>
            <a:endCxn id="574" idx="3"/>
          </p:cNvCxnSpPr>
          <p:nvPr/>
        </p:nvCxnSpPr>
        <p:spPr>
          <a:xfrm flipH="1">
            <a:off x="5135425" y="3252150"/>
            <a:ext cx="2694600" cy="404700"/>
          </a:xfrm>
          <a:prstGeom prst="straightConnector1">
            <a:avLst/>
          </a:prstGeom>
          <a:noFill/>
          <a:ln cap="flat" cmpd="sng" w="9525">
            <a:solidFill>
              <a:schemeClr val="dk2"/>
            </a:solidFill>
            <a:prstDash val="solid"/>
            <a:round/>
            <a:headEnd len="med" w="med" type="none"/>
            <a:tailEnd len="med" w="med" type="triangle"/>
          </a:ln>
        </p:spPr>
      </p:cxnSp>
      <p:sp>
        <p:nvSpPr>
          <p:cNvPr id="581" name="Google Shape;581;p43"/>
          <p:cNvSpPr/>
          <p:nvPr/>
        </p:nvSpPr>
        <p:spPr>
          <a:xfrm>
            <a:off x="3065600" y="3334050"/>
            <a:ext cx="1106575" cy="471325"/>
          </a:xfrm>
          <a:custGeom>
            <a:rect b="b" l="l" r="r" t="t"/>
            <a:pathLst>
              <a:path extrusionOk="0" h="18853" w="44263">
                <a:moveTo>
                  <a:pt x="44263" y="0"/>
                </a:moveTo>
                <a:cubicBezTo>
                  <a:pt x="32250" y="4006"/>
                  <a:pt x="20620" y="9109"/>
                  <a:pt x="8607" y="13115"/>
                </a:cubicBezTo>
                <a:cubicBezTo>
                  <a:pt x="6720" y="13744"/>
                  <a:pt x="4648" y="13864"/>
                  <a:pt x="2869" y="14754"/>
                </a:cubicBezTo>
                <a:cubicBezTo>
                  <a:pt x="1377" y="15500"/>
                  <a:pt x="1668" y="18853"/>
                  <a:pt x="0" y="18853"/>
                </a:cubicBezTo>
              </a:path>
            </a:pathLst>
          </a:custGeom>
          <a:noFill/>
          <a:ln cap="flat" cmpd="sng" w="114300">
            <a:solidFill>
              <a:schemeClr val="lt1"/>
            </a:solidFill>
            <a:prstDash val="solid"/>
            <a:round/>
            <a:headEnd len="med" w="med" type="none"/>
            <a:tailEnd len="med" w="med" type="none"/>
          </a:ln>
        </p:spPr>
      </p:sp>
      <p:sp>
        <p:nvSpPr>
          <p:cNvPr id="582" name="Google Shape;582;p43"/>
          <p:cNvSpPr/>
          <p:nvPr/>
        </p:nvSpPr>
        <p:spPr>
          <a:xfrm>
            <a:off x="3003683" y="3806321"/>
            <a:ext cx="82425" cy="9300"/>
          </a:xfrm>
          <a:custGeom>
            <a:rect b="b" l="l" r="r" t="t"/>
            <a:pathLst>
              <a:path extrusionOk="0" h="372" w="3297">
                <a:moveTo>
                  <a:pt x="3297" y="372"/>
                </a:moveTo>
                <a:cubicBezTo>
                  <a:pt x="2501" y="-158"/>
                  <a:pt x="-427" y="-56"/>
                  <a:pt x="428" y="372"/>
                </a:cubicBezTo>
              </a:path>
            </a:pathLst>
          </a:custGeom>
          <a:noFill/>
          <a:ln cap="flat" cmpd="sng" w="114300">
            <a:solidFill>
              <a:schemeClr val="lt1"/>
            </a:solidFill>
            <a:prstDash val="solid"/>
            <a:round/>
            <a:headEnd len="med" w="med" type="none"/>
            <a:tailEnd len="med" w="med" type="none"/>
          </a:ln>
        </p:spPr>
      </p:sp>
      <p:sp>
        <p:nvSpPr>
          <p:cNvPr id="583" name="Google Shape;583;p43"/>
          <p:cNvSpPr/>
          <p:nvPr/>
        </p:nvSpPr>
        <p:spPr>
          <a:xfrm>
            <a:off x="3444700" y="3170125"/>
            <a:ext cx="122975" cy="163925"/>
          </a:xfrm>
          <a:custGeom>
            <a:rect b="b" l="l" r="r" t="t"/>
            <a:pathLst>
              <a:path extrusionOk="0" h="6557" w="4919">
                <a:moveTo>
                  <a:pt x="0" y="0"/>
                </a:moveTo>
                <a:cubicBezTo>
                  <a:pt x="1223" y="2444"/>
                  <a:pt x="2475" y="5335"/>
                  <a:pt x="4919" y="6557"/>
                </a:cubicBezTo>
              </a:path>
            </a:pathLst>
          </a:custGeom>
          <a:noFill/>
          <a:ln cap="flat" cmpd="sng" w="76200">
            <a:solidFill>
              <a:schemeClr val="lt1"/>
            </a:solidFill>
            <a:prstDash val="solid"/>
            <a:round/>
            <a:headEnd len="med" w="med" type="none"/>
            <a:tailEnd len="med" w="med" type="none"/>
          </a:ln>
        </p:spPr>
      </p:sp>
      <p:sp>
        <p:nvSpPr>
          <p:cNvPr id="584" name="Google Shape;584;p43"/>
          <p:cNvSpPr/>
          <p:nvPr/>
        </p:nvSpPr>
        <p:spPr>
          <a:xfrm>
            <a:off x="3736725" y="3474400"/>
            <a:ext cx="440575" cy="399575"/>
          </a:xfrm>
          <a:custGeom>
            <a:rect b="b" l="l" r="r" t="t"/>
            <a:pathLst>
              <a:path extrusionOk="0" h="15983" w="17623">
                <a:moveTo>
                  <a:pt x="0" y="0"/>
                </a:moveTo>
                <a:cubicBezTo>
                  <a:pt x="4758" y="6345"/>
                  <a:pt x="10098" y="13481"/>
                  <a:pt x="17623" y="15983"/>
                </a:cubicBezTo>
              </a:path>
            </a:pathLst>
          </a:custGeom>
          <a:noFill/>
          <a:ln cap="flat" cmpd="sng" w="76200">
            <a:solidFill>
              <a:schemeClr val="lt1"/>
            </a:solidFill>
            <a:prstDash val="solid"/>
            <a:round/>
            <a:headEnd len="med" w="med" type="none"/>
            <a:tailEnd len="med" w="med" type="none"/>
          </a:ln>
        </p:spPr>
      </p:sp>
      <p:cxnSp>
        <p:nvCxnSpPr>
          <p:cNvPr id="585" name="Google Shape;585;p43"/>
          <p:cNvCxnSpPr/>
          <p:nvPr/>
        </p:nvCxnSpPr>
        <p:spPr>
          <a:xfrm flipH="1">
            <a:off x="2952900" y="3211000"/>
            <a:ext cx="1219200" cy="512400"/>
          </a:xfrm>
          <a:prstGeom prst="straightConnector1">
            <a:avLst/>
          </a:prstGeom>
          <a:noFill/>
          <a:ln cap="flat" cmpd="sng" w="9525">
            <a:solidFill>
              <a:schemeClr val="dk2"/>
            </a:solidFill>
            <a:prstDash val="solid"/>
            <a:round/>
            <a:headEnd len="med" w="med" type="none"/>
            <a:tailEnd len="med" w="med" type="triangle"/>
          </a:ln>
        </p:spPr>
      </p:cxnSp>
      <p:cxnSp>
        <p:nvCxnSpPr>
          <p:cNvPr id="586" name="Google Shape;586;p43"/>
          <p:cNvCxnSpPr/>
          <p:nvPr/>
        </p:nvCxnSpPr>
        <p:spPr>
          <a:xfrm flipH="1">
            <a:off x="2891300" y="3129125"/>
            <a:ext cx="307500" cy="532800"/>
          </a:xfrm>
          <a:prstGeom prst="straightConnector1">
            <a:avLst/>
          </a:prstGeom>
          <a:noFill/>
          <a:ln cap="flat" cmpd="sng" w="9525">
            <a:solidFill>
              <a:schemeClr val="dk2"/>
            </a:solidFill>
            <a:prstDash val="solid"/>
            <a:round/>
            <a:headEnd len="med" w="med" type="none"/>
            <a:tailEnd len="med" w="med" type="triangle"/>
          </a:ln>
        </p:spPr>
      </p:cxnSp>
      <p:cxnSp>
        <p:nvCxnSpPr>
          <p:cNvPr id="587" name="Google Shape;587;p43"/>
          <p:cNvCxnSpPr/>
          <p:nvPr/>
        </p:nvCxnSpPr>
        <p:spPr>
          <a:xfrm rot="10800000">
            <a:off x="2789000" y="2371075"/>
            <a:ext cx="10200" cy="1301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4"/>
          <p:cNvSpPr txBox="1"/>
          <p:nvPr>
            <p:ph type="title"/>
          </p:nvPr>
        </p:nvSpPr>
        <p:spPr>
          <a:xfrm>
            <a:off x="727650" y="6663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2. A) </a:t>
            </a:r>
            <a:r>
              <a:rPr lang="en-GB" sz="1716">
                <a:highlight>
                  <a:schemeClr val="lt1"/>
                </a:highlight>
                <a:latin typeface="Lato"/>
                <a:ea typeface="Lato"/>
                <a:cs typeface="Lato"/>
                <a:sym typeface="Lato"/>
              </a:rPr>
              <a:t>Verify the last transaction</a:t>
            </a:r>
            <a:r>
              <a:rPr lang="en-GB"/>
              <a:t> </a:t>
            </a:r>
            <a:endParaRPr/>
          </a:p>
        </p:txBody>
      </p:sp>
      <p:sp>
        <p:nvSpPr>
          <p:cNvPr id="593" name="Google Shape;593;p44"/>
          <p:cNvSpPr/>
          <p:nvPr/>
        </p:nvSpPr>
        <p:spPr>
          <a:xfrm>
            <a:off x="3702125" y="1373025"/>
            <a:ext cx="1529100" cy="81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4" name="Google Shape;594;p44"/>
          <p:cNvSpPr txBox="1"/>
          <p:nvPr/>
        </p:nvSpPr>
        <p:spPr>
          <a:xfrm>
            <a:off x="3691325" y="1586325"/>
            <a:ext cx="15507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Stakes are verified </a:t>
            </a:r>
            <a:endParaRPr sz="1300">
              <a:solidFill>
                <a:schemeClr val="accent1"/>
              </a:solidFill>
              <a:latin typeface="Lato"/>
              <a:ea typeface="Lato"/>
              <a:cs typeface="Lato"/>
              <a:sym typeface="Lato"/>
            </a:endParaRPr>
          </a:p>
        </p:txBody>
      </p:sp>
      <p:cxnSp>
        <p:nvCxnSpPr>
          <p:cNvPr id="595" name="Google Shape;595;p44"/>
          <p:cNvCxnSpPr/>
          <p:nvPr/>
        </p:nvCxnSpPr>
        <p:spPr>
          <a:xfrm>
            <a:off x="4472075" y="2185725"/>
            <a:ext cx="10500" cy="459900"/>
          </a:xfrm>
          <a:prstGeom prst="straightConnector1">
            <a:avLst/>
          </a:prstGeom>
          <a:noFill/>
          <a:ln cap="flat" cmpd="sng" w="9525">
            <a:solidFill>
              <a:schemeClr val="dk2"/>
            </a:solidFill>
            <a:prstDash val="solid"/>
            <a:round/>
            <a:headEnd len="med" w="med" type="none"/>
            <a:tailEnd len="med" w="med" type="triangle"/>
          </a:ln>
        </p:spPr>
      </p:cxnSp>
      <p:sp>
        <p:nvSpPr>
          <p:cNvPr id="596" name="Google Shape;596;p44"/>
          <p:cNvSpPr/>
          <p:nvPr/>
        </p:nvSpPr>
        <p:spPr>
          <a:xfrm>
            <a:off x="3712775" y="2645625"/>
            <a:ext cx="1529100" cy="81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7" name="Google Shape;597;p44"/>
          <p:cNvSpPr txBox="1"/>
          <p:nvPr/>
        </p:nvSpPr>
        <p:spPr>
          <a:xfrm>
            <a:off x="3834150" y="2699063"/>
            <a:ext cx="1475700" cy="7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Signature of stakeholders are verified</a:t>
            </a:r>
            <a:endParaRPr sz="1300">
              <a:solidFill>
                <a:schemeClr val="accent1"/>
              </a:solidFill>
              <a:latin typeface="Lato"/>
              <a:ea typeface="Lato"/>
              <a:cs typeface="Lato"/>
              <a:sym typeface="Lato"/>
            </a:endParaRPr>
          </a:p>
        </p:txBody>
      </p:sp>
      <p:sp>
        <p:nvSpPr>
          <p:cNvPr id="598" name="Google Shape;598;p44"/>
          <p:cNvSpPr/>
          <p:nvPr/>
        </p:nvSpPr>
        <p:spPr>
          <a:xfrm>
            <a:off x="3702125" y="3885825"/>
            <a:ext cx="1529100" cy="81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99" name="Google Shape;599;p44"/>
          <p:cNvCxnSpPr>
            <a:endCxn id="600" idx="0"/>
          </p:cNvCxnSpPr>
          <p:nvPr/>
        </p:nvCxnSpPr>
        <p:spPr>
          <a:xfrm flipH="1">
            <a:off x="4455875" y="3405000"/>
            <a:ext cx="52500" cy="577200"/>
          </a:xfrm>
          <a:prstGeom prst="straightConnector1">
            <a:avLst/>
          </a:prstGeom>
          <a:noFill/>
          <a:ln cap="flat" cmpd="sng" w="9525">
            <a:solidFill>
              <a:schemeClr val="dk2"/>
            </a:solidFill>
            <a:prstDash val="solid"/>
            <a:round/>
            <a:headEnd len="med" w="med" type="none"/>
            <a:tailEnd len="med" w="med" type="triangle"/>
          </a:ln>
        </p:spPr>
      </p:cxnSp>
      <p:sp>
        <p:nvSpPr>
          <p:cNvPr id="600" name="Google Shape;600;p44"/>
          <p:cNvSpPr txBox="1"/>
          <p:nvPr/>
        </p:nvSpPr>
        <p:spPr>
          <a:xfrm>
            <a:off x="3798275" y="3982200"/>
            <a:ext cx="1315200" cy="6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Transactions are verified</a:t>
            </a:r>
            <a:endParaRPr sz="1300">
              <a:solidFill>
                <a:schemeClr val="accent1"/>
              </a:solidFill>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5"/>
          <p:cNvSpPr txBox="1"/>
          <p:nvPr>
            <p:ph type="title"/>
          </p:nvPr>
        </p:nvSpPr>
        <p:spPr>
          <a:xfrm>
            <a:off x="809350" y="6195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2. b) Verify the DAG Structure </a:t>
            </a:r>
            <a:endParaRPr b="0" sz="1716">
              <a:highlight>
                <a:schemeClr val="lt1"/>
              </a:highlight>
              <a:latin typeface="Lato"/>
              <a:ea typeface="Lato"/>
              <a:cs typeface="Lato"/>
              <a:sym typeface="Lato"/>
            </a:endParaRPr>
          </a:p>
          <a:p>
            <a:pPr indent="0" lvl="0" marL="0" rtl="0" algn="l">
              <a:spcBef>
                <a:spcPts val="0"/>
              </a:spcBef>
              <a:spcAft>
                <a:spcPts val="0"/>
              </a:spcAft>
              <a:buNone/>
            </a:pPr>
            <a:r>
              <a:t/>
            </a:r>
            <a:endParaRPr/>
          </a:p>
        </p:txBody>
      </p:sp>
      <p:sp>
        <p:nvSpPr>
          <p:cNvPr id="606" name="Google Shape;606;p45"/>
          <p:cNvSpPr/>
          <p:nvPr/>
        </p:nvSpPr>
        <p:spPr>
          <a:xfrm>
            <a:off x="3537525" y="1851650"/>
            <a:ext cx="1318200" cy="81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07" name="Google Shape;607;p45"/>
          <p:cNvCxnSpPr>
            <a:endCxn id="606" idx="0"/>
          </p:cNvCxnSpPr>
          <p:nvPr/>
        </p:nvCxnSpPr>
        <p:spPr>
          <a:xfrm>
            <a:off x="4176825" y="1282250"/>
            <a:ext cx="19800" cy="569400"/>
          </a:xfrm>
          <a:prstGeom prst="straightConnector1">
            <a:avLst/>
          </a:prstGeom>
          <a:noFill/>
          <a:ln cap="flat" cmpd="sng" w="9525">
            <a:solidFill>
              <a:schemeClr val="dk2"/>
            </a:solidFill>
            <a:prstDash val="solid"/>
            <a:round/>
            <a:headEnd len="med" w="med" type="none"/>
            <a:tailEnd len="med" w="med" type="triangle"/>
          </a:ln>
        </p:spPr>
      </p:cxnSp>
      <p:sp>
        <p:nvSpPr>
          <p:cNvPr id="608" name="Google Shape;608;p45"/>
          <p:cNvSpPr txBox="1"/>
          <p:nvPr/>
        </p:nvSpPr>
        <p:spPr>
          <a:xfrm>
            <a:off x="4456375" y="1383325"/>
            <a:ext cx="1318200" cy="23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Transaction</a:t>
            </a:r>
            <a:endParaRPr sz="1300">
              <a:solidFill>
                <a:schemeClr val="accent1"/>
              </a:solidFill>
              <a:latin typeface="Lato"/>
              <a:ea typeface="Lato"/>
              <a:cs typeface="Lato"/>
              <a:sym typeface="Lato"/>
            </a:endParaRPr>
          </a:p>
        </p:txBody>
      </p:sp>
      <p:sp>
        <p:nvSpPr>
          <p:cNvPr id="609" name="Google Shape;609;p45"/>
          <p:cNvSpPr txBox="1"/>
          <p:nvPr/>
        </p:nvSpPr>
        <p:spPr>
          <a:xfrm>
            <a:off x="3537675" y="1851625"/>
            <a:ext cx="1318200" cy="7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If parent id present in transaction list</a:t>
            </a:r>
            <a:endParaRPr sz="1300">
              <a:solidFill>
                <a:schemeClr val="accent1"/>
              </a:solidFill>
              <a:latin typeface="Lato"/>
              <a:ea typeface="Lato"/>
              <a:cs typeface="Lato"/>
              <a:sym typeface="Lato"/>
            </a:endParaRPr>
          </a:p>
        </p:txBody>
      </p:sp>
      <p:cxnSp>
        <p:nvCxnSpPr>
          <p:cNvPr id="610" name="Google Shape;610;p45"/>
          <p:cNvCxnSpPr/>
          <p:nvPr/>
        </p:nvCxnSpPr>
        <p:spPr>
          <a:xfrm flipH="1">
            <a:off x="2918325" y="2540800"/>
            <a:ext cx="619200" cy="289500"/>
          </a:xfrm>
          <a:prstGeom prst="straightConnector1">
            <a:avLst/>
          </a:prstGeom>
          <a:noFill/>
          <a:ln cap="flat" cmpd="sng" w="9525">
            <a:solidFill>
              <a:schemeClr val="dk2"/>
            </a:solidFill>
            <a:prstDash val="solid"/>
            <a:round/>
            <a:headEnd len="med" w="med" type="none"/>
            <a:tailEnd len="med" w="med" type="triangle"/>
          </a:ln>
        </p:spPr>
      </p:cxnSp>
      <p:cxnSp>
        <p:nvCxnSpPr>
          <p:cNvPr id="611" name="Google Shape;611;p45"/>
          <p:cNvCxnSpPr/>
          <p:nvPr/>
        </p:nvCxnSpPr>
        <p:spPr>
          <a:xfrm>
            <a:off x="4875850" y="2470875"/>
            <a:ext cx="579300" cy="289500"/>
          </a:xfrm>
          <a:prstGeom prst="straightConnector1">
            <a:avLst/>
          </a:prstGeom>
          <a:noFill/>
          <a:ln cap="flat" cmpd="sng" w="9525">
            <a:solidFill>
              <a:schemeClr val="dk2"/>
            </a:solidFill>
            <a:prstDash val="solid"/>
            <a:round/>
            <a:headEnd len="med" w="med" type="none"/>
            <a:tailEnd len="med" w="med" type="triangle"/>
          </a:ln>
        </p:spPr>
      </p:cxnSp>
      <p:sp>
        <p:nvSpPr>
          <p:cNvPr id="612" name="Google Shape;612;p45"/>
          <p:cNvSpPr/>
          <p:nvPr/>
        </p:nvSpPr>
        <p:spPr>
          <a:xfrm>
            <a:off x="5315325" y="2555775"/>
            <a:ext cx="1837500" cy="117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13" name="Google Shape;613;p45"/>
          <p:cNvSpPr txBox="1"/>
          <p:nvPr/>
        </p:nvSpPr>
        <p:spPr>
          <a:xfrm>
            <a:off x="2828425" y="2391750"/>
            <a:ext cx="509400" cy="28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NO</a:t>
            </a:r>
            <a:endParaRPr sz="1300">
              <a:solidFill>
                <a:schemeClr val="accent1"/>
              </a:solidFill>
              <a:latin typeface="Lato"/>
              <a:ea typeface="Lato"/>
              <a:cs typeface="Lato"/>
              <a:sym typeface="Lato"/>
            </a:endParaRPr>
          </a:p>
        </p:txBody>
      </p:sp>
      <p:sp>
        <p:nvSpPr>
          <p:cNvPr id="614" name="Google Shape;614;p45"/>
          <p:cNvSpPr txBox="1"/>
          <p:nvPr/>
        </p:nvSpPr>
        <p:spPr>
          <a:xfrm>
            <a:off x="5055725" y="2282250"/>
            <a:ext cx="509400" cy="28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YES</a:t>
            </a:r>
            <a:endParaRPr sz="1300">
              <a:solidFill>
                <a:schemeClr val="accent1"/>
              </a:solidFill>
              <a:latin typeface="Lato"/>
              <a:ea typeface="Lato"/>
              <a:cs typeface="Lato"/>
              <a:sym typeface="Lato"/>
            </a:endParaRPr>
          </a:p>
        </p:txBody>
      </p:sp>
      <p:sp>
        <p:nvSpPr>
          <p:cNvPr id="615" name="Google Shape;615;p45"/>
          <p:cNvSpPr/>
          <p:nvPr/>
        </p:nvSpPr>
        <p:spPr>
          <a:xfrm>
            <a:off x="2042050" y="2760375"/>
            <a:ext cx="1018800" cy="769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16" name="Google Shape;616;p45"/>
          <p:cNvSpPr txBox="1"/>
          <p:nvPr/>
        </p:nvSpPr>
        <p:spPr>
          <a:xfrm>
            <a:off x="2042050" y="2840475"/>
            <a:ext cx="1148700" cy="6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Verification</a:t>
            </a:r>
            <a:r>
              <a:rPr lang="en-GB" sz="1300">
                <a:solidFill>
                  <a:schemeClr val="accent1"/>
                </a:solidFill>
                <a:latin typeface="Lato"/>
                <a:ea typeface="Lato"/>
                <a:cs typeface="Lato"/>
                <a:sym typeface="Lato"/>
              </a:rPr>
              <a:t> fails</a:t>
            </a:r>
            <a:endParaRPr sz="1300">
              <a:solidFill>
                <a:schemeClr val="accent1"/>
              </a:solidFill>
              <a:latin typeface="Lato"/>
              <a:ea typeface="Lato"/>
              <a:cs typeface="Lato"/>
              <a:sym typeface="Lato"/>
            </a:endParaRPr>
          </a:p>
        </p:txBody>
      </p:sp>
      <p:sp>
        <p:nvSpPr>
          <p:cNvPr id="617" name="Google Shape;617;p45"/>
          <p:cNvSpPr txBox="1"/>
          <p:nvPr/>
        </p:nvSpPr>
        <p:spPr>
          <a:xfrm>
            <a:off x="5455150" y="2760375"/>
            <a:ext cx="1747800" cy="9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accent1"/>
                </a:solidFill>
                <a:latin typeface="Lato"/>
                <a:ea typeface="Lato"/>
                <a:cs typeface="Lato"/>
                <a:sym typeface="Lato"/>
              </a:rPr>
              <a:t>If current transaction timestamp &gt; parent transaction timestamp</a:t>
            </a:r>
            <a:endParaRPr sz="1200">
              <a:solidFill>
                <a:schemeClr val="accent1"/>
              </a:solidFill>
              <a:latin typeface="Lato"/>
              <a:ea typeface="Lato"/>
              <a:cs typeface="Lato"/>
              <a:sym typeface="Lato"/>
            </a:endParaRPr>
          </a:p>
        </p:txBody>
      </p:sp>
      <p:cxnSp>
        <p:nvCxnSpPr>
          <p:cNvPr id="618" name="Google Shape;618;p45"/>
          <p:cNvCxnSpPr/>
          <p:nvPr/>
        </p:nvCxnSpPr>
        <p:spPr>
          <a:xfrm flipH="1">
            <a:off x="5055650" y="3509575"/>
            <a:ext cx="449400" cy="439500"/>
          </a:xfrm>
          <a:prstGeom prst="straightConnector1">
            <a:avLst/>
          </a:prstGeom>
          <a:noFill/>
          <a:ln cap="flat" cmpd="sng" w="9525">
            <a:solidFill>
              <a:schemeClr val="dk2"/>
            </a:solidFill>
            <a:prstDash val="solid"/>
            <a:round/>
            <a:headEnd len="med" w="med" type="none"/>
            <a:tailEnd len="med" w="med" type="triangle"/>
          </a:ln>
        </p:spPr>
      </p:cxnSp>
      <p:cxnSp>
        <p:nvCxnSpPr>
          <p:cNvPr id="619" name="Google Shape;619;p45"/>
          <p:cNvCxnSpPr/>
          <p:nvPr/>
        </p:nvCxnSpPr>
        <p:spPr>
          <a:xfrm>
            <a:off x="7003150" y="3489600"/>
            <a:ext cx="549300" cy="379500"/>
          </a:xfrm>
          <a:prstGeom prst="straightConnector1">
            <a:avLst/>
          </a:prstGeom>
          <a:noFill/>
          <a:ln cap="flat" cmpd="sng" w="9525">
            <a:solidFill>
              <a:schemeClr val="dk2"/>
            </a:solidFill>
            <a:prstDash val="solid"/>
            <a:round/>
            <a:headEnd len="med" w="med" type="none"/>
            <a:tailEnd len="med" w="med" type="triangle"/>
          </a:ln>
        </p:spPr>
      </p:cxnSp>
      <p:sp>
        <p:nvSpPr>
          <p:cNvPr id="620" name="Google Shape;620;p45"/>
          <p:cNvSpPr/>
          <p:nvPr/>
        </p:nvSpPr>
        <p:spPr>
          <a:xfrm>
            <a:off x="4246650" y="3949075"/>
            <a:ext cx="1018800" cy="639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21" name="Google Shape;621;p45"/>
          <p:cNvSpPr/>
          <p:nvPr/>
        </p:nvSpPr>
        <p:spPr>
          <a:xfrm>
            <a:off x="7152825" y="3869100"/>
            <a:ext cx="1018800" cy="639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22" name="Google Shape;622;p45"/>
          <p:cNvSpPr txBox="1"/>
          <p:nvPr/>
        </p:nvSpPr>
        <p:spPr>
          <a:xfrm>
            <a:off x="4775975" y="3429675"/>
            <a:ext cx="549300" cy="23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NO</a:t>
            </a:r>
            <a:endParaRPr sz="1300">
              <a:solidFill>
                <a:schemeClr val="accent1"/>
              </a:solidFill>
              <a:latin typeface="Lato"/>
              <a:ea typeface="Lato"/>
              <a:cs typeface="Lato"/>
              <a:sym typeface="Lato"/>
            </a:endParaRPr>
          </a:p>
        </p:txBody>
      </p:sp>
      <p:sp>
        <p:nvSpPr>
          <p:cNvPr id="623" name="Google Shape;623;p45"/>
          <p:cNvSpPr txBox="1"/>
          <p:nvPr/>
        </p:nvSpPr>
        <p:spPr>
          <a:xfrm>
            <a:off x="7285400" y="3429675"/>
            <a:ext cx="549300" cy="23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YES</a:t>
            </a:r>
            <a:endParaRPr sz="1300">
              <a:solidFill>
                <a:schemeClr val="accent1"/>
              </a:solidFill>
              <a:latin typeface="Lato"/>
              <a:ea typeface="Lato"/>
              <a:cs typeface="Lato"/>
              <a:sym typeface="Lato"/>
            </a:endParaRPr>
          </a:p>
        </p:txBody>
      </p:sp>
      <p:sp>
        <p:nvSpPr>
          <p:cNvPr id="624" name="Google Shape;624;p45"/>
          <p:cNvSpPr txBox="1"/>
          <p:nvPr/>
        </p:nvSpPr>
        <p:spPr>
          <a:xfrm>
            <a:off x="4246650" y="3991600"/>
            <a:ext cx="1148700" cy="6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Verification fails</a:t>
            </a:r>
            <a:endParaRPr sz="1300">
              <a:solidFill>
                <a:schemeClr val="accent1"/>
              </a:solidFill>
              <a:latin typeface="Lato"/>
              <a:ea typeface="Lato"/>
              <a:cs typeface="Lato"/>
              <a:sym typeface="Lato"/>
            </a:endParaRPr>
          </a:p>
        </p:txBody>
      </p:sp>
      <p:sp>
        <p:nvSpPr>
          <p:cNvPr id="625" name="Google Shape;625;p45"/>
          <p:cNvSpPr txBox="1"/>
          <p:nvPr/>
        </p:nvSpPr>
        <p:spPr>
          <a:xfrm>
            <a:off x="7152825" y="3844200"/>
            <a:ext cx="1148700" cy="6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Verified successfully</a:t>
            </a:r>
            <a:endParaRPr sz="1300">
              <a:solidFill>
                <a:schemeClr val="accent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Implementation till now</a:t>
            </a:r>
            <a:endParaRPr/>
          </a:p>
        </p:txBody>
      </p:sp>
      <p:sp>
        <p:nvSpPr>
          <p:cNvPr id="631" name="Google Shape;631;p4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n-GB"/>
              <a:t>Implementing the NBA consensus algo in the peer to peer till the local level and </a:t>
            </a:r>
            <a:r>
              <a:rPr lang="en-GB"/>
              <a:t>sequential</a:t>
            </a:r>
            <a:r>
              <a:rPr lang="en-GB"/>
              <a:t> stake collection is implemented .</a:t>
            </a:r>
            <a:endParaRPr/>
          </a:p>
          <a:p>
            <a:pPr indent="-311150" lvl="0" marL="457200" rtl="0" algn="l">
              <a:spcBef>
                <a:spcPts val="0"/>
              </a:spcBef>
              <a:spcAft>
                <a:spcPts val="0"/>
              </a:spcAft>
              <a:buSzPts val="1300"/>
              <a:buAutoNum type="arabicPeriod"/>
            </a:pPr>
            <a:r>
              <a:rPr lang="en-GB"/>
              <a:t>The </a:t>
            </a:r>
            <a:r>
              <a:rPr lang="en-GB"/>
              <a:t>initiative to implement the parallel stake collection has been taken and implemented in a pseudo manner with the timestamp.</a:t>
            </a:r>
            <a:endParaRPr/>
          </a:p>
          <a:p>
            <a:pPr indent="-311150" lvl="0" marL="457200" rtl="0" algn="l">
              <a:spcBef>
                <a:spcPts val="0"/>
              </a:spcBef>
              <a:spcAft>
                <a:spcPts val="0"/>
              </a:spcAft>
              <a:buSzPts val="1300"/>
              <a:buAutoNum type="arabicPeriod"/>
            </a:pPr>
            <a:r>
              <a:rPr lang="en-GB"/>
              <a:t>Network verification has been partial implemented.</a:t>
            </a:r>
            <a:endParaRPr/>
          </a:p>
          <a:p>
            <a:pPr indent="-311150" lvl="0" marL="457200" rtl="0" algn="l">
              <a:spcBef>
                <a:spcPts val="0"/>
              </a:spcBef>
              <a:spcAft>
                <a:spcPts val="0"/>
              </a:spcAft>
              <a:buSzPts val="1300"/>
              <a:buAutoNum type="arabicPeriod"/>
            </a:pPr>
            <a:r>
              <a:rPr lang="en-GB"/>
              <a:t>Implemented the DAG structure using </a:t>
            </a:r>
            <a:r>
              <a:rPr lang="en-GB"/>
              <a:t>modified</a:t>
            </a:r>
            <a:r>
              <a:rPr lang="en-GB"/>
              <a:t> tip selection algorithm.</a:t>
            </a:r>
            <a:endParaRPr/>
          </a:p>
          <a:p>
            <a:pPr indent="-311150" lvl="0" marL="457200" rtl="0" algn="l">
              <a:spcBef>
                <a:spcPts val="0"/>
              </a:spcBef>
              <a:spcAft>
                <a:spcPts val="0"/>
              </a:spcAft>
              <a:buSzPts val="1300"/>
              <a:buAutoNum type="arabicPeriod"/>
            </a:pPr>
            <a:r>
              <a:rPr lang="en-GB"/>
              <a:t>DAG Transaction verification has been partially implemented.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grpSp>
        <p:nvGrpSpPr>
          <p:cNvPr id="636" name="Google Shape;636;p47"/>
          <p:cNvGrpSpPr/>
          <p:nvPr/>
        </p:nvGrpSpPr>
        <p:grpSpPr>
          <a:xfrm>
            <a:off x="-225" y="716293"/>
            <a:ext cx="9144439" cy="4214494"/>
            <a:chOff x="12" y="922775"/>
            <a:chExt cx="12192586" cy="5438057"/>
          </a:xfrm>
        </p:grpSpPr>
        <p:grpSp>
          <p:nvGrpSpPr>
            <p:cNvPr id="637" name="Google Shape;637;p47"/>
            <p:cNvGrpSpPr/>
            <p:nvPr/>
          </p:nvGrpSpPr>
          <p:grpSpPr>
            <a:xfrm>
              <a:off x="12" y="922775"/>
              <a:ext cx="12192586" cy="5438057"/>
              <a:chOff x="12" y="1343622"/>
              <a:chExt cx="12192586" cy="5438057"/>
            </a:xfrm>
          </p:grpSpPr>
          <p:sp>
            <p:nvSpPr>
              <p:cNvPr id="638" name="Google Shape;638;p47"/>
              <p:cNvSpPr/>
              <p:nvPr/>
            </p:nvSpPr>
            <p:spPr>
              <a:xfrm>
                <a:off x="8256146" y="4456705"/>
                <a:ext cx="137558" cy="1646197"/>
              </a:xfrm>
              <a:custGeom>
                <a:rect b="b" l="l" r="r" t="t"/>
                <a:pathLst>
                  <a:path extrusionOk="0" h="769251" w="65426">
                    <a:moveTo>
                      <a:pt x="0" y="0"/>
                    </a:moveTo>
                    <a:lnTo>
                      <a:pt x="65426" y="0"/>
                    </a:lnTo>
                    <a:lnTo>
                      <a:pt x="65426" y="769251"/>
                    </a:lnTo>
                    <a:lnTo>
                      <a:pt x="0" y="769251"/>
                    </a:lnTo>
                    <a:close/>
                  </a:path>
                </a:pathLst>
              </a:custGeom>
              <a:solidFill>
                <a:srgbClr val="6666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39" name="Google Shape;639;p47"/>
              <p:cNvSpPr/>
              <p:nvPr/>
            </p:nvSpPr>
            <p:spPr>
              <a:xfrm rot="2700000">
                <a:off x="7881967" y="3691479"/>
                <a:ext cx="885863" cy="885863"/>
              </a:xfrm>
              <a:prstGeom prst="ellipse">
                <a:avLst/>
              </a:prstGeom>
              <a:solidFill>
                <a:schemeClr val="accent3"/>
              </a:solidFill>
              <a:ln>
                <a:noFill/>
              </a:ln>
            </p:spPr>
            <p:txBody>
              <a:bodyPr anchorCtr="0" anchor="ctr" bIns="45700" lIns="91425" spcFirstLastPara="1" rIns="91425" wrap="square" tIns="91425">
                <a:noAutofit/>
              </a:bodyPr>
              <a:lstStyle/>
              <a:p>
                <a:pPr indent="0" lvl="0" marL="0" marR="0" rtl="0" algn="ctr">
                  <a:spcBef>
                    <a:spcPts val="0"/>
                  </a:spcBef>
                  <a:spcAft>
                    <a:spcPts val="0"/>
                  </a:spcAft>
                  <a:buNone/>
                </a:pPr>
                <a:r>
                  <a:t/>
                </a:r>
                <a:endParaRPr b="1" i="0" sz="2000" u="none" cap="none" strike="noStrike">
                  <a:solidFill>
                    <a:schemeClr val="lt1"/>
                  </a:solidFill>
                  <a:latin typeface="Lora"/>
                  <a:ea typeface="Lora"/>
                  <a:cs typeface="Lora"/>
                  <a:sym typeface="Lora"/>
                </a:endParaRPr>
              </a:p>
            </p:txBody>
          </p:sp>
          <p:sp>
            <p:nvSpPr>
              <p:cNvPr id="640" name="Google Shape;640;p47"/>
              <p:cNvSpPr/>
              <p:nvPr/>
            </p:nvSpPr>
            <p:spPr>
              <a:xfrm>
                <a:off x="6465268" y="2348832"/>
                <a:ext cx="87535" cy="1004591"/>
              </a:xfrm>
              <a:custGeom>
                <a:rect b="b" l="l" r="r" t="t"/>
                <a:pathLst>
                  <a:path extrusionOk="0" h="477808" w="41634">
                    <a:moveTo>
                      <a:pt x="0" y="0"/>
                    </a:moveTo>
                    <a:lnTo>
                      <a:pt x="41635" y="0"/>
                    </a:lnTo>
                    <a:lnTo>
                      <a:pt x="41635" y="477808"/>
                    </a:lnTo>
                    <a:lnTo>
                      <a:pt x="0" y="477808"/>
                    </a:lnTo>
                    <a:close/>
                  </a:path>
                </a:pathLst>
              </a:custGeom>
              <a:solidFill>
                <a:srgbClr val="6666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41" name="Google Shape;641;p47"/>
              <p:cNvSpPr/>
              <p:nvPr/>
            </p:nvSpPr>
            <p:spPr>
              <a:xfrm rot="2700000">
                <a:off x="6176395" y="1680822"/>
                <a:ext cx="665246" cy="665246"/>
              </a:xfrm>
              <a:prstGeom prst="ellipse">
                <a:avLst/>
              </a:prstGeom>
              <a:solidFill>
                <a:schemeClr val="accent2"/>
              </a:solidFill>
              <a:ln>
                <a:noFill/>
              </a:ln>
            </p:spPr>
            <p:txBody>
              <a:bodyPr anchorCtr="0" anchor="ctr" bIns="45700" lIns="91425" spcFirstLastPara="1" rIns="91425" wrap="square" tIns="91425">
                <a:noAutofit/>
              </a:bodyPr>
              <a:lstStyle/>
              <a:p>
                <a:pPr indent="0" lvl="0" marL="0" marR="0" rtl="0" algn="ctr">
                  <a:spcBef>
                    <a:spcPts val="0"/>
                  </a:spcBef>
                  <a:spcAft>
                    <a:spcPts val="0"/>
                  </a:spcAft>
                  <a:buNone/>
                </a:pPr>
                <a:r>
                  <a:t/>
                </a:r>
                <a:endParaRPr b="1" i="0" sz="1400" u="none" cap="none" strike="noStrike">
                  <a:solidFill>
                    <a:schemeClr val="lt1"/>
                  </a:solidFill>
                  <a:latin typeface="Lora"/>
                  <a:ea typeface="Lora"/>
                  <a:cs typeface="Lora"/>
                  <a:sym typeface="Lora"/>
                </a:endParaRPr>
              </a:p>
            </p:txBody>
          </p:sp>
          <p:sp>
            <p:nvSpPr>
              <p:cNvPr id="642" name="Google Shape;642;p47"/>
              <p:cNvSpPr/>
              <p:nvPr/>
            </p:nvSpPr>
            <p:spPr>
              <a:xfrm>
                <a:off x="998" y="2565226"/>
                <a:ext cx="6086650" cy="1002181"/>
              </a:xfrm>
              <a:custGeom>
                <a:rect b="b" l="l" r="r" t="t"/>
                <a:pathLst>
                  <a:path extrusionOk="0" h="965958" w="5866651">
                    <a:moveTo>
                      <a:pt x="5850592" y="965958"/>
                    </a:moveTo>
                    <a:cubicBezTo>
                      <a:pt x="5783244" y="824528"/>
                      <a:pt x="5514815" y="705227"/>
                      <a:pt x="5371461" y="651349"/>
                    </a:cubicBezTo>
                    <a:cubicBezTo>
                      <a:pt x="5113615" y="554175"/>
                      <a:pt x="4826907" y="487790"/>
                      <a:pt x="4550781" y="436798"/>
                    </a:cubicBezTo>
                    <a:cubicBezTo>
                      <a:pt x="4165937" y="365602"/>
                      <a:pt x="3772434" y="317496"/>
                      <a:pt x="3380855" y="280936"/>
                    </a:cubicBezTo>
                    <a:cubicBezTo>
                      <a:pt x="2877671" y="233793"/>
                      <a:pt x="2369677" y="204929"/>
                      <a:pt x="1863607" y="185687"/>
                    </a:cubicBezTo>
                    <a:cubicBezTo>
                      <a:pt x="1243046" y="161634"/>
                      <a:pt x="621523" y="130847"/>
                      <a:pt x="0" y="127961"/>
                    </a:cubicBezTo>
                    <a:lnTo>
                      <a:pt x="0" y="0"/>
                    </a:lnTo>
                    <a:cubicBezTo>
                      <a:pt x="621523" y="2886"/>
                      <a:pt x="1243046" y="33674"/>
                      <a:pt x="1863607" y="57727"/>
                    </a:cubicBezTo>
                    <a:cubicBezTo>
                      <a:pt x="2369677" y="76969"/>
                      <a:pt x="2876709" y="105832"/>
                      <a:pt x="3380855" y="152975"/>
                    </a:cubicBezTo>
                    <a:cubicBezTo>
                      <a:pt x="3772434" y="189536"/>
                      <a:pt x="4165937" y="236679"/>
                      <a:pt x="4550781" y="308837"/>
                    </a:cubicBezTo>
                    <a:cubicBezTo>
                      <a:pt x="4825944" y="359829"/>
                      <a:pt x="5113615" y="426215"/>
                      <a:pt x="5371461" y="523388"/>
                    </a:cubicBezTo>
                    <a:cubicBezTo>
                      <a:pt x="5532133" y="584001"/>
                      <a:pt x="5851553" y="727355"/>
                      <a:pt x="5865985" y="891876"/>
                    </a:cubicBezTo>
                    <a:cubicBezTo>
                      <a:pt x="5868872" y="917853"/>
                      <a:pt x="5862137" y="942868"/>
                      <a:pt x="5850592" y="965958"/>
                    </a:cubicBezTo>
                    <a:close/>
                  </a:path>
                </a:pathLst>
              </a:custGeom>
              <a:solidFill>
                <a:srgbClr val="59595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43" name="Google Shape;643;p47"/>
              <p:cNvSpPr/>
              <p:nvPr/>
            </p:nvSpPr>
            <p:spPr>
              <a:xfrm>
                <a:off x="4349669" y="3552203"/>
                <a:ext cx="2276421" cy="1472329"/>
              </a:xfrm>
              <a:custGeom>
                <a:rect b="b" l="l" r="r" t="t"/>
                <a:pathLst>
                  <a:path extrusionOk="0" h="1419112" w="2194141">
                    <a:moveTo>
                      <a:pt x="2191122" y="139506"/>
                    </a:moveTo>
                    <a:lnTo>
                      <a:pt x="2191122" y="140468"/>
                    </a:lnTo>
                    <a:lnTo>
                      <a:pt x="2191122" y="139506"/>
                    </a:lnTo>
                    <a:cubicBezTo>
                      <a:pt x="2167070" y="306913"/>
                      <a:pt x="2007359" y="440646"/>
                      <a:pt x="1845724" y="534933"/>
                    </a:cubicBezTo>
                    <a:cubicBezTo>
                      <a:pt x="1621553" y="665780"/>
                      <a:pt x="1345427" y="765840"/>
                      <a:pt x="1094317" y="856278"/>
                    </a:cubicBezTo>
                    <a:cubicBezTo>
                      <a:pt x="851865" y="943830"/>
                      <a:pt x="593057" y="1030420"/>
                      <a:pt x="364075" y="1140101"/>
                    </a:cubicBezTo>
                    <a:cubicBezTo>
                      <a:pt x="241887" y="1198789"/>
                      <a:pt x="60048" y="1296924"/>
                      <a:pt x="11943" y="1419113"/>
                    </a:cubicBezTo>
                    <a:cubicBezTo>
                      <a:pt x="-565" y="1386401"/>
                      <a:pt x="-3451" y="1352727"/>
                      <a:pt x="4246" y="1318091"/>
                    </a:cubicBezTo>
                    <a:cubicBezTo>
                      <a:pt x="34071" y="1183396"/>
                      <a:pt x="233228" y="1074677"/>
                      <a:pt x="364075" y="1012140"/>
                    </a:cubicBezTo>
                    <a:cubicBezTo>
                      <a:pt x="593057" y="902459"/>
                      <a:pt x="851865" y="815869"/>
                      <a:pt x="1094317" y="728317"/>
                    </a:cubicBezTo>
                    <a:cubicBezTo>
                      <a:pt x="1345427" y="637879"/>
                      <a:pt x="1621553" y="537820"/>
                      <a:pt x="1845724" y="406973"/>
                    </a:cubicBezTo>
                    <a:cubicBezTo>
                      <a:pt x="2011208" y="309799"/>
                      <a:pt x="2175728" y="172218"/>
                      <a:pt x="2193046" y="0"/>
                    </a:cubicBezTo>
                    <a:lnTo>
                      <a:pt x="2192084" y="61575"/>
                    </a:lnTo>
                    <a:cubicBezTo>
                      <a:pt x="2194970" y="87552"/>
                      <a:pt x="2194970" y="113529"/>
                      <a:pt x="2191122" y="139506"/>
                    </a:cubicBezTo>
                    <a:close/>
                  </a:path>
                </a:pathLst>
              </a:custGeom>
              <a:solidFill>
                <a:srgbClr val="59595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44" name="Google Shape;644;p47"/>
              <p:cNvSpPr/>
              <p:nvPr/>
            </p:nvSpPr>
            <p:spPr>
              <a:xfrm>
                <a:off x="6624418" y="3495319"/>
                <a:ext cx="9982" cy="9982"/>
              </a:xfrm>
              <a:custGeom>
                <a:rect b="b" l="l" r="r" t="t"/>
                <a:pathLst>
                  <a:path extrusionOk="0" h="9621" w="9621">
                    <a:moveTo>
                      <a:pt x="0" y="0"/>
                    </a:moveTo>
                    <a:lnTo>
                      <a:pt x="0" y="0"/>
                    </a:lnTo>
                    <a:cubicBezTo>
                      <a:pt x="0" y="0"/>
                      <a:pt x="0" y="0"/>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45" name="Google Shape;645;p47"/>
              <p:cNvSpPr/>
              <p:nvPr/>
            </p:nvSpPr>
            <p:spPr>
              <a:xfrm>
                <a:off x="3441707" y="5083064"/>
                <a:ext cx="6419589" cy="1556176"/>
              </a:xfrm>
              <a:custGeom>
                <a:rect b="b" l="l" r="r" t="t"/>
                <a:pathLst>
                  <a:path extrusionOk="0" h="1499929" w="6187556">
                    <a:moveTo>
                      <a:pt x="6187557" y="1383514"/>
                    </a:moveTo>
                    <a:lnTo>
                      <a:pt x="6117323" y="1429696"/>
                    </a:lnTo>
                    <a:lnTo>
                      <a:pt x="6004756" y="1499930"/>
                    </a:lnTo>
                    <a:cubicBezTo>
                      <a:pt x="5681488" y="1478763"/>
                      <a:pt x="5357256" y="1451824"/>
                      <a:pt x="5035911" y="1421999"/>
                    </a:cubicBezTo>
                    <a:cubicBezTo>
                      <a:pt x="4418237" y="1365234"/>
                      <a:pt x="3799600" y="1295962"/>
                      <a:pt x="3187698" y="1208410"/>
                    </a:cubicBezTo>
                    <a:cubicBezTo>
                      <a:pt x="2794195" y="1152608"/>
                      <a:pt x="2401654" y="1088147"/>
                      <a:pt x="2013924" y="1011178"/>
                    </a:cubicBezTo>
                    <a:cubicBezTo>
                      <a:pt x="1671413" y="942868"/>
                      <a:pt x="1325053" y="863013"/>
                      <a:pt x="995049" y="759105"/>
                    </a:cubicBezTo>
                    <a:cubicBezTo>
                      <a:pt x="662159" y="655197"/>
                      <a:pt x="-14204" y="417556"/>
                      <a:pt x="227" y="51954"/>
                    </a:cubicBezTo>
                    <a:cubicBezTo>
                      <a:pt x="1189" y="34636"/>
                      <a:pt x="3114" y="16356"/>
                      <a:pt x="6962" y="0"/>
                    </a:cubicBezTo>
                    <a:cubicBezTo>
                      <a:pt x="79120" y="323269"/>
                      <a:pt x="685250" y="534933"/>
                      <a:pt x="995049" y="631144"/>
                    </a:cubicBezTo>
                    <a:cubicBezTo>
                      <a:pt x="1325053" y="735052"/>
                      <a:pt x="1671413" y="814907"/>
                      <a:pt x="2013924" y="883217"/>
                    </a:cubicBezTo>
                    <a:cubicBezTo>
                      <a:pt x="2401654" y="961148"/>
                      <a:pt x="2794195" y="1024647"/>
                      <a:pt x="3187698" y="1080450"/>
                    </a:cubicBezTo>
                    <a:cubicBezTo>
                      <a:pt x="3800562" y="1168002"/>
                      <a:pt x="4418237" y="1237274"/>
                      <a:pt x="5035911" y="1294038"/>
                    </a:cubicBezTo>
                    <a:cubicBezTo>
                      <a:pt x="5416907" y="1329636"/>
                      <a:pt x="5802713" y="1361386"/>
                      <a:pt x="6187557" y="1383514"/>
                    </a:cubicBezTo>
                    <a:close/>
                  </a:path>
                </a:pathLst>
              </a:custGeom>
              <a:solidFill>
                <a:srgbClr val="59595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46" name="Google Shape;646;p47"/>
              <p:cNvSpPr/>
              <p:nvPr/>
            </p:nvSpPr>
            <p:spPr>
              <a:xfrm>
                <a:off x="9654204" y="6358448"/>
                <a:ext cx="2538394" cy="423232"/>
              </a:xfrm>
              <a:custGeom>
                <a:rect b="b" l="l" r="r" t="t"/>
                <a:pathLst>
                  <a:path extrusionOk="0" h="407934" w="2446645">
                    <a:moveTo>
                      <a:pt x="2446646" y="0"/>
                    </a:moveTo>
                    <a:lnTo>
                      <a:pt x="2446646" y="127961"/>
                    </a:lnTo>
                    <a:lnTo>
                      <a:pt x="2296557" y="145279"/>
                    </a:lnTo>
                    <a:cubicBezTo>
                      <a:pt x="1940576" y="185687"/>
                      <a:pt x="1583634" y="227058"/>
                      <a:pt x="1227653" y="267467"/>
                    </a:cubicBezTo>
                    <a:cubicBezTo>
                      <a:pt x="874558" y="307876"/>
                      <a:pt x="521464" y="348284"/>
                      <a:pt x="167407" y="388692"/>
                    </a:cubicBezTo>
                    <a:lnTo>
                      <a:pt x="0" y="407935"/>
                    </a:lnTo>
                    <a:lnTo>
                      <a:pt x="0" y="279974"/>
                    </a:lnTo>
                    <a:lnTo>
                      <a:pt x="133733" y="264581"/>
                    </a:lnTo>
                    <a:lnTo>
                      <a:pt x="167407" y="260732"/>
                    </a:lnTo>
                    <a:cubicBezTo>
                      <a:pt x="520501" y="220323"/>
                      <a:pt x="873596" y="179915"/>
                      <a:pt x="1227653" y="139506"/>
                    </a:cubicBezTo>
                    <a:cubicBezTo>
                      <a:pt x="1542262" y="103908"/>
                      <a:pt x="1856872" y="67348"/>
                      <a:pt x="2171483" y="31750"/>
                    </a:cubicBezTo>
                    <a:cubicBezTo>
                      <a:pt x="2212853" y="26939"/>
                      <a:pt x="2255186" y="22129"/>
                      <a:pt x="2296557" y="17318"/>
                    </a:cubicBezTo>
                    <a:lnTo>
                      <a:pt x="2446646" y="0"/>
                    </a:lnTo>
                    <a:close/>
                  </a:path>
                </a:pathLst>
              </a:custGeom>
              <a:solidFill>
                <a:srgbClr val="59595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grpSp>
            <p:nvGrpSpPr>
              <p:cNvPr id="647" name="Google Shape;647;p47"/>
              <p:cNvGrpSpPr/>
              <p:nvPr/>
            </p:nvGrpSpPr>
            <p:grpSpPr>
              <a:xfrm>
                <a:off x="12" y="2319806"/>
                <a:ext cx="12192526" cy="4329310"/>
                <a:chOff x="275093" y="1690774"/>
                <a:chExt cx="11754098" cy="4173633"/>
              </a:xfrm>
            </p:grpSpPr>
            <p:sp>
              <p:nvSpPr>
                <p:cNvPr id="648" name="Google Shape;648;p47"/>
                <p:cNvSpPr/>
                <p:nvPr/>
              </p:nvSpPr>
              <p:spPr>
                <a:xfrm>
                  <a:off x="275093" y="1690774"/>
                  <a:ext cx="11754098" cy="4173633"/>
                </a:xfrm>
                <a:custGeom>
                  <a:rect b="b" l="l" r="r" t="t"/>
                  <a:pathLst>
                    <a:path extrusionOk="0" h="4173633" w="11754098">
                      <a:moveTo>
                        <a:pt x="11754099" y="3893659"/>
                      </a:moveTo>
                      <a:lnTo>
                        <a:pt x="11604010" y="3910978"/>
                      </a:lnTo>
                      <a:cubicBezTo>
                        <a:pt x="11562639" y="3915788"/>
                        <a:pt x="11520305" y="3920599"/>
                        <a:pt x="11478935" y="3925409"/>
                      </a:cubicBezTo>
                      <a:cubicBezTo>
                        <a:pt x="11164325" y="3961969"/>
                        <a:pt x="10849715" y="3997568"/>
                        <a:pt x="10535106" y="4033165"/>
                      </a:cubicBezTo>
                      <a:cubicBezTo>
                        <a:pt x="10182011" y="4073574"/>
                        <a:pt x="9828917" y="4113983"/>
                        <a:pt x="9474860" y="4154391"/>
                      </a:cubicBezTo>
                      <a:lnTo>
                        <a:pt x="9441186" y="4158240"/>
                      </a:lnTo>
                      <a:lnTo>
                        <a:pt x="9307453" y="4173634"/>
                      </a:lnTo>
                      <a:lnTo>
                        <a:pt x="9362293" y="4166899"/>
                      </a:lnTo>
                      <a:cubicBezTo>
                        <a:pt x="9348824" y="4165937"/>
                        <a:pt x="9335354" y="4164974"/>
                        <a:pt x="9321885" y="4164012"/>
                      </a:cubicBezTo>
                      <a:lnTo>
                        <a:pt x="9434452" y="4093779"/>
                      </a:lnTo>
                      <a:lnTo>
                        <a:pt x="9504685" y="4047597"/>
                      </a:lnTo>
                      <a:cubicBezTo>
                        <a:pt x="9120803" y="4025469"/>
                        <a:pt x="8734997" y="3993719"/>
                        <a:pt x="8352078" y="3959083"/>
                      </a:cubicBezTo>
                      <a:cubicBezTo>
                        <a:pt x="7734403" y="3902318"/>
                        <a:pt x="7115767" y="3833047"/>
                        <a:pt x="6503864" y="3745495"/>
                      </a:cubicBezTo>
                      <a:cubicBezTo>
                        <a:pt x="6110362" y="3689692"/>
                        <a:pt x="5717820" y="3625231"/>
                        <a:pt x="5330090" y="3548262"/>
                      </a:cubicBezTo>
                      <a:cubicBezTo>
                        <a:pt x="4987579" y="3479952"/>
                        <a:pt x="4641219" y="3400097"/>
                        <a:pt x="4311215" y="3296189"/>
                      </a:cubicBezTo>
                      <a:cubicBezTo>
                        <a:pt x="4002378" y="3199016"/>
                        <a:pt x="3395287" y="2987352"/>
                        <a:pt x="3323128" y="2665045"/>
                      </a:cubicBezTo>
                      <a:cubicBezTo>
                        <a:pt x="3317356" y="2640992"/>
                        <a:pt x="3315431" y="2615015"/>
                        <a:pt x="3316394" y="2589038"/>
                      </a:cubicBezTo>
                      <a:cubicBezTo>
                        <a:pt x="3324090" y="2392768"/>
                        <a:pt x="3532868" y="2238830"/>
                        <a:pt x="3712783" y="2134922"/>
                      </a:cubicBezTo>
                      <a:cubicBezTo>
                        <a:pt x="3961969" y="1990606"/>
                        <a:pt x="4262148" y="1878039"/>
                        <a:pt x="4540198" y="1778942"/>
                      </a:cubicBezTo>
                      <a:cubicBezTo>
                        <a:pt x="4740317" y="1707746"/>
                        <a:pt x="4942360" y="1640398"/>
                        <a:pt x="5142478" y="1570164"/>
                      </a:cubicBezTo>
                      <a:cubicBezTo>
                        <a:pt x="5302189" y="1514361"/>
                        <a:pt x="5470558" y="1454710"/>
                        <a:pt x="5620647" y="1382552"/>
                      </a:cubicBezTo>
                      <a:cubicBezTo>
                        <a:pt x="5701465" y="1344068"/>
                        <a:pt x="5810183" y="1281531"/>
                        <a:pt x="5850592" y="1201676"/>
                      </a:cubicBezTo>
                      <a:cubicBezTo>
                        <a:pt x="5862137" y="1178585"/>
                        <a:pt x="5867910" y="1153570"/>
                        <a:pt x="5865985" y="1127593"/>
                      </a:cubicBezTo>
                      <a:cubicBezTo>
                        <a:pt x="5851554" y="963072"/>
                        <a:pt x="5532133" y="819718"/>
                        <a:pt x="5371461" y="759105"/>
                      </a:cubicBezTo>
                      <a:cubicBezTo>
                        <a:pt x="5113615" y="661932"/>
                        <a:pt x="4826906" y="595546"/>
                        <a:pt x="4550781" y="544554"/>
                      </a:cubicBezTo>
                      <a:cubicBezTo>
                        <a:pt x="4165937" y="473358"/>
                        <a:pt x="3772434" y="425253"/>
                        <a:pt x="3380855" y="388692"/>
                      </a:cubicBezTo>
                      <a:cubicBezTo>
                        <a:pt x="2877671" y="341549"/>
                        <a:pt x="2369677" y="312686"/>
                        <a:pt x="1863607" y="293444"/>
                      </a:cubicBezTo>
                      <a:cubicBezTo>
                        <a:pt x="1243046" y="269391"/>
                        <a:pt x="621523" y="238603"/>
                        <a:pt x="0" y="235717"/>
                      </a:cubicBezTo>
                      <a:lnTo>
                        <a:pt x="0" y="0"/>
                      </a:lnTo>
                      <a:cubicBezTo>
                        <a:pt x="663856" y="16356"/>
                        <a:pt x="1327712" y="24053"/>
                        <a:pt x="1990606" y="59651"/>
                      </a:cubicBezTo>
                      <a:cubicBezTo>
                        <a:pt x="2533236" y="89476"/>
                        <a:pt x="3076828" y="126999"/>
                        <a:pt x="3616572" y="181839"/>
                      </a:cubicBezTo>
                      <a:cubicBezTo>
                        <a:pt x="4036052" y="224172"/>
                        <a:pt x="4459380" y="277088"/>
                        <a:pt x="4872126" y="354057"/>
                      </a:cubicBezTo>
                      <a:cubicBezTo>
                        <a:pt x="5166531" y="408897"/>
                        <a:pt x="5476331" y="478169"/>
                        <a:pt x="5752456" y="580152"/>
                      </a:cubicBezTo>
                      <a:cubicBezTo>
                        <a:pt x="6009340" y="675401"/>
                        <a:pt x="6348002" y="860127"/>
                        <a:pt x="6381676" y="1116048"/>
                      </a:cubicBezTo>
                      <a:cubicBezTo>
                        <a:pt x="6382639" y="1121820"/>
                        <a:pt x="6382639" y="1126631"/>
                        <a:pt x="6383600" y="1132404"/>
                      </a:cubicBezTo>
                      <a:cubicBezTo>
                        <a:pt x="6383600" y="1132404"/>
                        <a:pt x="6383600" y="1132404"/>
                        <a:pt x="6383600" y="1133366"/>
                      </a:cubicBezTo>
                      <a:lnTo>
                        <a:pt x="6382639" y="1187244"/>
                      </a:lnTo>
                      <a:cubicBezTo>
                        <a:pt x="6365321" y="1360424"/>
                        <a:pt x="6201762" y="1498005"/>
                        <a:pt x="6035316" y="1594216"/>
                      </a:cubicBezTo>
                      <a:cubicBezTo>
                        <a:pt x="5811145" y="1725063"/>
                        <a:pt x="5535019" y="1825123"/>
                        <a:pt x="5283909" y="1915561"/>
                      </a:cubicBezTo>
                      <a:cubicBezTo>
                        <a:pt x="5041457" y="2003113"/>
                        <a:pt x="4782649" y="2089703"/>
                        <a:pt x="4553667" y="2199384"/>
                      </a:cubicBezTo>
                      <a:cubicBezTo>
                        <a:pt x="4421858" y="2262883"/>
                        <a:pt x="4222701" y="2370639"/>
                        <a:pt x="4193838" y="2505335"/>
                      </a:cubicBezTo>
                      <a:cubicBezTo>
                        <a:pt x="4186141" y="2539009"/>
                        <a:pt x="4189989" y="2573645"/>
                        <a:pt x="4201535" y="2606356"/>
                      </a:cubicBezTo>
                      <a:cubicBezTo>
                        <a:pt x="4202497" y="2608280"/>
                        <a:pt x="4203459" y="2611167"/>
                        <a:pt x="4204421" y="2613091"/>
                      </a:cubicBezTo>
                      <a:cubicBezTo>
                        <a:pt x="4376639" y="3041230"/>
                        <a:pt x="6467304" y="3301000"/>
                        <a:pt x="6939700" y="3358726"/>
                      </a:cubicBezTo>
                      <a:cubicBezTo>
                        <a:pt x="7460202" y="3422226"/>
                        <a:pt x="7985514" y="3472255"/>
                        <a:pt x="8508902" y="3511702"/>
                      </a:cubicBezTo>
                      <a:cubicBezTo>
                        <a:pt x="8877390" y="3539603"/>
                        <a:pt x="9245878" y="3562694"/>
                        <a:pt x="9614366" y="3580974"/>
                      </a:cubicBezTo>
                      <a:cubicBezTo>
                        <a:pt x="9801015" y="3590595"/>
                        <a:pt x="9992475" y="3601178"/>
                        <a:pt x="10180087" y="3603102"/>
                      </a:cubicBezTo>
                      <a:lnTo>
                        <a:pt x="10439857" y="3432809"/>
                      </a:lnTo>
                      <a:lnTo>
                        <a:pt x="10461984" y="3440506"/>
                      </a:lnTo>
                      <a:cubicBezTo>
                        <a:pt x="10653445" y="3507853"/>
                        <a:pt x="10843943" y="3575201"/>
                        <a:pt x="11035403" y="3642549"/>
                      </a:cubicBezTo>
                      <a:cubicBezTo>
                        <a:pt x="11226862" y="3709896"/>
                        <a:pt x="11418322" y="3777244"/>
                        <a:pt x="11609782" y="3844592"/>
                      </a:cubicBezTo>
                      <a:lnTo>
                        <a:pt x="11754099" y="389365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49" name="Google Shape;649;p47"/>
                <p:cNvSpPr/>
                <p:nvPr/>
              </p:nvSpPr>
              <p:spPr>
                <a:xfrm>
                  <a:off x="6661580" y="2824139"/>
                  <a:ext cx="1360" cy="53878"/>
                </a:xfrm>
                <a:custGeom>
                  <a:rect b="b" l="l" r="r" t="t"/>
                  <a:pathLst>
                    <a:path extrusionOk="0" h="53878" w="1360">
                      <a:moveTo>
                        <a:pt x="0" y="53878"/>
                      </a:moveTo>
                      <a:lnTo>
                        <a:pt x="962" y="0"/>
                      </a:lnTo>
                      <a:cubicBezTo>
                        <a:pt x="1924" y="19242"/>
                        <a:pt x="962" y="36560"/>
                        <a:pt x="0" y="53878"/>
                      </a:cubicBezTo>
                      <a:close/>
                    </a:path>
                  </a:pathLst>
                </a:custGeom>
                <a:solidFill>
                  <a:srgbClr val="4140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50" name="Google Shape;650;p47"/>
                <p:cNvSpPr/>
                <p:nvPr/>
              </p:nvSpPr>
              <p:spPr>
                <a:xfrm>
                  <a:off x="9582546" y="5855748"/>
                  <a:ext cx="54840" cy="8659"/>
                </a:xfrm>
                <a:custGeom>
                  <a:rect b="b" l="l" r="r" t="t"/>
                  <a:pathLst>
                    <a:path extrusionOk="0" h="8659" w="54840">
                      <a:moveTo>
                        <a:pt x="54840" y="1924"/>
                      </a:moveTo>
                      <a:lnTo>
                        <a:pt x="0" y="8659"/>
                      </a:lnTo>
                      <a:lnTo>
                        <a:pt x="14432" y="0"/>
                      </a:lnTo>
                      <a:cubicBezTo>
                        <a:pt x="27901" y="0"/>
                        <a:pt x="41371" y="962"/>
                        <a:pt x="54840" y="1924"/>
                      </a:cubicBezTo>
                      <a:close/>
                    </a:path>
                  </a:pathLst>
                </a:custGeom>
                <a:solidFill>
                  <a:srgbClr val="4140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grpSp>
          <p:sp>
            <p:nvSpPr>
              <p:cNvPr id="651" name="Google Shape;651;p47"/>
              <p:cNvSpPr/>
              <p:nvPr/>
            </p:nvSpPr>
            <p:spPr>
              <a:xfrm>
                <a:off x="1997" y="2339688"/>
                <a:ext cx="12031175" cy="4255280"/>
              </a:xfrm>
              <a:custGeom>
                <a:rect b="b" l="l" r="r" t="t"/>
                <a:pathLst>
                  <a:path extrusionOk="0" h="4101475" w="11596313">
                    <a:moveTo>
                      <a:pt x="9458504" y="4101475"/>
                    </a:moveTo>
                    <a:lnTo>
                      <a:pt x="9458504" y="4101475"/>
                    </a:lnTo>
                    <a:lnTo>
                      <a:pt x="9458504" y="4101475"/>
                    </a:lnTo>
                    <a:cubicBezTo>
                      <a:pt x="9814485" y="4061067"/>
                      <a:pt x="10170465" y="4020658"/>
                      <a:pt x="10527408" y="3979287"/>
                    </a:cubicBezTo>
                    <a:cubicBezTo>
                      <a:pt x="10883389" y="3938879"/>
                      <a:pt x="11240332" y="3898470"/>
                      <a:pt x="11596313" y="3857099"/>
                    </a:cubicBezTo>
                    <a:cubicBezTo>
                      <a:pt x="11404853" y="3789752"/>
                      <a:pt x="11213393" y="3722404"/>
                      <a:pt x="11021933" y="3656018"/>
                    </a:cubicBezTo>
                    <a:cubicBezTo>
                      <a:pt x="10830473" y="3588671"/>
                      <a:pt x="10639014" y="3521323"/>
                      <a:pt x="10448515" y="3453975"/>
                    </a:cubicBezTo>
                    <a:lnTo>
                      <a:pt x="10448515" y="3453975"/>
                    </a:lnTo>
                    <a:lnTo>
                      <a:pt x="10448515" y="3453975"/>
                    </a:lnTo>
                    <a:lnTo>
                      <a:pt x="10448515" y="3453975"/>
                    </a:lnTo>
                    <a:lnTo>
                      <a:pt x="10196443" y="3618496"/>
                    </a:lnTo>
                    <a:cubicBezTo>
                      <a:pt x="10046353" y="3617534"/>
                      <a:pt x="9357482" y="3591557"/>
                      <a:pt x="8506977" y="3527096"/>
                    </a:cubicBezTo>
                    <a:cubicBezTo>
                      <a:pt x="6898329" y="3405870"/>
                      <a:pt x="4368942" y="3107616"/>
                      <a:pt x="4166899" y="2605394"/>
                    </a:cubicBezTo>
                    <a:cubicBezTo>
                      <a:pt x="3983136" y="2146468"/>
                      <a:pt x="5360878" y="1928069"/>
                      <a:pt x="6013188" y="1547073"/>
                    </a:cubicBezTo>
                    <a:cubicBezTo>
                      <a:pt x="6631825" y="1186282"/>
                      <a:pt x="6292200" y="798551"/>
                      <a:pt x="5736101" y="592660"/>
                    </a:cubicBezTo>
                    <a:cubicBezTo>
                      <a:pt x="4829793" y="257846"/>
                      <a:pt x="2890179" y="70234"/>
                      <a:pt x="0" y="0"/>
                    </a:cubicBezTo>
                    <a:lnTo>
                      <a:pt x="0" y="25977"/>
                    </a:lnTo>
                    <a:cubicBezTo>
                      <a:pt x="1192054" y="55802"/>
                      <a:pt x="2444722" y="103908"/>
                      <a:pt x="3624269" y="224172"/>
                    </a:cubicBezTo>
                    <a:cubicBezTo>
                      <a:pt x="4258299" y="288633"/>
                      <a:pt x="5135744" y="408897"/>
                      <a:pt x="5719745" y="624410"/>
                    </a:cubicBezTo>
                    <a:cubicBezTo>
                      <a:pt x="6245056" y="818756"/>
                      <a:pt x="6579871" y="1174737"/>
                      <a:pt x="5990097" y="1519172"/>
                    </a:cubicBezTo>
                    <a:cubicBezTo>
                      <a:pt x="5770736" y="1647132"/>
                      <a:pt x="5498459" y="1745268"/>
                      <a:pt x="5254083" y="1833782"/>
                    </a:cubicBezTo>
                    <a:cubicBezTo>
                      <a:pt x="5007783" y="1922296"/>
                      <a:pt x="4747051" y="2009848"/>
                      <a:pt x="4515183" y="2121453"/>
                    </a:cubicBezTo>
                    <a:cubicBezTo>
                      <a:pt x="4357397" y="2197460"/>
                      <a:pt x="4149581" y="2314837"/>
                      <a:pt x="4114945" y="2475509"/>
                    </a:cubicBezTo>
                    <a:cubicBezTo>
                      <a:pt x="4104362" y="2523615"/>
                      <a:pt x="4110134" y="2570758"/>
                      <a:pt x="4128414" y="2616940"/>
                    </a:cubicBezTo>
                    <a:cubicBezTo>
                      <a:pt x="4228474" y="2867088"/>
                      <a:pt x="4827868" y="3027760"/>
                      <a:pt x="5098222" y="3096070"/>
                    </a:cubicBezTo>
                    <a:cubicBezTo>
                      <a:pt x="5380120" y="3166304"/>
                      <a:pt x="5669715" y="3222107"/>
                      <a:pt x="5958348" y="3270212"/>
                    </a:cubicBezTo>
                    <a:cubicBezTo>
                      <a:pt x="6280655" y="3324091"/>
                      <a:pt x="6604886" y="3369310"/>
                      <a:pt x="6930079" y="3408756"/>
                    </a:cubicBezTo>
                    <a:cubicBezTo>
                      <a:pt x="7452505" y="3472255"/>
                      <a:pt x="7978779" y="3522285"/>
                      <a:pt x="8504091" y="3562694"/>
                    </a:cubicBezTo>
                    <a:cubicBezTo>
                      <a:pt x="8872579" y="3590595"/>
                      <a:pt x="9242992" y="3613685"/>
                      <a:pt x="9612441" y="3631966"/>
                    </a:cubicBezTo>
                    <a:cubicBezTo>
                      <a:pt x="9804863" y="3641587"/>
                      <a:pt x="10004021" y="3652170"/>
                      <a:pt x="10196443" y="3654094"/>
                    </a:cubicBezTo>
                    <a:lnTo>
                      <a:pt x="10210875" y="3654094"/>
                    </a:lnTo>
                    <a:lnTo>
                      <a:pt x="10455250" y="3494384"/>
                    </a:lnTo>
                    <a:cubicBezTo>
                      <a:pt x="10639014" y="3558845"/>
                      <a:pt x="10822776" y="3623307"/>
                      <a:pt x="11006539" y="3687768"/>
                    </a:cubicBezTo>
                    <a:cubicBezTo>
                      <a:pt x="11151818" y="3738760"/>
                      <a:pt x="11297096" y="3789752"/>
                      <a:pt x="11441412" y="3840743"/>
                    </a:cubicBezTo>
                    <a:cubicBezTo>
                      <a:pt x="11134500" y="3875379"/>
                      <a:pt x="10828549" y="3910978"/>
                      <a:pt x="10521635" y="3945613"/>
                    </a:cubicBezTo>
                    <a:cubicBezTo>
                      <a:pt x="10215685" y="3980249"/>
                      <a:pt x="9909734" y="4015848"/>
                      <a:pt x="9604745" y="4050484"/>
                    </a:cubicBezTo>
                    <a:lnTo>
                      <a:pt x="9725971" y="3971590"/>
                    </a:lnTo>
                    <a:lnTo>
                      <a:pt x="9617252" y="3965818"/>
                    </a:lnTo>
                    <a:cubicBezTo>
                      <a:pt x="9198734" y="3943689"/>
                      <a:pt x="8777330" y="3910015"/>
                      <a:pt x="8360737" y="3871531"/>
                    </a:cubicBezTo>
                    <a:cubicBezTo>
                      <a:pt x="7744024" y="3814767"/>
                      <a:pt x="7128274" y="3746457"/>
                      <a:pt x="6517334" y="3658905"/>
                    </a:cubicBezTo>
                    <a:cubicBezTo>
                      <a:pt x="5983363" y="3582898"/>
                      <a:pt x="3373158" y="3212486"/>
                      <a:pt x="3399135" y="2572683"/>
                    </a:cubicBezTo>
                    <a:cubicBezTo>
                      <a:pt x="3405870" y="2402389"/>
                      <a:pt x="3605027" y="2261921"/>
                      <a:pt x="3759926" y="2173407"/>
                    </a:cubicBezTo>
                    <a:cubicBezTo>
                      <a:pt x="4004302" y="2031976"/>
                      <a:pt x="4300632" y="1921334"/>
                      <a:pt x="4572909" y="1824161"/>
                    </a:cubicBezTo>
                    <a:cubicBezTo>
                      <a:pt x="4773028" y="1752965"/>
                      <a:pt x="4974109" y="1685617"/>
                      <a:pt x="5174228" y="1615383"/>
                    </a:cubicBezTo>
                    <a:cubicBezTo>
                      <a:pt x="5336825" y="1558618"/>
                      <a:pt x="5508080" y="1498005"/>
                      <a:pt x="5662018" y="1423923"/>
                    </a:cubicBezTo>
                    <a:cubicBezTo>
                      <a:pt x="5799600" y="1358499"/>
                      <a:pt x="5961234" y="1251705"/>
                      <a:pt x="5948727" y="1104502"/>
                    </a:cubicBezTo>
                    <a:cubicBezTo>
                      <a:pt x="5931409" y="905346"/>
                      <a:pt x="5601405" y="751408"/>
                      <a:pt x="5406097" y="678288"/>
                    </a:cubicBezTo>
                    <a:cubicBezTo>
                      <a:pt x="4791308" y="446419"/>
                      <a:pt x="4055294" y="376185"/>
                      <a:pt x="3391438" y="313648"/>
                    </a:cubicBezTo>
                    <a:cubicBezTo>
                      <a:pt x="2257110" y="207816"/>
                      <a:pt x="1137214" y="185687"/>
                      <a:pt x="0" y="180877"/>
                    </a:cubicBezTo>
                    <a:lnTo>
                      <a:pt x="0" y="206854"/>
                    </a:lnTo>
                    <a:cubicBezTo>
                      <a:pt x="2717961" y="212626"/>
                      <a:pt x="4514221" y="380033"/>
                      <a:pt x="5387817" y="709075"/>
                    </a:cubicBezTo>
                    <a:cubicBezTo>
                      <a:pt x="5795752" y="863013"/>
                      <a:pt x="6181557" y="1134328"/>
                      <a:pt x="5640851" y="1393135"/>
                    </a:cubicBezTo>
                    <a:cubicBezTo>
                      <a:pt x="5017404" y="1691390"/>
                      <a:pt x="3378931" y="2042560"/>
                      <a:pt x="3356802" y="2569796"/>
                    </a:cubicBezTo>
                    <a:cubicBezTo>
                      <a:pt x="3318318" y="3526134"/>
                      <a:pt x="8479076" y="3939841"/>
                      <a:pt x="9613404" y="3999492"/>
                    </a:cubicBezTo>
                    <a:lnTo>
                      <a:pt x="9586465" y="4016810"/>
                    </a:lnTo>
                    <a:lnTo>
                      <a:pt x="9576844" y="4022582"/>
                    </a:lnTo>
                    <a:lnTo>
                      <a:pt x="9569146" y="4027393"/>
                    </a:lnTo>
                    <a:lnTo>
                      <a:pt x="9458504" y="410147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52" name="Google Shape;652;p47"/>
              <p:cNvSpPr/>
              <p:nvPr/>
            </p:nvSpPr>
            <p:spPr>
              <a:xfrm>
                <a:off x="1997" y="2365636"/>
                <a:ext cx="11868469" cy="4176423"/>
              </a:xfrm>
              <a:custGeom>
                <a:rect b="b" l="l" r="r" t="t"/>
                <a:pathLst>
                  <a:path extrusionOk="0" h="4025468" w="11439488">
                    <a:moveTo>
                      <a:pt x="0" y="155862"/>
                    </a:moveTo>
                    <a:cubicBezTo>
                      <a:pt x="1136252" y="160672"/>
                      <a:pt x="2257110" y="182801"/>
                      <a:pt x="3389514" y="288633"/>
                    </a:cubicBezTo>
                    <a:cubicBezTo>
                      <a:pt x="4054332" y="350208"/>
                      <a:pt x="4790346" y="421404"/>
                      <a:pt x="5404173" y="653273"/>
                    </a:cubicBezTo>
                    <a:cubicBezTo>
                      <a:pt x="5599481" y="726393"/>
                      <a:pt x="5929484" y="880331"/>
                      <a:pt x="5946802" y="1079488"/>
                    </a:cubicBezTo>
                    <a:cubicBezTo>
                      <a:pt x="5960272" y="1226690"/>
                      <a:pt x="5797675" y="1333485"/>
                      <a:pt x="5660094" y="1398908"/>
                    </a:cubicBezTo>
                    <a:cubicBezTo>
                      <a:pt x="5507118" y="1472028"/>
                      <a:pt x="5335862" y="1532641"/>
                      <a:pt x="5172304" y="1590368"/>
                    </a:cubicBezTo>
                    <a:cubicBezTo>
                      <a:pt x="4972185" y="1660602"/>
                      <a:pt x="4770142" y="1727950"/>
                      <a:pt x="4570985" y="1799146"/>
                    </a:cubicBezTo>
                    <a:cubicBezTo>
                      <a:pt x="4297746" y="1896319"/>
                      <a:pt x="4001416" y="2006962"/>
                      <a:pt x="3758002" y="2148392"/>
                    </a:cubicBezTo>
                    <a:cubicBezTo>
                      <a:pt x="3604064" y="2237868"/>
                      <a:pt x="3403945" y="2378336"/>
                      <a:pt x="3397211" y="2547668"/>
                    </a:cubicBezTo>
                    <a:cubicBezTo>
                      <a:pt x="3371234" y="3188433"/>
                      <a:pt x="5981439" y="3557883"/>
                      <a:pt x="6515410" y="3633890"/>
                    </a:cubicBezTo>
                    <a:cubicBezTo>
                      <a:pt x="7126350" y="3721442"/>
                      <a:pt x="7743062" y="3789752"/>
                      <a:pt x="8358812" y="3846516"/>
                    </a:cubicBezTo>
                    <a:cubicBezTo>
                      <a:pt x="8775406" y="3885001"/>
                      <a:pt x="9196810" y="3918674"/>
                      <a:pt x="9615328" y="3940803"/>
                    </a:cubicBezTo>
                    <a:lnTo>
                      <a:pt x="9724047" y="3946576"/>
                    </a:lnTo>
                    <a:lnTo>
                      <a:pt x="9602820" y="4025469"/>
                    </a:lnTo>
                    <a:cubicBezTo>
                      <a:pt x="9908772" y="3990833"/>
                      <a:pt x="10214722" y="3955234"/>
                      <a:pt x="10519712" y="3920598"/>
                    </a:cubicBezTo>
                    <a:cubicBezTo>
                      <a:pt x="10826625" y="3885963"/>
                      <a:pt x="11132575" y="3850365"/>
                      <a:pt x="11439489" y="3815729"/>
                    </a:cubicBezTo>
                    <a:cubicBezTo>
                      <a:pt x="11294210" y="3764737"/>
                      <a:pt x="11148932" y="3713745"/>
                      <a:pt x="11004615" y="3662753"/>
                    </a:cubicBezTo>
                    <a:cubicBezTo>
                      <a:pt x="10820851" y="3598292"/>
                      <a:pt x="10637089" y="3533830"/>
                      <a:pt x="10453326" y="3469369"/>
                    </a:cubicBezTo>
                    <a:lnTo>
                      <a:pt x="10208950" y="3629079"/>
                    </a:lnTo>
                    <a:lnTo>
                      <a:pt x="10194518" y="3629079"/>
                    </a:lnTo>
                    <a:cubicBezTo>
                      <a:pt x="10001134" y="3627155"/>
                      <a:pt x="9802940" y="3616572"/>
                      <a:pt x="9610518" y="3606951"/>
                    </a:cubicBezTo>
                    <a:cubicBezTo>
                      <a:pt x="9241067" y="3588670"/>
                      <a:pt x="8870655" y="3565580"/>
                      <a:pt x="8502167" y="3537679"/>
                    </a:cubicBezTo>
                    <a:cubicBezTo>
                      <a:pt x="7975893" y="3498232"/>
                      <a:pt x="7450581" y="3447240"/>
                      <a:pt x="6928155" y="3383741"/>
                    </a:cubicBezTo>
                    <a:cubicBezTo>
                      <a:pt x="6602962" y="3344295"/>
                      <a:pt x="6278730" y="3299076"/>
                      <a:pt x="5956423" y="3245197"/>
                    </a:cubicBezTo>
                    <a:cubicBezTo>
                      <a:pt x="5667790" y="3197092"/>
                      <a:pt x="5378196" y="3141289"/>
                      <a:pt x="5096297" y="3071055"/>
                    </a:cubicBezTo>
                    <a:cubicBezTo>
                      <a:pt x="4826907" y="3003708"/>
                      <a:pt x="4227512" y="2842073"/>
                      <a:pt x="4126490" y="2591925"/>
                    </a:cubicBezTo>
                    <a:cubicBezTo>
                      <a:pt x="4108210" y="2545743"/>
                      <a:pt x="4102437" y="2497638"/>
                      <a:pt x="4113021" y="2450494"/>
                    </a:cubicBezTo>
                    <a:cubicBezTo>
                      <a:pt x="4147657" y="2289822"/>
                      <a:pt x="4356435" y="2172445"/>
                      <a:pt x="4513259" y="2096438"/>
                    </a:cubicBezTo>
                    <a:cubicBezTo>
                      <a:pt x="4745127" y="1984833"/>
                      <a:pt x="5005859" y="1897281"/>
                      <a:pt x="5252159" y="1808767"/>
                    </a:cubicBezTo>
                    <a:cubicBezTo>
                      <a:pt x="5497497" y="1720253"/>
                      <a:pt x="5769774" y="1622118"/>
                      <a:pt x="5988174" y="1494157"/>
                    </a:cubicBezTo>
                    <a:cubicBezTo>
                      <a:pt x="6577947" y="1149722"/>
                      <a:pt x="6244095" y="794703"/>
                      <a:pt x="5717820" y="599395"/>
                    </a:cubicBezTo>
                    <a:cubicBezTo>
                      <a:pt x="5133819" y="382920"/>
                      <a:pt x="4256375" y="263618"/>
                      <a:pt x="3622345" y="199157"/>
                    </a:cubicBezTo>
                    <a:cubicBezTo>
                      <a:pt x="2444722" y="78893"/>
                      <a:pt x="1192054" y="30787"/>
                      <a:pt x="0" y="0"/>
                    </a:cubicBezTo>
                    <a:lnTo>
                      <a:pt x="0" y="15586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53" name="Google Shape;653;p47"/>
              <p:cNvSpPr/>
              <p:nvPr/>
            </p:nvSpPr>
            <p:spPr>
              <a:xfrm>
                <a:off x="1997" y="2439484"/>
                <a:ext cx="10491966" cy="3875968"/>
              </a:xfrm>
              <a:custGeom>
                <a:rect b="b" l="l" r="r" t="t"/>
                <a:pathLst>
                  <a:path extrusionOk="0" h="3735873" w="10112738">
                    <a:moveTo>
                      <a:pt x="10111777" y="3735874"/>
                    </a:moveTo>
                    <a:lnTo>
                      <a:pt x="10051163" y="3732987"/>
                    </a:lnTo>
                    <a:lnTo>
                      <a:pt x="10052126" y="3718556"/>
                    </a:lnTo>
                    <a:lnTo>
                      <a:pt x="10112739" y="3721442"/>
                    </a:lnTo>
                    <a:lnTo>
                      <a:pt x="10111777" y="3735874"/>
                    </a:lnTo>
                    <a:close/>
                    <a:moveTo>
                      <a:pt x="10007868" y="3730101"/>
                    </a:moveTo>
                    <a:cubicBezTo>
                      <a:pt x="9964573" y="3728177"/>
                      <a:pt x="9916468" y="3725290"/>
                      <a:pt x="9862590" y="3722404"/>
                    </a:cubicBezTo>
                    <a:lnTo>
                      <a:pt x="9863552" y="3707972"/>
                    </a:lnTo>
                    <a:cubicBezTo>
                      <a:pt x="9917431" y="3710859"/>
                      <a:pt x="9965537" y="3713745"/>
                      <a:pt x="10008831" y="3715669"/>
                    </a:cubicBezTo>
                    <a:lnTo>
                      <a:pt x="10007868" y="3730101"/>
                    </a:lnTo>
                    <a:close/>
                    <a:moveTo>
                      <a:pt x="9819295" y="3720480"/>
                    </a:moveTo>
                    <a:cubicBezTo>
                      <a:pt x="9774076" y="3717593"/>
                      <a:pt x="9725971" y="3715669"/>
                      <a:pt x="9674017" y="3712783"/>
                    </a:cubicBezTo>
                    <a:lnTo>
                      <a:pt x="9674979" y="3698351"/>
                    </a:lnTo>
                    <a:cubicBezTo>
                      <a:pt x="9725971" y="3701237"/>
                      <a:pt x="9775038" y="3704124"/>
                      <a:pt x="9820258" y="3706048"/>
                    </a:cubicBezTo>
                    <a:lnTo>
                      <a:pt x="9819295" y="3720480"/>
                    </a:lnTo>
                    <a:close/>
                    <a:moveTo>
                      <a:pt x="9630722" y="3708935"/>
                    </a:moveTo>
                    <a:cubicBezTo>
                      <a:pt x="9584541" y="3706048"/>
                      <a:pt x="9536435" y="3703162"/>
                      <a:pt x="9485443" y="3700275"/>
                    </a:cubicBezTo>
                    <a:lnTo>
                      <a:pt x="9486405" y="3685844"/>
                    </a:lnTo>
                    <a:cubicBezTo>
                      <a:pt x="9536435" y="3688730"/>
                      <a:pt x="9585502" y="3691616"/>
                      <a:pt x="9631684" y="3694503"/>
                    </a:cubicBezTo>
                    <a:lnTo>
                      <a:pt x="9630722" y="3708935"/>
                    </a:lnTo>
                    <a:close/>
                    <a:moveTo>
                      <a:pt x="9442148" y="3698351"/>
                    </a:moveTo>
                    <a:cubicBezTo>
                      <a:pt x="9395005" y="3695465"/>
                      <a:pt x="9346899" y="3692579"/>
                      <a:pt x="9296869" y="3689692"/>
                    </a:cubicBezTo>
                    <a:lnTo>
                      <a:pt x="9297832" y="3675261"/>
                    </a:lnTo>
                    <a:cubicBezTo>
                      <a:pt x="9347861" y="3678147"/>
                      <a:pt x="9395967" y="3681033"/>
                      <a:pt x="9442148" y="3683920"/>
                    </a:cubicBezTo>
                    <a:lnTo>
                      <a:pt x="9442148" y="3698351"/>
                    </a:lnTo>
                    <a:close/>
                    <a:moveTo>
                      <a:pt x="9254537" y="3685844"/>
                    </a:moveTo>
                    <a:cubicBezTo>
                      <a:pt x="9207393" y="3682957"/>
                      <a:pt x="9159288" y="3680071"/>
                      <a:pt x="9110220" y="3676223"/>
                    </a:cubicBezTo>
                    <a:lnTo>
                      <a:pt x="9111182" y="3661791"/>
                    </a:lnTo>
                    <a:cubicBezTo>
                      <a:pt x="9160250" y="3664677"/>
                      <a:pt x="9209318" y="3668526"/>
                      <a:pt x="9255499" y="3671412"/>
                    </a:cubicBezTo>
                    <a:lnTo>
                      <a:pt x="9254537" y="3685844"/>
                    </a:lnTo>
                    <a:close/>
                    <a:moveTo>
                      <a:pt x="9065963" y="3674299"/>
                    </a:moveTo>
                    <a:cubicBezTo>
                      <a:pt x="9018820" y="3671412"/>
                      <a:pt x="8970714" y="3667564"/>
                      <a:pt x="8921647" y="3664677"/>
                    </a:cubicBezTo>
                    <a:lnTo>
                      <a:pt x="8922609" y="3650246"/>
                    </a:lnTo>
                    <a:cubicBezTo>
                      <a:pt x="8971676" y="3654094"/>
                      <a:pt x="9019782" y="3656980"/>
                      <a:pt x="9066925" y="3659867"/>
                    </a:cubicBezTo>
                    <a:lnTo>
                      <a:pt x="9065963" y="3674299"/>
                    </a:lnTo>
                    <a:close/>
                    <a:moveTo>
                      <a:pt x="8878352" y="3660829"/>
                    </a:moveTo>
                    <a:cubicBezTo>
                      <a:pt x="8831209" y="3656980"/>
                      <a:pt x="8783103" y="3654094"/>
                      <a:pt x="8734035" y="3650246"/>
                    </a:cubicBezTo>
                    <a:lnTo>
                      <a:pt x="8734998" y="3635814"/>
                    </a:lnTo>
                    <a:cubicBezTo>
                      <a:pt x="8784065" y="3639662"/>
                      <a:pt x="8832170" y="3642549"/>
                      <a:pt x="8879314" y="3646397"/>
                    </a:cubicBezTo>
                    <a:lnTo>
                      <a:pt x="8878352" y="3660829"/>
                    </a:lnTo>
                    <a:close/>
                    <a:moveTo>
                      <a:pt x="8689778" y="3647359"/>
                    </a:moveTo>
                    <a:cubicBezTo>
                      <a:pt x="8642635" y="3643511"/>
                      <a:pt x="8594529" y="3639662"/>
                      <a:pt x="8545462" y="3635814"/>
                    </a:cubicBezTo>
                    <a:lnTo>
                      <a:pt x="8546424" y="3621382"/>
                    </a:lnTo>
                    <a:cubicBezTo>
                      <a:pt x="8595492" y="3625231"/>
                      <a:pt x="8643597" y="3629079"/>
                      <a:pt x="8690740" y="3632928"/>
                    </a:cubicBezTo>
                    <a:lnTo>
                      <a:pt x="8689778" y="3647359"/>
                    </a:lnTo>
                    <a:close/>
                    <a:moveTo>
                      <a:pt x="8502167" y="3632928"/>
                    </a:moveTo>
                    <a:cubicBezTo>
                      <a:pt x="8454061" y="3629079"/>
                      <a:pt x="8405956" y="3625231"/>
                      <a:pt x="8357851" y="3621382"/>
                    </a:cubicBezTo>
                    <a:lnTo>
                      <a:pt x="8358812" y="3606951"/>
                    </a:lnTo>
                    <a:cubicBezTo>
                      <a:pt x="8407880" y="3610799"/>
                      <a:pt x="8455986" y="3614648"/>
                      <a:pt x="8503129" y="3618496"/>
                    </a:cubicBezTo>
                    <a:lnTo>
                      <a:pt x="8502167" y="3632928"/>
                    </a:lnTo>
                    <a:close/>
                    <a:moveTo>
                      <a:pt x="8314556" y="3617534"/>
                    </a:moveTo>
                    <a:cubicBezTo>
                      <a:pt x="8266450" y="3613685"/>
                      <a:pt x="8218345" y="3609837"/>
                      <a:pt x="8170239" y="3605026"/>
                    </a:cubicBezTo>
                    <a:lnTo>
                      <a:pt x="8171201" y="3590595"/>
                    </a:lnTo>
                    <a:cubicBezTo>
                      <a:pt x="8219306" y="3594443"/>
                      <a:pt x="8268374" y="3599254"/>
                      <a:pt x="8315517" y="3603102"/>
                    </a:cubicBezTo>
                    <a:lnTo>
                      <a:pt x="8314556" y="3617534"/>
                    </a:lnTo>
                    <a:close/>
                    <a:moveTo>
                      <a:pt x="8126944" y="3601178"/>
                    </a:moveTo>
                    <a:cubicBezTo>
                      <a:pt x="8078839" y="3597330"/>
                      <a:pt x="8030733" y="3592519"/>
                      <a:pt x="7982628" y="3588671"/>
                    </a:cubicBezTo>
                    <a:lnTo>
                      <a:pt x="7983589" y="3574239"/>
                    </a:lnTo>
                    <a:cubicBezTo>
                      <a:pt x="8031695" y="3579050"/>
                      <a:pt x="8079800" y="3582898"/>
                      <a:pt x="8127906" y="3586746"/>
                    </a:cubicBezTo>
                    <a:lnTo>
                      <a:pt x="8126944" y="3601178"/>
                    </a:lnTo>
                    <a:close/>
                    <a:moveTo>
                      <a:pt x="7939333" y="3584822"/>
                    </a:moveTo>
                    <a:cubicBezTo>
                      <a:pt x="7891227" y="3580012"/>
                      <a:pt x="7843122" y="3576163"/>
                      <a:pt x="7795016" y="3571353"/>
                    </a:cubicBezTo>
                    <a:lnTo>
                      <a:pt x="7795978" y="3556921"/>
                    </a:lnTo>
                    <a:cubicBezTo>
                      <a:pt x="7844083" y="3561732"/>
                      <a:pt x="7892189" y="3565580"/>
                      <a:pt x="7940295" y="3570390"/>
                    </a:cubicBezTo>
                    <a:lnTo>
                      <a:pt x="7939333" y="3584822"/>
                    </a:lnTo>
                    <a:close/>
                    <a:moveTo>
                      <a:pt x="7751721" y="3567504"/>
                    </a:moveTo>
                    <a:cubicBezTo>
                      <a:pt x="7703616" y="3562694"/>
                      <a:pt x="7655510" y="3557883"/>
                      <a:pt x="7607405" y="3553073"/>
                    </a:cubicBezTo>
                    <a:lnTo>
                      <a:pt x="7608367" y="3538641"/>
                    </a:lnTo>
                    <a:cubicBezTo>
                      <a:pt x="7656472" y="3543451"/>
                      <a:pt x="7704578" y="3548262"/>
                      <a:pt x="7752683" y="3553073"/>
                    </a:cubicBezTo>
                    <a:lnTo>
                      <a:pt x="7751721" y="3567504"/>
                    </a:lnTo>
                    <a:close/>
                    <a:moveTo>
                      <a:pt x="7564110" y="3549224"/>
                    </a:moveTo>
                    <a:cubicBezTo>
                      <a:pt x="7516004" y="3544414"/>
                      <a:pt x="7467899" y="3539603"/>
                      <a:pt x="7419793" y="3534793"/>
                    </a:cubicBezTo>
                    <a:lnTo>
                      <a:pt x="7421718" y="3520361"/>
                    </a:lnTo>
                    <a:cubicBezTo>
                      <a:pt x="7469823" y="3525171"/>
                      <a:pt x="7517929" y="3529982"/>
                      <a:pt x="7566034" y="3534793"/>
                    </a:cubicBezTo>
                    <a:lnTo>
                      <a:pt x="7564110" y="3549224"/>
                    </a:lnTo>
                    <a:close/>
                    <a:moveTo>
                      <a:pt x="7376498" y="3529982"/>
                    </a:moveTo>
                    <a:cubicBezTo>
                      <a:pt x="7328393" y="3525171"/>
                      <a:pt x="7280287" y="3519399"/>
                      <a:pt x="7232182" y="3514588"/>
                    </a:cubicBezTo>
                    <a:lnTo>
                      <a:pt x="7234106" y="3500157"/>
                    </a:lnTo>
                    <a:cubicBezTo>
                      <a:pt x="7282212" y="3504967"/>
                      <a:pt x="7330317" y="3510740"/>
                      <a:pt x="7378423" y="3515550"/>
                    </a:cubicBezTo>
                    <a:lnTo>
                      <a:pt x="7376498" y="3529982"/>
                    </a:lnTo>
                    <a:close/>
                    <a:moveTo>
                      <a:pt x="7188887" y="3508815"/>
                    </a:moveTo>
                    <a:cubicBezTo>
                      <a:pt x="7140781" y="3503043"/>
                      <a:pt x="7092676" y="3498232"/>
                      <a:pt x="7044570" y="3492460"/>
                    </a:cubicBezTo>
                    <a:lnTo>
                      <a:pt x="7046495" y="3478028"/>
                    </a:lnTo>
                    <a:cubicBezTo>
                      <a:pt x="7094600" y="3483801"/>
                      <a:pt x="7142706" y="3488611"/>
                      <a:pt x="7190811" y="3494384"/>
                    </a:cubicBezTo>
                    <a:lnTo>
                      <a:pt x="7188887" y="3508815"/>
                    </a:lnTo>
                    <a:close/>
                    <a:moveTo>
                      <a:pt x="7002237" y="3487649"/>
                    </a:moveTo>
                    <a:cubicBezTo>
                      <a:pt x="6954132" y="3481877"/>
                      <a:pt x="6906026" y="3476104"/>
                      <a:pt x="6857921" y="3470331"/>
                    </a:cubicBezTo>
                    <a:lnTo>
                      <a:pt x="6859845" y="3455899"/>
                    </a:lnTo>
                    <a:cubicBezTo>
                      <a:pt x="6907951" y="3461672"/>
                      <a:pt x="6956056" y="3467445"/>
                      <a:pt x="7004162" y="3473218"/>
                    </a:cubicBezTo>
                    <a:lnTo>
                      <a:pt x="7002237" y="3487649"/>
                    </a:lnTo>
                    <a:close/>
                    <a:moveTo>
                      <a:pt x="6814626" y="3465521"/>
                    </a:moveTo>
                    <a:cubicBezTo>
                      <a:pt x="6766520" y="3459748"/>
                      <a:pt x="6718415" y="3453975"/>
                      <a:pt x="6671272" y="3447240"/>
                    </a:cubicBezTo>
                    <a:lnTo>
                      <a:pt x="6673195" y="3432809"/>
                    </a:lnTo>
                    <a:cubicBezTo>
                      <a:pt x="6721301" y="3438582"/>
                      <a:pt x="6769406" y="3445316"/>
                      <a:pt x="6816550" y="3451089"/>
                    </a:cubicBezTo>
                    <a:lnTo>
                      <a:pt x="6814626" y="3465521"/>
                    </a:lnTo>
                    <a:close/>
                    <a:moveTo>
                      <a:pt x="6627977" y="3442430"/>
                    </a:moveTo>
                    <a:cubicBezTo>
                      <a:pt x="6579871" y="3436657"/>
                      <a:pt x="6532728" y="3429923"/>
                      <a:pt x="6484622" y="3423188"/>
                    </a:cubicBezTo>
                    <a:lnTo>
                      <a:pt x="6486546" y="3408756"/>
                    </a:lnTo>
                    <a:cubicBezTo>
                      <a:pt x="6533689" y="3415491"/>
                      <a:pt x="6581795" y="3421263"/>
                      <a:pt x="6629900" y="3427998"/>
                    </a:cubicBezTo>
                    <a:lnTo>
                      <a:pt x="6627977" y="3442430"/>
                    </a:lnTo>
                    <a:close/>
                    <a:moveTo>
                      <a:pt x="6441327" y="3417415"/>
                    </a:moveTo>
                    <a:cubicBezTo>
                      <a:pt x="6393222" y="3410680"/>
                      <a:pt x="6345116" y="3403946"/>
                      <a:pt x="6297973" y="3397211"/>
                    </a:cubicBezTo>
                    <a:lnTo>
                      <a:pt x="6299897" y="3382779"/>
                    </a:lnTo>
                    <a:cubicBezTo>
                      <a:pt x="6347040" y="3389514"/>
                      <a:pt x="6395146" y="3396249"/>
                      <a:pt x="6443251" y="3402983"/>
                    </a:cubicBezTo>
                    <a:lnTo>
                      <a:pt x="6441327" y="3417415"/>
                    </a:lnTo>
                    <a:close/>
                    <a:moveTo>
                      <a:pt x="6254678" y="3390476"/>
                    </a:moveTo>
                    <a:cubicBezTo>
                      <a:pt x="6206572" y="3383741"/>
                      <a:pt x="6158467" y="3376044"/>
                      <a:pt x="6111324" y="3369310"/>
                    </a:cubicBezTo>
                    <a:lnTo>
                      <a:pt x="6113248" y="3354878"/>
                    </a:lnTo>
                    <a:cubicBezTo>
                      <a:pt x="6160391" y="3362575"/>
                      <a:pt x="6208496" y="3369310"/>
                      <a:pt x="6256602" y="3376044"/>
                    </a:cubicBezTo>
                    <a:lnTo>
                      <a:pt x="6254678" y="3390476"/>
                    </a:lnTo>
                    <a:close/>
                    <a:moveTo>
                      <a:pt x="6068029" y="3362575"/>
                    </a:moveTo>
                    <a:cubicBezTo>
                      <a:pt x="6019923" y="3354878"/>
                      <a:pt x="5971818" y="3347181"/>
                      <a:pt x="5924674" y="3339484"/>
                    </a:cubicBezTo>
                    <a:lnTo>
                      <a:pt x="5926598" y="3325052"/>
                    </a:lnTo>
                    <a:cubicBezTo>
                      <a:pt x="5973742" y="3332749"/>
                      <a:pt x="6021847" y="3340446"/>
                      <a:pt x="6069953" y="3348143"/>
                    </a:cubicBezTo>
                    <a:lnTo>
                      <a:pt x="6068029" y="3362575"/>
                    </a:lnTo>
                    <a:close/>
                    <a:moveTo>
                      <a:pt x="5882341" y="3332749"/>
                    </a:moveTo>
                    <a:cubicBezTo>
                      <a:pt x="5834236" y="3325052"/>
                      <a:pt x="5787092" y="3316393"/>
                      <a:pt x="5738987" y="3308697"/>
                    </a:cubicBezTo>
                    <a:lnTo>
                      <a:pt x="5741873" y="3294265"/>
                    </a:lnTo>
                    <a:cubicBezTo>
                      <a:pt x="5789017" y="3302924"/>
                      <a:pt x="5837122" y="3310621"/>
                      <a:pt x="5884265" y="3318318"/>
                    </a:cubicBezTo>
                    <a:lnTo>
                      <a:pt x="5882341" y="3332749"/>
                    </a:lnTo>
                    <a:close/>
                    <a:moveTo>
                      <a:pt x="5696654" y="3301000"/>
                    </a:moveTo>
                    <a:cubicBezTo>
                      <a:pt x="5648548" y="3292341"/>
                      <a:pt x="5601405" y="3283682"/>
                      <a:pt x="5554262" y="3275023"/>
                    </a:cubicBezTo>
                    <a:lnTo>
                      <a:pt x="5557148" y="3260591"/>
                    </a:lnTo>
                    <a:cubicBezTo>
                      <a:pt x="5604291" y="3269250"/>
                      <a:pt x="5651435" y="3277909"/>
                      <a:pt x="5699541" y="3286568"/>
                    </a:cubicBezTo>
                    <a:lnTo>
                      <a:pt x="5696654" y="3301000"/>
                    </a:lnTo>
                    <a:close/>
                    <a:moveTo>
                      <a:pt x="5510967" y="3267326"/>
                    </a:moveTo>
                    <a:cubicBezTo>
                      <a:pt x="5462861" y="3257705"/>
                      <a:pt x="5415718" y="3249046"/>
                      <a:pt x="5368574" y="3239425"/>
                    </a:cubicBezTo>
                    <a:lnTo>
                      <a:pt x="5371461" y="3224993"/>
                    </a:lnTo>
                    <a:cubicBezTo>
                      <a:pt x="5418604" y="3234614"/>
                      <a:pt x="5465747" y="3244235"/>
                      <a:pt x="5513853" y="3252894"/>
                    </a:cubicBezTo>
                    <a:lnTo>
                      <a:pt x="5510967" y="3267326"/>
                    </a:lnTo>
                    <a:close/>
                    <a:moveTo>
                      <a:pt x="5326241" y="3230766"/>
                    </a:moveTo>
                    <a:cubicBezTo>
                      <a:pt x="5278136" y="3221145"/>
                      <a:pt x="5230993" y="3210561"/>
                      <a:pt x="5184812" y="3200940"/>
                    </a:cubicBezTo>
                    <a:lnTo>
                      <a:pt x="5187698" y="3186509"/>
                    </a:lnTo>
                    <a:cubicBezTo>
                      <a:pt x="5233879" y="3197092"/>
                      <a:pt x="5281023" y="3206713"/>
                      <a:pt x="5329128" y="3216334"/>
                    </a:cubicBezTo>
                    <a:lnTo>
                      <a:pt x="5326241" y="3230766"/>
                    </a:lnTo>
                    <a:close/>
                    <a:moveTo>
                      <a:pt x="5142479" y="3191319"/>
                    </a:moveTo>
                    <a:cubicBezTo>
                      <a:pt x="5094373" y="3180736"/>
                      <a:pt x="5047229" y="3169191"/>
                      <a:pt x="5001048" y="3158607"/>
                    </a:cubicBezTo>
                    <a:lnTo>
                      <a:pt x="5004897" y="3144176"/>
                    </a:lnTo>
                    <a:cubicBezTo>
                      <a:pt x="5051078" y="3155721"/>
                      <a:pt x="5098222" y="3166304"/>
                      <a:pt x="5146327" y="3176888"/>
                    </a:cubicBezTo>
                    <a:lnTo>
                      <a:pt x="5142479" y="3191319"/>
                    </a:lnTo>
                    <a:close/>
                    <a:moveTo>
                      <a:pt x="4958716" y="3148024"/>
                    </a:moveTo>
                    <a:cubicBezTo>
                      <a:pt x="4911572" y="3136479"/>
                      <a:pt x="4864429" y="3123971"/>
                      <a:pt x="4818247" y="3111464"/>
                    </a:cubicBezTo>
                    <a:lnTo>
                      <a:pt x="4822096" y="3097032"/>
                    </a:lnTo>
                    <a:cubicBezTo>
                      <a:pt x="4868277" y="3109540"/>
                      <a:pt x="4915421" y="3121085"/>
                      <a:pt x="4962564" y="3133593"/>
                    </a:cubicBezTo>
                    <a:lnTo>
                      <a:pt x="4958716" y="3148024"/>
                    </a:lnTo>
                    <a:close/>
                    <a:moveTo>
                      <a:pt x="4775915" y="3099919"/>
                    </a:moveTo>
                    <a:cubicBezTo>
                      <a:pt x="4728771" y="3086449"/>
                      <a:pt x="4681628" y="3072980"/>
                      <a:pt x="4636409" y="3059510"/>
                    </a:cubicBezTo>
                    <a:lnTo>
                      <a:pt x="4640257" y="3046040"/>
                    </a:lnTo>
                    <a:cubicBezTo>
                      <a:pt x="4685476" y="3059510"/>
                      <a:pt x="4732620" y="3072980"/>
                      <a:pt x="4779763" y="3086449"/>
                    </a:cubicBezTo>
                    <a:lnTo>
                      <a:pt x="4775915" y="3099919"/>
                    </a:lnTo>
                    <a:close/>
                    <a:moveTo>
                      <a:pt x="4595038" y="3047003"/>
                    </a:moveTo>
                    <a:cubicBezTo>
                      <a:pt x="4547895" y="3032571"/>
                      <a:pt x="4500751" y="3017177"/>
                      <a:pt x="4457456" y="3001784"/>
                    </a:cubicBezTo>
                    <a:lnTo>
                      <a:pt x="4462267" y="2988314"/>
                    </a:lnTo>
                    <a:cubicBezTo>
                      <a:pt x="4506524" y="3003708"/>
                      <a:pt x="4552705" y="3019102"/>
                      <a:pt x="4599849" y="3033533"/>
                    </a:cubicBezTo>
                    <a:lnTo>
                      <a:pt x="4595038" y="3047003"/>
                    </a:lnTo>
                    <a:close/>
                    <a:moveTo>
                      <a:pt x="4416085" y="2987352"/>
                    </a:moveTo>
                    <a:cubicBezTo>
                      <a:pt x="4368942" y="2970034"/>
                      <a:pt x="4323723" y="2952716"/>
                      <a:pt x="4280428" y="2935398"/>
                    </a:cubicBezTo>
                    <a:lnTo>
                      <a:pt x="4286201" y="2921928"/>
                    </a:lnTo>
                    <a:cubicBezTo>
                      <a:pt x="4328533" y="2939246"/>
                      <a:pt x="4373753" y="2957527"/>
                      <a:pt x="4420896" y="2973882"/>
                    </a:cubicBezTo>
                    <a:lnTo>
                      <a:pt x="4416085" y="2987352"/>
                    </a:lnTo>
                    <a:close/>
                    <a:moveTo>
                      <a:pt x="4240019" y="2918080"/>
                    </a:moveTo>
                    <a:cubicBezTo>
                      <a:pt x="4193838" y="2897876"/>
                      <a:pt x="4149581" y="2876709"/>
                      <a:pt x="4108210" y="2855543"/>
                    </a:cubicBezTo>
                    <a:lnTo>
                      <a:pt x="4114945" y="2843035"/>
                    </a:lnTo>
                    <a:cubicBezTo>
                      <a:pt x="4155353" y="2864202"/>
                      <a:pt x="4198649" y="2884406"/>
                      <a:pt x="4245792" y="2904610"/>
                    </a:cubicBezTo>
                    <a:lnTo>
                      <a:pt x="4240019" y="2918080"/>
                    </a:lnTo>
                    <a:close/>
                    <a:moveTo>
                      <a:pt x="4070688" y="2834376"/>
                    </a:moveTo>
                    <a:cubicBezTo>
                      <a:pt x="4024506" y="2809362"/>
                      <a:pt x="3984098" y="2782422"/>
                      <a:pt x="3947538" y="2756446"/>
                    </a:cubicBezTo>
                    <a:lnTo>
                      <a:pt x="3956197" y="2744900"/>
                    </a:lnTo>
                    <a:cubicBezTo>
                      <a:pt x="3991795" y="2770877"/>
                      <a:pt x="4032203" y="2796854"/>
                      <a:pt x="4077422" y="2821869"/>
                    </a:cubicBezTo>
                    <a:lnTo>
                      <a:pt x="4070688" y="2834376"/>
                    </a:lnTo>
                    <a:close/>
                    <a:moveTo>
                      <a:pt x="3912902" y="2729506"/>
                    </a:moveTo>
                    <a:cubicBezTo>
                      <a:pt x="3871531" y="2695832"/>
                      <a:pt x="3837857" y="2660235"/>
                      <a:pt x="3811880" y="2624636"/>
                    </a:cubicBezTo>
                    <a:lnTo>
                      <a:pt x="3823425" y="2615977"/>
                    </a:lnTo>
                    <a:cubicBezTo>
                      <a:pt x="3847478" y="2650613"/>
                      <a:pt x="3881152" y="2684287"/>
                      <a:pt x="3921561" y="2717961"/>
                    </a:cubicBezTo>
                    <a:lnTo>
                      <a:pt x="3912902" y="2729506"/>
                    </a:lnTo>
                    <a:close/>
                    <a:moveTo>
                      <a:pt x="3788789" y="2588076"/>
                    </a:moveTo>
                    <a:cubicBezTo>
                      <a:pt x="3772434" y="2557289"/>
                      <a:pt x="3760888" y="2526501"/>
                      <a:pt x="3756078" y="2494752"/>
                    </a:cubicBezTo>
                    <a:cubicBezTo>
                      <a:pt x="3754154" y="2484168"/>
                      <a:pt x="3754154" y="2474547"/>
                      <a:pt x="3754154" y="2463964"/>
                    </a:cubicBezTo>
                    <a:cubicBezTo>
                      <a:pt x="3754154" y="2458191"/>
                      <a:pt x="3754154" y="2453381"/>
                      <a:pt x="3755116" y="2447608"/>
                    </a:cubicBezTo>
                    <a:lnTo>
                      <a:pt x="3769547" y="2448570"/>
                    </a:lnTo>
                    <a:cubicBezTo>
                      <a:pt x="3769547" y="2453381"/>
                      <a:pt x="3768585" y="2458191"/>
                      <a:pt x="3768585" y="2463964"/>
                    </a:cubicBezTo>
                    <a:cubicBezTo>
                      <a:pt x="3768585" y="2473585"/>
                      <a:pt x="3769547" y="2483206"/>
                      <a:pt x="3770509" y="2492827"/>
                    </a:cubicBezTo>
                    <a:cubicBezTo>
                      <a:pt x="3775320" y="2522653"/>
                      <a:pt x="3784941" y="2552478"/>
                      <a:pt x="3801297" y="2581341"/>
                    </a:cubicBezTo>
                    <a:lnTo>
                      <a:pt x="3788789" y="2588076"/>
                    </a:lnTo>
                    <a:close/>
                    <a:moveTo>
                      <a:pt x="3777244" y="2408162"/>
                    </a:moveTo>
                    <a:lnTo>
                      <a:pt x="3763775" y="2404313"/>
                    </a:lnTo>
                    <a:cubicBezTo>
                      <a:pt x="3775320" y="2362942"/>
                      <a:pt x="3800335" y="2319647"/>
                      <a:pt x="3837857" y="2278277"/>
                    </a:cubicBezTo>
                    <a:lnTo>
                      <a:pt x="3848440" y="2287898"/>
                    </a:lnTo>
                    <a:cubicBezTo>
                      <a:pt x="3811880" y="2328307"/>
                      <a:pt x="3788789" y="2368715"/>
                      <a:pt x="3777244" y="2408162"/>
                    </a:cubicBezTo>
                    <a:close/>
                    <a:moveTo>
                      <a:pt x="3877304" y="2256148"/>
                    </a:moveTo>
                    <a:lnTo>
                      <a:pt x="3866720" y="2245565"/>
                    </a:lnTo>
                    <a:cubicBezTo>
                      <a:pt x="3897508" y="2214777"/>
                      <a:pt x="3935992" y="2183990"/>
                      <a:pt x="3979287" y="2153202"/>
                    </a:cubicBezTo>
                    <a:lnTo>
                      <a:pt x="3987946" y="2164748"/>
                    </a:lnTo>
                    <a:cubicBezTo>
                      <a:pt x="3944651" y="2195535"/>
                      <a:pt x="3908091" y="2226323"/>
                      <a:pt x="3877304" y="2256148"/>
                    </a:cubicBezTo>
                    <a:close/>
                    <a:moveTo>
                      <a:pt x="4023545" y="2141657"/>
                    </a:moveTo>
                    <a:lnTo>
                      <a:pt x="4015847" y="2129150"/>
                    </a:lnTo>
                    <a:cubicBezTo>
                      <a:pt x="4053370" y="2104135"/>
                      <a:pt x="4095703" y="2079120"/>
                      <a:pt x="4140922" y="2055067"/>
                    </a:cubicBezTo>
                    <a:lnTo>
                      <a:pt x="4147657" y="2067575"/>
                    </a:lnTo>
                    <a:cubicBezTo>
                      <a:pt x="4102437" y="2091627"/>
                      <a:pt x="4061067" y="2116642"/>
                      <a:pt x="4023545" y="2141657"/>
                    </a:cubicBezTo>
                    <a:close/>
                    <a:moveTo>
                      <a:pt x="4186141" y="2047370"/>
                    </a:moveTo>
                    <a:lnTo>
                      <a:pt x="4179406" y="2034863"/>
                    </a:lnTo>
                    <a:cubicBezTo>
                      <a:pt x="4219815" y="2013696"/>
                      <a:pt x="4263110" y="1992530"/>
                      <a:pt x="4310253" y="1971364"/>
                    </a:cubicBezTo>
                    <a:lnTo>
                      <a:pt x="4316026" y="1984833"/>
                    </a:lnTo>
                    <a:cubicBezTo>
                      <a:pt x="4269845" y="2005038"/>
                      <a:pt x="4226550" y="2026204"/>
                      <a:pt x="4186141" y="2047370"/>
                    </a:cubicBezTo>
                    <a:close/>
                    <a:moveTo>
                      <a:pt x="4355473" y="1965591"/>
                    </a:moveTo>
                    <a:lnTo>
                      <a:pt x="4349700" y="1952121"/>
                    </a:lnTo>
                    <a:cubicBezTo>
                      <a:pt x="4392033" y="1932879"/>
                      <a:pt x="4435328" y="1914599"/>
                      <a:pt x="4483433" y="1895357"/>
                    </a:cubicBezTo>
                    <a:lnTo>
                      <a:pt x="4489206" y="1908827"/>
                    </a:lnTo>
                    <a:cubicBezTo>
                      <a:pt x="4441100" y="1928069"/>
                      <a:pt x="4397805" y="1946349"/>
                      <a:pt x="4355473" y="1965591"/>
                    </a:cubicBezTo>
                    <a:close/>
                    <a:moveTo>
                      <a:pt x="4528652" y="1892471"/>
                    </a:moveTo>
                    <a:lnTo>
                      <a:pt x="4522880" y="1879001"/>
                    </a:lnTo>
                    <a:cubicBezTo>
                      <a:pt x="4565213" y="1861683"/>
                      <a:pt x="4609470" y="1844365"/>
                      <a:pt x="4658537" y="1827047"/>
                    </a:cubicBezTo>
                    <a:lnTo>
                      <a:pt x="4663348" y="1840517"/>
                    </a:lnTo>
                    <a:cubicBezTo>
                      <a:pt x="4615242" y="1857834"/>
                      <a:pt x="4570985" y="1875153"/>
                      <a:pt x="4528652" y="1892471"/>
                    </a:cubicBezTo>
                    <a:close/>
                    <a:moveTo>
                      <a:pt x="4704718" y="1825123"/>
                    </a:moveTo>
                    <a:lnTo>
                      <a:pt x="4699908" y="1811653"/>
                    </a:lnTo>
                    <a:cubicBezTo>
                      <a:pt x="4728771" y="1801070"/>
                      <a:pt x="4756672" y="1790487"/>
                      <a:pt x="4781687" y="1780866"/>
                    </a:cubicBezTo>
                    <a:cubicBezTo>
                      <a:pt x="4800929" y="1774131"/>
                      <a:pt x="4819210" y="1767396"/>
                      <a:pt x="4835565" y="1760662"/>
                    </a:cubicBezTo>
                    <a:lnTo>
                      <a:pt x="4840376" y="1774131"/>
                    </a:lnTo>
                    <a:cubicBezTo>
                      <a:pt x="4824020" y="1779904"/>
                      <a:pt x="4805740" y="1786638"/>
                      <a:pt x="4786498" y="1794335"/>
                    </a:cubicBezTo>
                    <a:cubicBezTo>
                      <a:pt x="4761483" y="1803957"/>
                      <a:pt x="4733582" y="1814540"/>
                      <a:pt x="4704718" y="1825123"/>
                    </a:cubicBezTo>
                    <a:close/>
                    <a:moveTo>
                      <a:pt x="4881747" y="1759699"/>
                    </a:moveTo>
                    <a:lnTo>
                      <a:pt x="4876936" y="1746230"/>
                    </a:lnTo>
                    <a:cubicBezTo>
                      <a:pt x="4922155" y="1728912"/>
                      <a:pt x="4967374" y="1711594"/>
                      <a:pt x="5012594" y="1695238"/>
                    </a:cubicBezTo>
                    <a:lnTo>
                      <a:pt x="5017404" y="1708707"/>
                    </a:lnTo>
                    <a:cubicBezTo>
                      <a:pt x="4971223" y="1725063"/>
                      <a:pt x="4926004" y="1742381"/>
                      <a:pt x="4881747" y="1759699"/>
                    </a:cubicBezTo>
                    <a:close/>
                    <a:moveTo>
                      <a:pt x="5057813" y="1692352"/>
                    </a:moveTo>
                    <a:lnTo>
                      <a:pt x="5053002" y="1678882"/>
                    </a:lnTo>
                    <a:lnTo>
                      <a:pt x="5060699" y="1675996"/>
                    </a:lnTo>
                    <a:cubicBezTo>
                      <a:pt x="5103032" y="1659640"/>
                      <a:pt x="5146327" y="1644246"/>
                      <a:pt x="5188660" y="1627890"/>
                    </a:cubicBezTo>
                    <a:lnTo>
                      <a:pt x="5193470" y="1641360"/>
                    </a:lnTo>
                    <a:cubicBezTo>
                      <a:pt x="5151138" y="1657716"/>
                      <a:pt x="5108805" y="1673110"/>
                      <a:pt x="5065510" y="1689465"/>
                    </a:cubicBezTo>
                    <a:lnTo>
                      <a:pt x="5057813" y="1692352"/>
                    </a:lnTo>
                    <a:close/>
                    <a:moveTo>
                      <a:pt x="5233879" y="1625966"/>
                    </a:moveTo>
                    <a:lnTo>
                      <a:pt x="5229068" y="1612496"/>
                    </a:lnTo>
                    <a:cubicBezTo>
                      <a:pt x="5274288" y="1595179"/>
                      <a:pt x="5319507" y="1577861"/>
                      <a:pt x="5363764" y="1560543"/>
                    </a:cubicBezTo>
                    <a:lnTo>
                      <a:pt x="5369536" y="1574012"/>
                    </a:lnTo>
                    <a:cubicBezTo>
                      <a:pt x="5324318" y="1591330"/>
                      <a:pt x="5279098" y="1608648"/>
                      <a:pt x="5233879" y="1625966"/>
                    </a:cubicBezTo>
                    <a:close/>
                    <a:moveTo>
                      <a:pt x="5408983" y="1557656"/>
                    </a:moveTo>
                    <a:lnTo>
                      <a:pt x="5403210" y="1544187"/>
                    </a:lnTo>
                    <a:cubicBezTo>
                      <a:pt x="5452278" y="1524945"/>
                      <a:pt x="5496535" y="1506664"/>
                      <a:pt x="5536944" y="1489346"/>
                    </a:cubicBezTo>
                    <a:lnTo>
                      <a:pt x="5542716" y="1502816"/>
                    </a:lnTo>
                    <a:cubicBezTo>
                      <a:pt x="5502308" y="1520134"/>
                      <a:pt x="5458051" y="1538414"/>
                      <a:pt x="5408983" y="1557656"/>
                    </a:cubicBezTo>
                    <a:close/>
                    <a:moveTo>
                      <a:pt x="5583125" y="1485498"/>
                    </a:moveTo>
                    <a:lnTo>
                      <a:pt x="5577352" y="1472028"/>
                    </a:lnTo>
                    <a:cubicBezTo>
                      <a:pt x="5625458" y="1450862"/>
                      <a:pt x="5668753" y="1431620"/>
                      <a:pt x="5709162" y="1412378"/>
                    </a:cubicBezTo>
                    <a:lnTo>
                      <a:pt x="5715896" y="1425847"/>
                    </a:lnTo>
                    <a:cubicBezTo>
                      <a:pt x="5674525" y="1445089"/>
                      <a:pt x="5632193" y="1464332"/>
                      <a:pt x="5583125" y="1485498"/>
                    </a:cubicBezTo>
                    <a:close/>
                    <a:moveTo>
                      <a:pt x="5754380" y="1405643"/>
                    </a:moveTo>
                    <a:lnTo>
                      <a:pt x="5747646" y="1393135"/>
                    </a:lnTo>
                    <a:cubicBezTo>
                      <a:pt x="5794789" y="1370045"/>
                      <a:pt x="5837122" y="1345992"/>
                      <a:pt x="5873682" y="1323864"/>
                    </a:cubicBezTo>
                    <a:lnTo>
                      <a:pt x="5881379" y="1336371"/>
                    </a:lnTo>
                    <a:cubicBezTo>
                      <a:pt x="5843857" y="1358499"/>
                      <a:pt x="5801524" y="1382552"/>
                      <a:pt x="5754380" y="1405643"/>
                    </a:cubicBezTo>
                    <a:close/>
                    <a:moveTo>
                      <a:pt x="5918901" y="1313280"/>
                    </a:moveTo>
                    <a:lnTo>
                      <a:pt x="5911205" y="1300773"/>
                    </a:lnTo>
                    <a:cubicBezTo>
                      <a:pt x="5956423" y="1270948"/>
                      <a:pt x="5994908" y="1241122"/>
                      <a:pt x="6023771" y="1212259"/>
                    </a:cubicBezTo>
                    <a:lnTo>
                      <a:pt x="6034355" y="1222842"/>
                    </a:lnTo>
                    <a:cubicBezTo>
                      <a:pt x="6003567" y="1252667"/>
                      <a:pt x="5965083" y="1282493"/>
                      <a:pt x="5918901" y="1313280"/>
                    </a:cubicBezTo>
                    <a:close/>
                    <a:moveTo>
                      <a:pt x="6064180" y="1191092"/>
                    </a:moveTo>
                    <a:lnTo>
                      <a:pt x="6052634" y="1181471"/>
                    </a:lnTo>
                    <a:cubicBezTo>
                      <a:pt x="6086308" y="1141063"/>
                      <a:pt x="6104589" y="1099692"/>
                      <a:pt x="6105550" y="1060245"/>
                    </a:cubicBezTo>
                    <a:lnTo>
                      <a:pt x="6105550" y="1055435"/>
                    </a:lnTo>
                    <a:lnTo>
                      <a:pt x="6119982" y="1055435"/>
                    </a:lnTo>
                    <a:lnTo>
                      <a:pt x="6119982" y="1060245"/>
                    </a:lnTo>
                    <a:cubicBezTo>
                      <a:pt x="6119020" y="1103540"/>
                      <a:pt x="6099778" y="1147797"/>
                      <a:pt x="6064180" y="1191092"/>
                    </a:cubicBezTo>
                    <a:close/>
                    <a:moveTo>
                      <a:pt x="6103627" y="1014064"/>
                    </a:moveTo>
                    <a:cubicBezTo>
                      <a:pt x="6096892" y="970769"/>
                      <a:pt x="6079574" y="927474"/>
                      <a:pt x="6050711" y="884179"/>
                    </a:cubicBezTo>
                    <a:lnTo>
                      <a:pt x="6063218" y="876482"/>
                    </a:lnTo>
                    <a:cubicBezTo>
                      <a:pt x="6093043" y="921701"/>
                      <a:pt x="6111324" y="966921"/>
                      <a:pt x="6118058" y="1012140"/>
                    </a:cubicBezTo>
                    <a:lnTo>
                      <a:pt x="6103627" y="1014064"/>
                    </a:lnTo>
                    <a:close/>
                    <a:moveTo>
                      <a:pt x="6024734" y="849543"/>
                    </a:moveTo>
                    <a:cubicBezTo>
                      <a:pt x="5996832" y="814907"/>
                      <a:pt x="5963158" y="782196"/>
                      <a:pt x="5922750" y="749484"/>
                    </a:cubicBezTo>
                    <a:lnTo>
                      <a:pt x="5931409" y="737938"/>
                    </a:lnTo>
                    <a:cubicBezTo>
                      <a:pt x="5972779" y="770650"/>
                      <a:pt x="6007416" y="804324"/>
                      <a:pt x="6036279" y="839922"/>
                    </a:cubicBezTo>
                    <a:lnTo>
                      <a:pt x="6024734" y="849543"/>
                    </a:lnTo>
                    <a:close/>
                    <a:moveTo>
                      <a:pt x="5888114" y="724469"/>
                    </a:moveTo>
                    <a:cubicBezTo>
                      <a:pt x="5851554" y="698492"/>
                      <a:pt x="5810183" y="673477"/>
                      <a:pt x="5765926" y="649424"/>
                    </a:cubicBezTo>
                    <a:lnTo>
                      <a:pt x="5772661" y="636917"/>
                    </a:lnTo>
                    <a:cubicBezTo>
                      <a:pt x="5817880" y="660970"/>
                      <a:pt x="5859251" y="685985"/>
                      <a:pt x="5896773" y="712924"/>
                    </a:cubicBezTo>
                    <a:lnTo>
                      <a:pt x="5888114" y="724469"/>
                    </a:lnTo>
                    <a:close/>
                    <a:moveTo>
                      <a:pt x="5727441" y="629220"/>
                    </a:moveTo>
                    <a:cubicBezTo>
                      <a:pt x="5690881" y="610940"/>
                      <a:pt x="5651435" y="594584"/>
                      <a:pt x="5611026" y="578228"/>
                    </a:cubicBezTo>
                    <a:lnTo>
                      <a:pt x="5595632" y="572456"/>
                    </a:lnTo>
                    <a:lnTo>
                      <a:pt x="5600443" y="558986"/>
                    </a:lnTo>
                    <a:lnTo>
                      <a:pt x="5615837" y="564759"/>
                    </a:lnTo>
                    <a:cubicBezTo>
                      <a:pt x="5657207" y="580152"/>
                      <a:pt x="5696654" y="597470"/>
                      <a:pt x="5734176" y="615750"/>
                    </a:cubicBezTo>
                    <a:lnTo>
                      <a:pt x="5727441" y="629220"/>
                    </a:lnTo>
                    <a:close/>
                    <a:moveTo>
                      <a:pt x="5554262" y="558024"/>
                    </a:moveTo>
                    <a:cubicBezTo>
                      <a:pt x="5510005" y="541668"/>
                      <a:pt x="5464785" y="526274"/>
                      <a:pt x="5417642" y="510881"/>
                    </a:cubicBezTo>
                    <a:lnTo>
                      <a:pt x="5422452" y="497411"/>
                    </a:lnTo>
                    <a:cubicBezTo>
                      <a:pt x="5469596" y="512805"/>
                      <a:pt x="5515777" y="528199"/>
                      <a:pt x="5559072" y="544554"/>
                    </a:cubicBezTo>
                    <a:lnTo>
                      <a:pt x="5554262" y="558024"/>
                    </a:lnTo>
                    <a:close/>
                    <a:moveTo>
                      <a:pt x="5376271" y="497411"/>
                    </a:moveTo>
                    <a:cubicBezTo>
                      <a:pt x="5332014" y="482979"/>
                      <a:pt x="5284871" y="469510"/>
                      <a:pt x="5237728" y="456040"/>
                    </a:cubicBezTo>
                    <a:lnTo>
                      <a:pt x="5241576" y="442571"/>
                    </a:lnTo>
                    <a:cubicBezTo>
                      <a:pt x="5288719" y="456040"/>
                      <a:pt x="5335862" y="469510"/>
                      <a:pt x="5380120" y="483941"/>
                    </a:cubicBezTo>
                    <a:lnTo>
                      <a:pt x="5376271" y="497411"/>
                    </a:lnTo>
                    <a:close/>
                    <a:moveTo>
                      <a:pt x="5195395" y="444495"/>
                    </a:moveTo>
                    <a:cubicBezTo>
                      <a:pt x="5150175" y="431988"/>
                      <a:pt x="5103032" y="420442"/>
                      <a:pt x="5054927" y="408897"/>
                    </a:cubicBezTo>
                    <a:lnTo>
                      <a:pt x="5058775" y="394465"/>
                    </a:lnTo>
                    <a:cubicBezTo>
                      <a:pt x="5106880" y="406010"/>
                      <a:pt x="5154024" y="418518"/>
                      <a:pt x="5199243" y="430063"/>
                    </a:cubicBezTo>
                    <a:lnTo>
                      <a:pt x="5195395" y="444495"/>
                    </a:lnTo>
                    <a:close/>
                    <a:moveTo>
                      <a:pt x="5013556" y="399276"/>
                    </a:moveTo>
                    <a:cubicBezTo>
                      <a:pt x="4967374" y="388693"/>
                      <a:pt x="4920231" y="378109"/>
                      <a:pt x="4872126" y="368488"/>
                    </a:cubicBezTo>
                    <a:lnTo>
                      <a:pt x="4875012" y="354057"/>
                    </a:lnTo>
                    <a:cubicBezTo>
                      <a:pt x="4923118" y="363678"/>
                      <a:pt x="4970261" y="374261"/>
                      <a:pt x="5016442" y="384844"/>
                    </a:cubicBezTo>
                    <a:lnTo>
                      <a:pt x="5013556" y="399276"/>
                    </a:lnTo>
                    <a:close/>
                    <a:moveTo>
                      <a:pt x="4829793" y="358867"/>
                    </a:moveTo>
                    <a:cubicBezTo>
                      <a:pt x="4784573" y="349246"/>
                      <a:pt x="4736468" y="340587"/>
                      <a:pt x="4687401" y="331928"/>
                    </a:cubicBezTo>
                    <a:lnTo>
                      <a:pt x="4690287" y="317496"/>
                    </a:lnTo>
                    <a:cubicBezTo>
                      <a:pt x="4739354" y="326155"/>
                      <a:pt x="4787460" y="335776"/>
                      <a:pt x="4832679" y="344435"/>
                    </a:cubicBezTo>
                    <a:lnTo>
                      <a:pt x="4829793" y="358867"/>
                    </a:lnTo>
                    <a:close/>
                    <a:moveTo>
                      <a:pt x="4645068" y="324231"/>
                    </a:moveTo>
                    <a:cubicBezTo>
                      <a:pt x="4597924" y="315572"/>
                      <a:pt x="4549819" y="307875"/>
                      <a:pt x="4502675" y="300178"/>
                    </a:cubicBezTo>
                    <a:lnTo>
                      <a:pt x="4504600" y="285747"/>
                    </a:lnTo>
                    <a:cubicBezTo>
                      <a:pt x="4552705" y="293444"/>
                      <a:pt x="4599849" y="301140"/>
                      <a:pt x="4647954" y="309799"/>
                    </a:cubicBezTo>
                    <a:lnTo>
                      <a:pt x="4645068" y="324231"/>
                    </a:lnTo>
                    <a:close/>
                    <a:moveTo>
                      <a:pt x="4459380" y="293444"/>
                    </a:moveTo>
                    <a:cubicBezTo>
                      <a:pt x="4411275" y="285747"/>
                      <a:pt x="4364132" y="279012"/>
                      <a:pt x="4316026" y="272277"/>
                    </a:cubicBezTo>
                    <a:lnTo>
                      <a:pt x="4317950" y="257846"/>
                    </a:lnTo>
                    <a:cubicBezTo>
                      <a:pt x="4366056" y="264580"/>
                      <a:pt x="4413199" y="271315"/>
                      <a:pt x="4461305" y="279012"/>
                    </a:cubicBezTo>
                    <a:lnTo>
                      <a:pt x="4459380" y="293444"/>
                    </a:lnTo>
                    <a:close/>
                    <a:moveTo>
                      <a:pt x="4273693" y="266505"/>
                    </a:moveTo>
                    <a:cubicBezTo>
                      <a:pt x="4225588" y="259770"/>
                      <a:pt x="4178444" y="253997"/>
                      <a:pt x="4130339" y="247262"/>
                    </a:cubicBezTo>
                    <a:lnTo>
                      <a:pt x="4132263" y="232831"/>
                    </a:lnTo>
                    <a:cubicBezTo>
                      <a:pt x="4180368" y="238603"/>
                      <a:pt x="4227512" y="245338"/>
                      <a:pt x="4275617" y="252073"/>
                    </a:cubicBezTo>
                    <a:lnTo>
                      <a:pt x="4273693" y="266505"/>
                    </a:lnTo>
                    <a:close/>
                    <a:moveTo>
                      <a:pt x="4087044" y="242452"/>
                    </a:moveTo>
                    <a:cubicBezTo>
                      <a:pt x="4038938" y="236679"/>
                      <a:pt x="3990833" y="230906"/>
                      <a:pt x="3943689" y="225134"/>
                    </a:cubicBezTo>
                    <a:lnTo>
                      <a:pt x="3945614" y="210702"/>
                    </a:lnTo>
                    <a:cubicBezTo>
                      <a:pt x="3993719" y="216475"/>
                      <a:pt x="4041825" y="222247"/>
                      <a:pt x="4088968" y="228020"/>
                    </a:cubicBezTo>
                    <a:lnTo>
                      <a:pt x="4087044" y="242452"/>
                    </a:lnTo>
                    <a:close/>
                    <a:moveTo>
                      <a:pt x="3900394" y="220323"/>
                    </a:moveTo>
                    <a:cubicBezTo>
                      <a:pt x="3852289" y="214551"/>
                      <a:pt x="3804183" y="209740"/>
                      <a:pt x="3757040" y="203967"/>
                    </a:cubicBezTo>
                    <a:lnTo>
                      <a:pt x="3758964" y="189536"/>
                    </a:lnTo>
                    <a:cubicBezTo>
                      <a:pt x="3807070" y="195308"/>
                      <a:pt x="3855175" y="200119"/>
                      <a:pt x="3903281" y="205892"/>
                    </a:cubicBezTo>
                    <a:lnTo>
                      <a:pt x="3900394" y="220323"/>
                    </a:lnTo>
                    <a:close/>
                    <a:moveTo>
                      <a:pt x="3712783" y="199157"/>
                    </a:moveTo>
                    <a:cubicBezTo>
                      <a:pt x="3664677" y="193384"/>
                      <a:pt x="3616572" y="188574"/>
                      <a:pt x="3568466" y="183763"/>
                    </a:cubicBezTo>
                    <a:lnTo>
                      <a:pt x="3570391" y="169331"/>
                    </a:lnTo>
                    <a:cubicBezTo>
                      <a:pt x="3618496" y="174142"/>
                      <a:pt x="3666602" y="179915"/>
                      <a:pt x="3714707" y="184725"/>
                    </a:cubicBezTo>
                    <a:lnTo>
                      <a:pt x="3712783" y="199157"/>
                    </a:lnTo>
                    <a:close/>
                    <a:moveTo>
                      <a:pt x="3526134" y="178953"/>
                    </a:moveTo>
                    <a:cubicBezTo>
                      <a:pt x="3478990" y="174142"/>
                      <a:pt x="3432809" y="168369"/>
                      <a:pt x="3387590" y="163559"/>
                    </a:cubicBezTo>
                    <a:lnTo>
                      <a:pt x="3382779" y="162597"/>
                    </a:lnTo>
                    <a:lnTo>
                      <a:pt x="3384703" y="148165"/>
                    </a:lnTo>
                    <a:lnTo>
                      <a:pt x="3389514" y="149127"/>
                    </a:lnTo>
                    <a:cubicBezTo>
                      <a:pt x="3435695" y="153938"/>
                      <a:pt x="3480914" y="158748"/>
                      <a:pt x="3527096" y="164521"/>
                    </a:cubicBezTo>
                    <a:lnTo>
                      <a:pt x="3526134" y="178953"/>
                    </a:lnTo>
                    <a:close/>
                    <a:moveTo>
                      <a:pt x="3339484" y="157786"/>
                    </a:moveTo>
                    <a:cubicBezTo>
                      <a:pt x="3291379" y="152976"/>
                      <a:pt x="3244235" y="148165"/>
                      <a:pt x="3195168" y="143354"/>
                    </a:cubicBezTo>
                    <a:lnTo>
                      <a:pt x="3196130" y="128923"/>
                    </a:lnTo>
                    <a:cubicBezTo>
                      <a:pt x="3244235" y="133733"/>
                      <a:pt x="3292341" y="138544"/>
                      <a:pt x="3340446" y="143354"/>
                    </a:cubicBezTo>
                    <a:lnTo>
                      <a:pt x="3339484" y="157786"/>
                    </a:lnTo>
                    <a:close/>
                    <a:moveTo>
                      <a:pt x="3151873" y="139506"/>
                    </a:moveTo>
                    <a:cubicBezTo>
                      <a:pt x="3103767" y="134695"/>
                      <a:pt x="3055662" y="130847"/>
                      <a:pt x="3007556" y="126999"/>
                    </a:cubicBezTo>
                    <a:lnTo>
                      <a:pt x="3008518" y="112567"/>
                    </a:lnTo>
                    <a:cubicBezTo>
                      <a:pt x="3056624" y="116415"/>
                      <a:pt x="3104729" y="121226"/>
                      <a:pt x="3152835" y="125074"/>
                    </a:cubicBezTo>
                    <a:lnTo>
                      <a:pt x="3151873" y="139506"/>
                    </a:lnTo>
                    <a:close/>
                    <a:moveTo>
                      <a:pt x="2964261" y="123150"/>
                    </a:moveTo>
                    <a:cubicBezTo>
                      <a:pt x="2916156" y="119302"/>
                      <a:pt x="2868050" y="115453"/>
                      <a:pt x="2819945" y="111605"/>
                    </a:cubicBezTo>
                    <a:lnTo>
                      <a:pt x="2820907" y="97173"/>
                    </a:lnTo>
                    <a:cubicBezTo>
                      <a:pt x="2869012" y="101022"/>
                      <a:pt x="2917118" y="103908"/>
                      <a:pt x="2965223" y="108718"/>
                    </a:cubicBezTo>
                    <a:lnTo>
                      <a:pt x="2964261" y="123150"/>
                    </a:lnTo>
                    <a:close/>
                    <a:moveTo>
                      <a:pt x="2777612" y="108718"/>
                    </a:moveTo>
                    <a:cubicBezTo>
                      <a:pt x="2729506" y="104870"/>
                      <a:pt x="2681401" y="101984"/>
                      <a:pt x="2633295" y="99097"/>
                    </a:cubicBezTo>
                    <a:lnTo>
                      <a:pt x="2634257" y="84666"/>
                    </a:lnTo>
                    <a:cubicBezTo>
                      <a:pt x="2682363" y="87552"/>
                      <a:pt x="2730468" y="91400"/>
                      <a:pt x="2778574" y="94287"/>
                    </a:cubicBezTo>
                    <a:lnTo>
                      <a:pt x="2777612" y="108718"/>
                    </a:lnTo>
                    <a:close/>
                    <a:moveTo>
                      <a:pt x="2589038" y="96211"/>
                    </a:moveTo>
                    <a:cubicBezTo>
                      <a:pt x="2540933" y="93325"/>
                      <a:pt x="2492827" y="90438"/>
                      <a:pt x="2444722" y="87552"/>
                    </a:cubicBezTo>
                    <a:lnTo>
                      <a:pt x="2445684" y="73120"/>
                    </a:lnTo>
                    <a:cubicBezTo>
                      <a:pt x="2493790" y="76007"/>
                      <a:pt x="2542857" y="78893"/>
                      <a:pt x="2590962" y="81779"/>
                    </a:cubicBezTo>
                    <a:lnTo>
                      <a:pt x="2589038" y="96211"/>
                    </a:lnTo>
                    <a:close/>
                    <a:moveTo>
                      <a:pt x="2401427" y="85628"/>
                    </a:moveTo>
                    <a:cubicBezTo>
                      <a:pt x="2353321" y="82742"/>
                      <a:pt x="2305216" y="80817"/>
                      <a:pt x="2257110" y="77931"/>
                    </a:cubicBezTo>
                    <a:lnTo>
                      <a:pt x="2258072" y="63499"/>
                    </a:lnTo>
                    <a:cubicBezTo>
                      <a:pt x="2306178" y="65424"/>
                      <a:pt x="2354283" y="68310"/>
                      <a:pt x="2402389" y="71196"/>
                    </a:cubicBezTo>
                    <a:lnTo>
                      <a:pt x="2401427" y="85628"/>
                    </a:lnTo>
                    <a:close/>
                    <a:moveTo>
                      <a:pt x="2212853" y="76007"/>
                    </a:moveTo>
                    <a:cubicBezTo>
                      <a:pt x="2164748" y="74083"/>
                      <a:pt x="2116642" y="71196"/>
                      <a:pt x="2068537" y="69272"/>
                    </a:cubicBezTo>
                    <a:lnTo>
                      <a:pt x="2068537" y="55802"/>
                    </a:lnTo>
                    <a:cubicBezTo>
                      <a:pt x="2116642" y="57727"/>
                      <a:pt x="2164748" y="59651"/>
                      <a:pt x="2213815" y="62537"/>
                    </a:cubicBezTo>
                    <a:lnTo>
                      <a:pt x="2212853" y="76007"/>
                    </a:lnTo>
                    <a:close/>
                    <a:moveTo>
                      <a:pt x="2025242" y="68310"/>
                    </a:moveTo>
                    <a:cubicBezTo>
                      <a:pt x="1977136" y="66386"/>
                      <a:pt x="1929031" y="64461"/>
                      <a:pt x="1880925" y="62537"/>
                    </a:cubicBezTo>
                    <a:lnTo>
                      <a:pt x="1881887" y="48106"/>
                    </a:lnTo>
                    <a:cubicBezTo>
                      <a:pt x="1929993" y="50030"/>
                      <a:pt x="1978098" y="51954"/>
                      <a:pt x="2026204" y="53878"/>
                    </a:cubicBezTo>
                    <a:lnTo>
                      <a:pt x="2025242" y="68310"/>
                    </a:lnTo>
                    <a:close/>
                    <a:moveTo>
                      <a:pt x="1836668" y="61575"/>
                    </a:moveTo>
                    <a:cubicBezTo>
                      <a:pt x="1788563" y="59651"/>
                      <a:pt x="1740457" y="58689"/>
                      <a:pt x="1692352" y="56765"/>
                    </a:cubicBezTo>
                    <a:lnTo>
                      <a:pt x="1692352" y="42333"/>
                    </a:lnTo>
                    <a:cubicBezTo>
                      <a:pt x="1740457" y="44257"/>
                      <a:pt x="1788563" y="45219"/>
                      <a:pt x="1836668" y="47143"/>
                    </a:cubicBezTo>
                    <a:lnTo>
                      <a:pt x="1836668" y="61575"/>
                    </a:lnTo>
                    <a:close/>
                    <a:moveTo>
                      <a:pt x="1649057" y="54840"/>
                    </a:moveTo>
                    <a:cubicBezTo>
                      <a:pt x="1600951" y="52916"/>
                      <a:pt x="1552846" y="51954"/>
                      <a:pt x="1504740" y="50992"/>
                    </a:cubicBezTo>
                    <a:lnTo>
                      <a:pt x="1504740" y="36560"/>
                    </a:lnTo>
                    <a:cubicBezTo>
                      <a:pt x="1552846" y="37522"/>
                      <a:pt x="1600951" y="39447"/>
                      <a:pt x="1649057" y="40409"/>
                    </a:cubicBezTo>
                    <a:lnTo>
                      <a:pt x="1649057" y="54840"/>
                    </a:lnTo>
                    <a:close/>
                    <a:moveTo>
                      <a:pt x="1460483" y="49068"/>
                    </a:moveTo>
                    <a:cubicBezTo>
                      <a:pt x="1412378" y="48106"/>
                      <a:pt x="1364272" y="46181"/>
                      <a:pt x="1316167" y="45219"/>
                    </a:cubicBezTo>
                    <a:lnTo>
                      <a:pt x="1316167" y="30788"/>
                    </a:lnTo>
                    <a:cubicBezTo>
                      <a:pt x="1364272" y="31750"/>
                      <a:pt x="1412378" y="33674"/>
                      <a:pt x="1460483" y="34636"/>
                    </a:cubicBezTo>
                    <a:lnTo>
                      <a:pt x="1460483" y="49068"/>
                    </a:lnTo>
                    <a:close/>
                    <a:moveTo>
                      <a:pt x="1272872" y="44257"/>
                    </a:moveTo>
                    <a:cubicBezTo>
                      <a:pt x="1224766" y="43295"/>
                      <a:pt x="1176661" y="42333"/>
                      <a:pt x="1128555" y="40409"/>
                    </a:cubicBezTo>
                    <a:lnTo>
                      <a:pt x="1128555" y="25977"/>
                    </a:lnTo>
                    <a:cubicBezTo>
                      <a:pt x="1176661" y="26939"/>
                      <a:pt x="1224766" y="27901"/>
                      <a:pt x="1272872" y="29825"/>
                    </a:cubicBezTo>
                    <a:lnTo>
                      <a:pt x="1272872" y="44257"/>
                    </a:lnTo>
                    <a:close/>
                    <a:moveTo>
                      <a:pt x="1084298" y="40409"/>
                    </a:moveTo>
                    <a:lnTo>
                      <a:pt x="939982" y="37522"/>
                    </a:lnTo>
                    <a:lnTo>
                      <a:pt x="939982" y="23091"/>
                    </a:lnTo>
                    <a:lnTo>
                      <a:pt x="1084298" y="25977"/>
                    </a:lnTo>
                    <a:lnTo>
                      <a:pt x="1084298" y="40409"/>
                    </a:lnTo>
                    <a:close/>
                    <a:moveTo>
                      <a:pt x="896687" y="35598"/>
                    </a:moveTo>
                    <a:lnTo>
                      <a:pt x="752370" y="32712"/>
                    </a:lnTo>
                    <a:lnTo>
                      <a:pt x="752370" y="18280"/>
                    </a:lnTo>
                    <a:lnTo>
                      <a:pt x="896687" y="21166"/>
                    </a:lnTo>
                    <a:lnTo>
                      <a:pt x="896687" y="35598"/>
                    </a:lnTo>
                    <a:close/>
                    <a:moveTo>
                      <a:pt x="709075" y="31750"/>
                    </a:moveTo>
                    <a:lnTo>
                      <a:pt x="564759" y="28863"/>
                    </a:lnTo>
                    <a:lnTo>
                      <a:pt x="564759" y="14432"/>
                    </a:lnTo>
                    <a:lnTo>
                      <a:pt x="709075" y="17318"/>
                    </a:lnTo>
                    <a:lnTo>
                      <a:pt x="709075" y="31750"/>
                    </a:lnTo>
                    <a:close/>
                    <a:moveTo>
                      <a:pt x="521464" y="27901"/>
                    </a:moveTo>
                    <a:lnTo>
                      <a:pt x="377147" y="24053"/>
                    </a:lnTo>
                    <a:lnTo>
                      <a:pt x="377147" y="9621"/>
                    </a:lnTo>
                    <a:lnTo>
                      <a:pt x="521464" y="13470"/>
                    </a:lnTo>
                    <a:lnTo>
                      <a:pt x="521464" y="27901"/>
                    </a:lnTo>
                    <a:close/>
                    <a:moveTo>
                      <a:pt x="332890" y="23091"/>
                    </a:moveTo>
                    <a:cubicBezTo>
                      <a:pt x="284785" y="22129"/>
                      <a:pt x="235717" y="20204"/>
                      <a:pt x="188574" y="19242"/>
                    </a:cubicBezTo>
                    <a:lnTo>
                      <a:pt x="188574" y="4811"/>
                    </a:lnTo>
                    <a:cubicBezTo>
                      <a:pt x="236679" y="5773"/>
                      <a:pt x="284785" y="7697"/>
                      <a:pt x="332890" y="8659"/>
                    </a:cubicBezTo>
                    <a:lnTo>
                      <a:pt x="332890" y="23091"/>
                    </a:lnTo>
                    <a:close/>
                    <a:moveTo>
                      <a:pt x="144317" y="18280"/>
                    </a:moveTo>
                    <a:cubicBezTo>
                      <a:pt x="96211" y="17318"/>
                      <a:pt x="48106" y="15394"/>
                      <a:pt x="0" y="14432"/>
                    </a:cubicBezTo>
                    <a:lnTo>
                      <a:pt x="0" y="0"/>
                    </a:lnTo>
                    <a:cubicBezTo>
                      <a:pt x="48106" y="962"/>
                      <a:pt x="96211" y="2886"/>
                      <a:pt x="144317" y="3848"/>
                    </a:cubicBezTo>
                    <a:lnTo>
                      <a:pt x="144317" y="1828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54" name="Google Shape;654;p47"/>
              <p:cNvSpPr/>
              <p:nvPr/>
            </p:nvSpPr>
            <p:spPr>
              <a:xfrm>
                <a:off x="3440945" y="4968299"/>
                <a:ext cx="56896" cy="261525"/>
              </a:xfrm>
              <a:custGeom>
                <a:rect b="b" l="l" r="r" t="t"/>
                <a:pathLst>
                  <a:path extrusionOk="0" h="252072" w="54840">
                    <a:moveTo>
                      <a:pt x="54840" y="252073"/>
                    </a:moveTo>
                    <a:lnTo>
                      <a:pt x="3848" y="0"/>
                    </a:lnTo>
                    <a:lnTo>
                      <a:pt x="0" y="186649"/>
                    </a:lnTo>
                    <a:close/>
                  </a:path>
                </a:pathLst>
              </a:custGeom>
              <a:solidFill>
                <a:srgbClr val="59595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55" name="Google Shape;655;p47"/>
              <p:cNvSpPr/>
              <p:nvPr/>
            </p:nvSpPr>
            <p:spPr>
              <a:xfrm>
                <a:off x="2080826" y="1889780"/>
                <a:ext cx="58357" cy="704464"/>
              </a:xfrm>
              <a:custGeom>
                <a:rect b="b" l="l" r="r" t="t"/>
                <a:pathLst>
                  <a:path extrusionOk="0" h="335060" w="27756">
                    <a:moveTo>
                      <a:pt x="0" y="0"/>
                    </a:moveTo>
                    <a:lnTo>
                      <a:pt x="27756" y="0"/>
                    </a:lnTo>
                    <a:lnTo>
                      <a:pt x="27756" y="335061"/>
                    </a:lnTo>
                    <a:lnTo>
                      <a:pt x="0" y="335061"/>
                    </a:lnTo>
                    <a:close/>
                  </a:path>
                </a:pathLst>
              </a:custGeom>
              <a:solidFill>
                <a:srgbClr val="6666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56" name="Google Shape;656;p47"/>
              <p:cNvSpPr/>
              <p:nvPr/>
            </p:nvSpPr>
            <p:spPr>
              <a:xfrm rot="2700000">
                <a:off x="1882800" y="1437729"/>
                <a:ext cx="454387" cy="454387"/>
              </a:xfrm>
              <a:prstGeom prst="ellipse">
                <a:avLst/>
              </a:prstGeom>
              <a:solidFill>
                <a:schemeClr val="accent1"/>
              </a:solidFill>
              <a:ln>
                <a:noFill/>
              </a:ln>
            </p:spPr>
            <p:txBody>
              <a:bodyPr anchorCtr="0" anchor="ctr" bIns="45700" lIns="91425" spcFirstLastPara="1" rIns="91425" wrap="square" tIns="91425">
                <a:noAutofit/>
              </a:bodyPr>
              <a:lstStyle/>
              <a:p>
                <a:pPr indent="0" lvl="0" marL="0" marR="0" rtl="0" algn="ctr">
                  <a:spcBef>
                    <a:spcPts val="0"/>
                  </a:spcBef>
                  <a:spcAft>
                    <a:spcPts val="0"/>
                  </a:spcAft>
                  <a:buNone/>
                </a:pPr>
                <a:r>
                  <a:t/>
                </a:r>
                <a:endParaRPr b="1" i="0" sz="700" u="none" cap="none" strike="noStrike">
                  <a:solidFill>
                    <a:schemeClr val="lt1"/>
                  </a:solidFill>
                  <a:latin typeface="Lora"/>
                  <a:ea typeface="Lora"/>
                  <a:cs typeface="Lora"/>
                  <a:sym typeface="Lora"/>
                </a:endParaRPr>
              </a:p>
            </p:txBody>
          </p:sp>
          <p:sp>
            <p:nvSpPr>
              <p:cNvPr id="657" name="Google Shape;657;p47"/>
              <p:cNvSpPr/>
              <p:nvPr/>
            </p:nvSpPr>
            <p:spPr>
              <a:xfrm>
                <a:off x="3232258" y="4535688"/>
                <a:ext cx="100041" cy="1150486"/>
              </a:xfrm>
              <a:custGeom>
                <a:rect b="b" l="l" r="r" t="t"/>
                <a:pathLst>
                  <a:path extrusionOk="0" h="547199" w="47582">
                    <a:moveTo>
                      <a:pt x="0" y="0"/>
                    </a:moveTo>
                    <a:lnTo>
                      <a:pt x="47583" y="0"/>
                    </a:lnTo>
                    <a:lnTo>
                      <a:pt x="47583" y="547199"/>
                    </a:lnTo>
                    <a:lnTo>
                      <a:pt x="0" y="547199"/>
                    </a:lnTo>
                    <a:close/>
                  </a:path>
                </a:pathLst>
              </a:custGeom>
              <a:solidFill>
                <a:srgbClr val="6666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Lora"/>
                  <a:ea typeface="Lora"/>
                  <a:cs typeface="Lora"/>
                  <a:sym typeface="Lora"/>
                </a:endParaRPr>
              </a:p>
            </p:txBody>
          </p:sp>
          <p:sp>
            <p:nvSpPr>
              <p:cNvPr id="658" name="Google Shape;658;p47"/>
              <p:cNvSpPr/>
              <p:nvPr/>
            </p:nvSpPr>
            <p:spPr>
              <a:xfrm rot="2700000">
                <a:off x="2879631" y="3858222"/>
                <a:ext cx="805253" cy="805253"/>
              </a:xfrm>
              <a:prstGeom prst="ellipse">
                <a:avLst/>
              </a:prstGeom>
              <a:solidFill>
                <a:schemeClr val="accent6"/>
              </a:solidFill>
              <a:ln>
                <a:noFill/>
              </a:ln>
            </p:spPr>
            <p:txBody>
              <a:bodyPr anchorCtr="0" anchor="ctr" bIns="45700" lIns="91425" spcFirstLastPara="1" rIns="91425" wrap="square" tIns="91425">
                <a:noAutofit/>
              </a:bodyPr>
              <a:lstStyle/>
              <a:p>
                <a:pPr indent="0" lvl="0" marL="0" marR="0" rtl="0" algn="ctr">
                  <a:spcBef>
                    <a:spcPts val="0"/>
                  </a:spcBef>
                  <a:spcAft>
                    <a:spcPts val="0"/>
                  </a:spcAft>
                  <a:buNone/>
                </a:pPr>
                <a:r>
                  <a:t/>
                </a:r>
                <a:endParaRPr b="1" i="0" sz="1800" u="none" cap="none" strike="noStrike">
                  <a:solidFill>
                    <a:schemeClr val="lt1"/>
                  </a:solidFill>
                  <a:latin typeface="Lora"/>
                  <a:ea typeface="Lora"/>
                  <a:cs typeface="Lora"/>
                  <a:sym typeface="Lora"/>
                </a:endParaRPr>
              </a:p>
            </p:txBody>
          </p:sp>
        </p:grpSp>
        <p:sp>
          <p:nvSpPr>
            <p:cNvPr id="659" name="Google Shape;659;p47"/>
            <p:cNvSpPr txBox="1"/>
            <p:nvPr/>
          </p:nvSpPr>
          <p:spPr>
            <a:xfrm>
              <a:off x="2526548" y="1015098"/>
              <a:ext cx="2472000" cy="83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latin typeface="Lora"/>
                  <a:ea typeface="Lora"/>
                  <a:cs typeface="Lora"/>
                  <a:sym typeface="Lora"/>
                </a:rPr>
                <a:t>Successfully Implement the Hybrid Consensus Mechanism</a:t>
              </a:r>
              <a:endParaRPr b="1" i="0" sz="1200" u="none" cap="none" strike="noStrike">
                <a:solidFill>
                  <a:schemeClr val="dk1"/>
                </a:solidFill>
                <a:latin typeface="Lora"/>
                <a:ea typeface="Lora"/>
                <a:cs typeface="Lora"/>
                <a:sym typeface="Lora"/>
              </a:endParaRPr>
            </a:p>
          </p:txBody>
        </p:sp>
        <p:sp>
          <p:nvSpPr>
            <p:cNvPr id="660" name="Google Shape;660;p47"/>
            <p:cNvSpPr txBox="1"/>
            <p:nvPr/>
          </p:nvSpPr>
          <p:spPr>
            <a:xfrm>
              <a:off x="7040041" y="1365543"/>
              <a:ext cx="2472000" cy="107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latin typeface="Lora"/>
                  <a:ea typeface="Lora"/>
                  <a:cs typeface="Lora"/>
                  <a:sym typeface="Lora"/>
                </a:rPr>
                <a:t>Address the scalability ,Throughput vs Security concern for a large scale Data.</a:t>
              </a:r>
              <a:endParaRPr b="1" i="0" sz="1050" u="none" cap="none" strike="noStrike">
                <a:solidFill>
                  <a:schemeClr val="dk1"/>
                </a:solidFill>
                <a:latin typeface="Lora"/>
                <a:ea typeface="Lora"/>
                <a:cs typeface="Lora"/>
                <a:sym typeface="Lora"/>
              </a:endParaRPr>
            </a:p>
          </p:txBody>
        </p:sp>
        <p:sp>
          <p:nvSpPr>
            <p:cNvPr id="661" name="Google Shape;661;p47"/>
            <p:cNvSpPr txBox="1"/>
            <p:nvPr/>
          </p:nvSpPr>
          <p:spPr>
            <a:xfrm>
              <a:off x="8929713" y="3466556"/>
              <a:ext cx="2472000" cy="107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latin typeface="Lora"/>
                  <a:ea typeface="Lora"/>
                  <a:cs typeface="Lora"/>
                  <a:sym typeface="Lora"/>
                </a:rPr>
                <a:t>Successfully Making the Blockchain Robust and secure for Realtime.</a:t>
              </a:r>
              <a:endParaRPr b="1" i="0" sz="1050" u="none" cap="none" strike="noStrike">
                <a:solidFill>
                  <a:schemeClr val="dk1"/>
                </a:solidFill>
                <a:latin typeface="Lora"/>
                <a:ea typeface="Lora"/>
                <a:cs typeface="Lora"/>
                <a:sym typeface="Lora"/>
              </a:endParaRPr>
            </a:p>
          </p:txBody>
        </p:sp>
        <p:sp>
          <p:nvSpPr>
            <p:cNvPr id="662" name="Google Shape;662;p47"/>
            <p:cNvSpPr txBox="1"/>
            <p:nvPr/>
          </p:nvSpPr>
          <p:spPr>
            <a:xfrm>
              <a:off x="206594" y="3609128"/>
              <a:ext cx="2472000" cy="17874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200">
                  <a:latin typeface="Lora"/>
                  <a:ea typeface="Lora"/>
                  <a:cs typeface="Lora"/>
                  <a:sym typeface="Lora"/>
                </a:rPr>
                <a:t>Simulating the Model for real time Data and testing the Model Blockchain for all scenarios and adapting along with new Blockchain ideas.</a:t>
              </a:r>
              <a:endParaRPr b="1" i="0" sz="1050" u="none" cap="none" strike="noStrike">
                <a:solidFill>
                  <a:schemeClr val="dk1"/>
                </a:solidFill>
                <a:latin typeface="Lora"/>
                <a:ea typeface="Lora"/>
                <a:cs typeface="Lora"/>
                <a:sym typeface="Lora"/>
              </a:endParaRPr>
            </a:p>
          </p:txBody>
        </p:sp>
        <p:sp>
          <p:nvSpPr>
            <p:cNvPr id="663" name="Google Shape;663;p47"/>
            <p:cNvSpPr txBox="1"/>
            <p:nvPr/>
          </p:nvSpPr>
          <p:spPr>
            <a:xfrm>
              <a:off x="1942145" y="1080271"/>
              <a:ext cx="584400" cy="327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50">
                  <a:solidFill>
                    <a:schemeClr val="lt1"/>
                  </a:solidFill>
                  <a:latin typeface="Lora"/>
                  <a:ea typeface="Lora"/>
                  <a:cs typeface="Lora"/>
                  <a:sym typeface="Lora"/>
                </a:rPr>
                <a:t>1</a:t>
              </a:r>
              <a:endParaRPr b="1" sz="1050">
                <a:solidFill>
                  <a:schemeClr val="lt1"/>
                </a:solidFill>
                <a:latin typeface="Lora"/>
                <a:ea typeface="Lora"/>
                <a:cs typeface="Lora"/>
                <a:sym typeface="Lora"/>
              </a:endParaRPr>
            </a:p>
          </p:txBody>
        </p:sp>
        <p:sp>
          <p:nvSpPr>
            <p:cNvPr id="664" name="Google Shape;664;p47"/>
            <p:cNvSpPr txBox="1"/>
            <p:nvPr/>
          </p:nvSpPr>
          <p:spPr>
            <a:xfrm>
              <a:off x="6191493" y="1426151"/>
              <a:ext cx="657300" cy="39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a:solidFill>
                    <a:schemeClr val="lt1"/>
                  </a:solidFill>
                  <a:latin typeface="Lora"/>
                  <a:ea typeface="Lora"/>
                  <a:cs typeface="Lora"/>
                  <a:sym typeface="Lora"/>
                </a:rPr>
                <a:t>  </a:t>
              </a:r>
              <a:r>
                <a:rPr b="1" lang="en-GB" sz="1400">
                  <a:solidFill>
                    <a:schemeClr val="lt1"/>
                  </a:solidFill>
                  <a:latin typeface="Lora"/>
                  <a:ea typeface="Lora"/>
                  <a:cs typeface="Lora"/>
                  <a:sym typeface="Lora"/>
                </a:rPr>
                <a:t>2</a:t>
              </a:r>
              <a:endParaRPr b="1" sz="1400">
                <a:solidFill>
                  <a:schemeClr val="lt1"/>
                </a:solidFill>
                <a:latin typeface="Lora"/>
                <a:ea typeface="Lora"/>
                <a:cs typeface="Lora"/>
                <a:sym typeface="Lora"/>
              </a:endParaRPr>
            </a:p>
          </p:txBody>
        </p:sp>
        <p:sp>
          <p:nvSpPr>
            <p:cNvPr id="665" name="Google Shape;665;p47"/>
            <p:cNvSpPr txBox="1"/>
            <p:nvPr/>
          </p:nvSpPr>
          <p:spPr>
            <a:xfrm>
              <a:off x="2928915" y="3673263"/>
              <a:ext cx="748200" cy="43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chemeClr val="lt1"/>
                  </a:solidFill>
                  <a:latin typeface="Lora"/>
                  <a:ea typeface="Lora"/>
                  <a:cs typeface="Lora"/>
                  <a:sym typeface="Lora"/>
                </a:rPr>
                <a:t>  3</a:t>
              </a:r>
              <a:endParaRPr b="1" sz="1600">
                <a:solidFill>
                  <a:schemeClr val="lt1"/>
                </a:solidFill>
                <a:latin typeface="Lora"/>
                <a:ea typeface="Lora"/>
                <a:cs typeface="Lora"/>
                <a:sym typeface="Lora"/>
              </a:endParaRPr>
            </a:p>
          </p:txBody>
        </p:sp>
        <p:sp>
          <p:nvSpPr>
            <p:cNvPr id="666" name="Google Shape;666;p47"/>
            <p:cNvSpPr txBox="1"/>
            <p:nvPr/>
          </p:nvSpPr>
          <p:spPr>
            <a:xfrm>
              <a:off x="7971253" y="3534658"/>
              <a:ext cx="748200" cy="43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chemeClr val="lt1"/>
                  </a:solidFill>
                  <a:latin typeface="Lora"/>
                  <a:ea typeface="Lora"/>
                  <a:cs typeface="Lora"/>
                  <a:sym typeface="Lora"/>
                </a:rPr>
                <a:t>  4</a:t>
              </a:r>
              <a:endParaRPr b="1" sz="1600">
                <a:solidFill>
                  <a:schemeClr val="lt1"/>
                </a:solidFill>
                <a:latin typeface="Lora"/>
                <a:ea typeface="Lora"/>
                <a:cs typeface="Lora"/>
                <a:sym typeface="Lora"/>
              </a:endParaRPr>
            </a:p>
          </p:txBody>
        </p:sp>
      </p:grpSp>
      <p:sp>
        <p:nvSpPr>
          <p:cNvPr id="667" name="Google Shape;667;p47"/>
          <p:cNvSpPr txBox="1"/>
          <p:nvPr/>
        </p:nvSpPr>
        <p:spPr>
          <a:xfrm>
            <a:off x="247575" y="163450"/>
            <a:ext cx="87765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2200">
                <a:solidFill>
                  <a:schemeClr val="accent1"/>
                </a:solidFill>
                <a:latin typeface="Montserrat"/>
                <a:ea typeface="Montserrat"/>
                <a:cs typeface="Montserrat"/>
                <a:sym typeface="Montserrat"/>
              </a:rPr>
              <a:t>                             Roadmap To the Future</a:t>
            </a:r>
            <a:endParaRPr b="1" sz="2200">
              <a:solidFill>
                <a:schemeClr val="accent1"/>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48"/>
          <p:cNvSpPr txBox="1"/>
          <p:nvPr>
            <p:ph type="title"/>
          </p:nvPr>
        </p:nvSpPr>
        <p:spPr>
          <a:xfrm>
            <a:off x="727650" y="11503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References</a:t>
            </a:r>
            <a:endParaRPr/>
          </a:p>
        </p:txBody>
      </p:sp>
      <p:sp>
        <p:nvSpPr>
          <p:cNvPr id="673" name="Google Shape;673;p48"/>
          <p:cNvSpPr txBox="1"/>
          <p:nvPr>
            <p:ph idx="1" type="body"/>
          </p:nvPr>
        </p:nvSpPr>
        <p:spPr>
          <a:xfrm>
            <a:off x="727650" y="1620250"/>
            <a:ext cx="7688700" cy="2688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1F1F1F"/>
              </a:buClr>
              <a:buSzPts val="1200"/>
              <a:buAutoNum type="arabicPeriod"/>
            </a:pPr>
            <a:r>
              <a:rPr lang="en-GB" sz="1200">
                <a:solidFill>
                  <a:srgbClr val="222222"/>
                </a:solidFill>
                <a:highlight>
                  <a:srgbClr val="FFFFFF"/>
                </a:highlight>
              </a:rPr>
              <a:t>Pervez, H., Muneeb, M., Irfan, M.U. and Haq, I.U., 2018, December. A comparative analysis of DAG-based blockchain architectures. In </a:t>
            </a:r>
            <a:r>
              <a:rPr i="1" lang="en-GB" sz="1200">
                <a:solidFill>
                  <a:srgbClr val="222222"/>
                </a:solidFill>
                <a:highlight>
                  <a:srgbClr val="FFFFFF"/>
                </a:highlight>
              </a:rPr>
              <a:t>2018 12th International conference on open source systems and technologies (ICOSST)</a:t>
            </a:r>
            <a:r>
              <a:rPr lang="en-GB" sz="1200">
                <a:solidFill>
                  <a:srgbClr val="222222"/>
                </a:solidFill>
                <a:highlight>
                  <a:srgbClr val="FFFFFF"/>
                </a:highlight>
              </a:rPr>
              <a:t> (pp. 27-34). IEEE.</a:t>
            </a:r>
            <a:endParaRPr sz="1200">
              <a:solidFill>
                <a:srgbClr val="222222"/>
              </a:solidFill>
              <a:highlight>
                <a:srgbClr val="FFFFFF"/>
              </a:highlight>
            </a:endParaRPr>
          </a:p>
          <a:p>
            <a:pPr indent="-304800" lvl="0" marL="457200" rtl="0" algn="l">
              <a:spcBef>
                <a:spcPts val="0"/>
              </a:spcBef>
              <a:spcAft>
                <a:spcPts val="0"/>
              </a:spcAft>
              <a:buClr>
                <a:srgbClr val="1F1F1F"/>
              </a:buClr>
              <a:buSzPts val="1200"/>
              <a:buChar char="●"/>
            </a:pPr>
            <a:r>
              <a:rPr lang="en-GB" sz="1200">
                <a:solidFill>
                  <a:srgbClr val="1F1F1F"/>
                </a:solidFill>
              </a:rPr>
              <a:t>Blockchain</a:t>
            </a:r>
            <a:r>
              <a:rPr lang="en-GB" sz="1200">
                <a:solidFill>
                  <a:srgbClr val="1F1F1F"/>
                </a:solidFill>
              </a:rPr>
              <a:t> Technology Concepts and Applications by Kumar Saurabh and Ashutosh Saxena</a:t>
            </a:r>
            <a:endParaRPr sz="1200">
              <a:solidFill>
                <a:srgbClr val="1F1F1F"/>
              </a:solidFill>
            </a:endParaRPr>
          </a:p>
          <a:p>
            <a:pPr indent="-304800" lvl="0" marL="457200" rtl="0" algn="l">
              <a:spcBef>
                <a:spcPts val="0"/>
              </a:spcBef>
              <a:spcAft>
                <a:spcPts val="0"/>
              </a:spcAft>
              <a:buClr>
                <a:srgbClr val="1F1F1F"/>
              </a:buClr>
              <a:buSzPts val="1200"/>
              <a:buChar char="●"/>
            </a:pPr>
            <a:r>
              <a:rPr lang="en-GB" sz="1200">
                <a:solidFill>
                  <a:srgbClr val="1F1F1F"/>
                </a:solidFill>
              </a:rPr>
              <a:t>Raj J.M., Ranjani S.S.</a:t>
            </a:r>
            <a:endParaRPr sz="1200">
              <a:solidFill>
                <a:srgbClr val="1F1F1F"/>
              </a:solidFill>
            </a:endParaRPr>
          </a:p>
          <a:p>
            <a:pPr indent="0" lvl="0" marL="457200" rtl="0" algn="l">
              <a:spcBef>
                <a:spcPts val="0"/>
              </a:spcBef>
              <a:spcAft>
                <a:spcPts val="0"/>
              </a:spcAft>
              <a:buNone/>
            </a:pPr>
            <a:r>
              <a:rPr lang="en-GB" sz="1200">
                <a:solidFill>
                  <a:srgbClr val="1F1F1F"/>
                </a:solidFill>
              </a:rPr>
              <a:t>A secured blockchain method for multivariate industrial IoT-oriented infrastructure based on deep residual squeeze and excitation network with single candidate optimizer</a:t>
            </a:r>
            <a:endParaRPr sz="1200">
              <a:solidFill>
                <a:srgbClr val="1F1F1F"/>
              </a:solidFill>
            </a:endParaRPr>
          </a:p>
          <a:p>
            <a:pPr indent="0" lvl="0" marL="457200" rtl="0" algn="l">
              <a:spcBef>
                <a:spcPts val="0"/>
              </a:spcBef>
              <a:spcAft>
                <a:spcPts val="0"/>
              </a:spcAft>
              <a:buNone/>
            </a:pPr>
            <a:r>
              <a:rPr lang="en-GB" sz="1200">
                <a:solidFill>
                  <a:srgbClr val="707070"/>
                </a:solidFill>
              </a:rPr>
              <a:t>Int. Things, 22 (2023), Article 100823 </a:t>
            </a:r>
            <a:endParaRPr sz="1200">
              <a:solidFill>
                <a:srgbClr val="707070"/>
              </a:solidFill>
            </a:endParaRPr>
          </a:p>
          <a:p>
            <a:pPr indent="-304800" lvl="0" marL="457200" rtl="0" algn="l">
              <a:spcBef>
                <a:spcPts val="0"/>
              </a:spcBef>
              <a:spcAft>
                <a:spcPts val="0"/>
              </a:spcAft>
              <a:buClr>
                <a:srgbClr val="707070"/>
              </a:buClr>
              <a:buSzPts val="1200"/>
              <a:buChar char="●"/>
            </a:pPr>
            <a:r>
              <a:rPr lang="en-GB" sz="1200">
                <a:solidFill>
                  <a:srgbClr val="222222"/>
                </a:solidFill>
                <a:highlight>
                  <a:srgbClr val="FFFFFF"/>
                </a:highlight>
              </a:rPr>
              <a:t>Zhao, Zhenwei, et al. "Secure internet of things (IoT) using a novel brooks Iyengar quantum byzantine agreement-centered blockchain networking (BIQBA-BCN) model in smart healthcare." </a:t>
            </a:r>
            <a:r>
              <a:rPr i="1" lang="en-GB" sz="1200">
                <a:solidFill>
                  <a:srgbClr val="222222"/>
                </a:solidFill>
                <a:highlight>
                  <a:srgbClr val="FFFFFF"/>
                </a:highlight>
              </a:rPr>
              <a:t>Information Sciences</a:t>
            </a:r>
            <a:r>
              <a:rPr lang="en-GB" sz="1200">
                <a:solidFill>
                  <a:srgbClr val="222222"/>
                </a:solidFill>
                <a:highlight>
                  <a:srgbClr val="FFFFFF"/>
                </a:highlight>
              </a:rPr>
              <a:t> 629 (2023): 440-455.</a:t>
            </a:r>
            <a:endParaRPr sz="1200">
              <a:solidFill>
                <a:srgbClr val="222222"/>
              </a:solidFill>
              <a:highlight>
                <a:srgbClr val="FFFFFF"/>
              </a:highlight>
            </a:endParaRPr>
          </a:p>
          <a:p>
            <a:pPr indent="-304800" lvl="0" marL="457200" rtl="0" algn="l">
              <a:lnSpc>
                <a:spcPct val="101100"/>
              </a:lnSpc>
              <a:spcBef>
                <a:spcPts val="0"/>
              </a:spcBef>
              <a:spcAft>
                <a:spcPts val="0"/>
              </a:spcAft>
              <a:buClr>
                <a:srgbClr val="222222"/>
              </a:buClr>
              <a:buSzPts val="1200"/>
              <a:buChar char="●"/>
            </a:pPr>
            <a:r>
              <a:rPr lang="en-GB" sz="1200">
                <a:solidFill>
                  <a:srgbClr val="000000"/>
                </a:solidFill>
                <a:highlight>
                  <a:srgbClr val="FFFFFF"/>
                </a:highlight>
              </a:rPr>
              <a:t>ailshery, L.S. IoT Connected Devices Worldwide 2019–2030|Statista. 2022. Available online: </a:t>
            </a:r>
            <a:r>
              <a:rPr lang="en-GB" sz="1200">
                <a:solidFill>
                  <a:srgbClr val="0875B7"/>
                </a:solidFill>
                <a:highlight>
                  <a:srgbClr val="FFFFFF"/>
                </a:highlight>
              </a:rPr>
              <a:t>https://www.statista.com/statistics/1183457/iot-connected-devices-worldwide/ </a:t>
            </a:r>
            <a:r>
              <a:rPr lang="en-GB" sz="1200">
                <a:solidFill>
                  <a:srgbClr val="000000"/>
                </a:solidFill>
                <a:highlight>
                  <a:srgbClr val="FFFFFF"/>
                </a:highlight>
              </a:rPr>
              <a:t>.</a:t>
            </a:r>
            <a:endParaRPr sz="1200">
              <a:solidFill>
                <a:srgbClr val="222222"/>
              </a:solidFill>
              <a:highlight>
                <a:srgbClr val="FFFFFF"/>
              </a:highlight>
            </a:endParaRPr>
          </a:p>
          <a:p>
            <a:pPr indent="-304800" lvl="0" marL="457200" rtl="0" algn="l">
              <a:spcBef>
                <a:spcPts val="0"/>
              </a:spcBef>
              <a:spcAft>
                <a:spcPts val="0"/>
              </a:spcAft>
              <a:buClr>
                <a:srgbClr val="222222"/>
              </a:buClr>
              <a:buSzPts val="1200"/>
              <a:buChar char="●"/>
            </a:pPr>
            <a:r>
              <a:rPr lang="en-GB" sz="1200">
                <a:solidFill>
                  <a:srgbClr val="222222"/>
                </a:solidFill>
                <a:highlight>
                  <a:srgbClr val="FFFFFF"/>
                </a:highlight>
              </a:rPr>
              <a:t>SUI official Documentation    </a:t>
            </a:r>
            <a:r>
              <a:rPr lang="en-GB" sz="1200" u="sng">
                <a:solidFill>
                  <a:schemeClr val="hlink"/>
                </a:solidFill>
                <a:highlight>
                  <a:srgbClr val="FFFFFF"/>
                </a:highlight>
                <a:hlinkClick r:id="rId3"/>
              </a:rPr>
              <a:t>https://docs.sui.io/</a:t>
            </a:r>
            <a:endParaRPr sz="1200">
              <a:solidFill>
                <a:srgbClr val="222222"/>
              </a:solidFill>
              <a:highlight>
                <a:srgbClr val="FFFFFF"/>
              </a:highlight>
            </a:endParaRPr>
          </a:p>
          <a:p>
            <a:pPr indent="0" lvl="0" marL="0" rtl="0" algn="l">
              <a:spcBef>
                <a:spcPts val="0"/>
              </a:spcBef>
              <a:spcAft>
                <a:spcPts val="0"/>
              </a:spcAft>
              <a:buNone/>
            </a:pPr>
            <a:r>
              <a:t/>
            </a:r>
            <a:endParaRPr sz="1200">
              <a:solidFill>
                <a:srgbClr val="707070"/>
              </a:solidFill>
            </a:endParaRPr>
          </a:p>
          <a:p>
            <a:pPr indent="0" lvl="0" marL="0" rtl="0" algn="l">
              <a:spcBef>
                <a:spcPts val="0"/>
              </a:spcBef>
              <a:spcAft>
                <a:spcPts val="1200"/>
              </a:spcAft>
              <a:buNone/>
            </a:pPr>
            <a:r>
              <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49"/>
          <p:cNvSpPr txBox="1"/>
          <p:nvPr>
            <p:ph type="title"/>
          </p:nvPr>
        </p:nvSpPr>
        <p:spPr>
          <a:xfrm>
            <a:off x="556275" y="1621725"/>
            <a:ext cx="7688700" cy="107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GB" sz="5440">
                <a:latin typeface="Lobster"/>
                <a:ea typeface="Lobster"/>
                <a:cs typeface="Lobster"/>
                <a:sym typeface="Lobster"/>
              </a:rPr>
              <a:t>Thank You</a:t>
            </a:r>
            <a:r>
              <a:rPr lang="en-GB" sz="5440">
                <a:latin typeface="Lobster"/>
                <a:ea typeface="Lobster"/>
                <a:cs typeface="Lobster"/>
                <a:sym typeface="Lobster"/>
              </a:rPr>
              <a:t> </a:t>
            </a:r>
            <a:endParaRPr sz="5440">
              <a:latin typeface="Lobster"/>
              <a:ea typeface="Lobster"/>
              <a:cs typeface="Lobster"/>
              <a:sym typeface="Lobster"/>
            </a:endParaRPr>
          </a:p>
        </p:txBody>
      </p:sp>
      <p:sp>
        <p:nvSpPr>
          <p:cNvPr id="679" name="Google Shape;679;p49"/>
          <p:cNvSpPr txBox="1"/>
          <p:nvPr>
            <p:ph idx="1" type="body"/>
          </p:nvPr>
        </p:nvSpPr>
        <p:spPr>
          <a:xfrm>
            <a:off x="1508775" y="3749375"/>
            <a:ext cx="6416400" cy="92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No of Times we met Dr </a:t>
            </a:r>
            <a:r>
              <a:rPr lang="en-GB"/>
              <a:t>Prashant</a:t>
            </a:r>
            <a:r>
              <a:rPr lang="en-GB"/>
              <a:t> Sir since the last sem fyp eval to this eval  =  </a:t>
            </a:r>
            <a:r>
              <a:rPr lang="en-GB" sz="2100">
                <a:latin typeface="Impact"/>
                <a:ea typeface="Impact"/>
                <a:cs typeface="Impact"/>
                <a:sym typeface="Impact"/>
              </a:rPr>
              <a:t>6</a:t>
            </a:r>
            <a:endParaRPr sz="2100">
              <a:latin typeface="Impact"/>
              <a:ea typeface="Impact"/>
              <a:cs typeface="Impact"/>
              <a:sym typeface="Impac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